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c96b15a4-e9d6-aedd-ddcb-d8c647a51292}">
          <p14:sldIdLst>
            <p14:sldId id="256"/>
          </p14:sldIdLst>
        </p14:section>
        <p14:section name="Masalah" id="{d2deb078-583d-b58e-82ff-30dc21c5e5a9}">
          <p14:sldIdLst>
            <p14:sldId id="257"/>
            <p14:sldId id="258"/>
            <p14:sldId id="259"/>
          </p14:sldIdLst>
        </p14:section>
        <p14:section name="Solusi dan demo" id="{c663bd4a-0a52-e185-1b5f-bc658b499572}">
          <p14:sldIdLst>
            <p14:sldId id="260"/>
            <p14:sldId id="261"/>
            <p14:sldId id="262"/>
          </p14:sldIdLst>
        </p14:section>
        <p14:section name="Teknologi" id="{7292df83-7d8e-4139-73cb-a912b557acdd}">
          <p14:sldIdLst>
            <p14:sldId id="263"/>
            <p14:sldId id="264"/>
            <p14:sldId id="265"/>
            <p14:sldId id="266"/>
            <p14:sldId id="267"/>
            <p14:sldId id="268"/>
          </p14:sldIdLst>
        </p14:section>
        <p14:section name="Model bisnis" id="{e88d30ff-7a65-7db1-9421-f3f38255cac5}">
          <p14:sldIdLst>
            <p14:sldId id="269"/>
            <p14:sldId id="270"/>
            <p14:sldId id="271"/>
            <p14:sldId id="272"/>
            <p14:sldId id="273"/>
            <p14:sldId id="274"/>
          </p14:sldIdLst>
        </p14:section>
        <p14:section name="Dampak dan penutup" id="{d630941d-6ede-305e-5447-21483e97a73a}">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A2E"/>
                </a:solidFill>
                <a:latin typeface="+mn-lt"/>
              </a:defRPr>
            </a:pPr>
            <a:r>
              <a:rPr sz="1400" b="0" i="0" u="none" strike="noStrike">
                <a:solidFill>
                  <a:srgbClr val="1F1A2E"/>
                </a:solidFill>
                <a:latin typeface="+mn-lt"/>
              </a:rPr>
              <a:t>Proyeksi pendapatan (juta Rp)</a:t>
            </a:r>
          </a:p>
        </c:rich>
      </c:tx>
      <c:layout/>
      <c:overlay val="0"/>
    </c:title>
    <c:autoTitleDeleted val="0"/>
    <c:plotArea>
      <c:layout/>
      <c:barChart>
        <c:barDir val="col"/>
        <c:grouping val="stacked"/>
        <c:varyColors val="0"/>
        <c:ser>
          <c:idx val="0"/>
          <c:order val="0"/>
          <c:tx>
            <c:strRef>
              <c:f>Sheet1!$B$1</c:f>
              <c:strCache>
                <c:ptCount val="1"/>
                <c:pt idx="0">
                  <c:v>Lisensi puskesmas</c:v>
                </c:pt>
              </c:strCache>
            </c:strRef>
          </c:tx>
          <c:spPr>
            <a:solidFill>
              <a:srgbClr val="E0475E"/>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2027</c:v>
                  </c:pt>
                  <c:pt idx="1">
                    <c:v>2028</c:v>
                  </c:pt>
                  <c:pt idx="2">
                    <c:v>2029</c:v>
                  </c:pt>
                </c:lvl>
              </c:multiLvlStrCache>
            </c:multiLvlStrRef>
          </c:cat>
          <c:val>
            <c:numRef>
              <c:f>Sheet1!$B$2:$B$4</c:f>
              <c:numCache>
                <c:formatCode>General</c:formatCode>
                <c:ptCount val="3"/>
                <c:pt idx="0">
                  <c:v>37.5</c:v>
                </c:pt>
                <c:pt idx="1">
                  <c:v>150</c:v>
                </c:pt>
                <c:pt idx="2">
                  <c:v>375</c:v>
                </c:pt>
              </c:numCache>
            </c:numRef>
          </c:val>
        </c:ser>
        <c:ser>
          <c:idx val="1"/>
          <c:order val="1"/>
          <c:tx>
            <c:strRef>
              <c:f>Sheet1!$C$1</c:f>
              <c:strCache>
                <c:ptCount val="1"/>
                <c:pt idx="0">
                  <c:v>API B2B</c:v>
                </c:pt>
              </c:strCache>
            </c:strRef>
          </c:tx>
          <c:spPr>
            <a:solidFill>
              <a:srgbClr val="0E9F8C"/>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2027</c:v>
                  </c:pt>
                  <c:pt idx="1">
                    <c:v>2028</c:v>
                  </c:pt>
                  <c:pt idx="2">
                    <c:v>2029</c:v>
                  </c:pt>
                </c:lvl>
              </c:multiLvlStrCache>
            </c:multiLvlStrRef>
          </c:cat>
          <c:val>
            <c:numRef>
              <c:f>Sheet1!$C$2:$C$4</c:f>
              <c:numCache>
                <c:formatCode>General</c:formatCode>
                <c:ptCount val="3"/>
                <c:pt idx="0">
                  <c:v>0</c:v>
                </c:pt>
                <c:pt idx="1">
                  <c:v>100</c:v>
                </c:pt>
                <c:pt idx="2">
                  <c:v>300</c:v>
                </c:pt>
              </c:numCache>
            </c:numRef>
          </c:val>
        </c:ser>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7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536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DE5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536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B536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pagi, Bapak Ibu juri. Kami tim [Nama Tim]. Kami membawa AnemiaLens: skrining anemia tanpa jarum, cukup dari foto kelopak mata bawah dengan HP biasa. Dalam 10 menit ke depan kami tunjukkan masalahnya, demo langsung, teknologi, model bisnis, dan dampaknya.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Mulai dengan angka. 27,7 persen ibu hamil di Indonesia anemia menurut SKI 2023, lebih dari satu dari empat. Pada remaja 15 sampai 24 tahun 15,5 persen. Secara global WHO mencatat 37 persen ibu hamil anemia. Jeda dua detik setelah angka pertama.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Akar masalahnya ada di deteksi. Cek Hb butuh tusuk jari, alat, strip sekitar tujuh ribu rupiah per tes, dan petugas. Posyandu kit Kemenkes 2024 pun tidak berisi alat cek Hb. Di kepulauan dan pedalaman warga enggan jauh-jauh ke puskesmas kalau belum yakin sakit. Akibatnya anemia baru ketahuan saat sudah bergejala.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kesehatan publik, pengguna dan pembayar berbeda. Pengguna kami kader posyandu, ibu hamil, dan remaja putri, semuanya gratis. Yang membayar adalah dinas kesehatan dan puskesmas yang butuh data skrining wilayah, serta mitra CSR. Jaringan distribusinya sudah ada: 303 ribu posyandu, 10 ribu puskesmas, dan hampir setengah juta kader aktif.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Solusi kami dalam satu kalimat: AnemiaLens menyaring risiko anemia dari foto kelopak mata bawah, langsung di browser HP. Tiga langkah: foto, AI menganalisis, keluar hasil berupa tingkat risiko, perkiraan Hb, saran, dan surat rujukan. Tegaskan: ini penyaring, bukan pengganti tes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Saatnya demo. Satu anggota memegang HP, yang lain bicara. Foto mata salah satu anggota tim, tunggu sekitar satu detik, biarkan juri melihat konjungtiva ditandai otomatis lalu hasilnya muncul. Berhenti sejenak di sini, ini momen utama. Lalu tunjukkan foto buram agar juri melihat aplikasi menolaknya dan memberi saran. Jika koneksi gagal, putar video cadangan.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Kenapa sekarang? Pertama, skrining Hb remaja putri kelas 7 dan 10 sudah menjadi bagian program Aksi Bergizi. Kedua, posyandu sedang diperkuat dengan alat, tetapi belum ada alat Hb. Ketiga, tahun ini terbit KMK 951/2026 yang memberi jalur izin edar untuk software alat kesehatan berbasis AI. Keempat, model kami cukup ringan untuk CPU biasa.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balik layar ada dua tahap. Tahap pertama, cek kualitas lalu segmentasi U-Net mencari area konjungtiva saja. Pengaman ROI menolak area yang salah. Tahap kedua, fitur warna dinilai tiga model: regresi logistik, Random Forest, dan EfficientNet-B0, lalu digabung. Karena dua tahap, hasilnya bisa dijelaskan: kita tahu persis area mana yang dinilai.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Lima inovasi. Satu, AI-nya bisa dijelaskan. Dua, tahan foto HP karena segmentasi kami latih ulang dengan simulasi foto HP dan konjungtiva pucat. Tiga, berani menolak foto buruk. Empat, kader bisa mengoreksi area dengan alat laso. Lima, hasilnya berupa perkiraan Hb, bukan cuma ya atau tidak.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 end-nya web murni, sehingga jalan di browser HP tanpa instal. Back end Python FastAPI dengan OpenCV dan pengaman ROI. Modelnya U-Net ResNet-34 untuk segmentasi, lalu ensemble regresi logistik, Random Forest, dan EfficientNet-B0. Satu foto diproses 0,2 sampai 1 detik di CPU laptop biasa. Kode lengkap ada di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menguji model dengan jujur: 624 pasien dari Italia, Ghana, dan India. AUC 0,84, sensitivitas 86 persen. Perkiraan Hb meleset rata-rata 1,41 gram per desiliter. Kami menemukan 303 gambar duplikat dan membuangnya, dan validasi dikelompokkan per pasien. Di kanan, segmentasi versi 2 jauh lebih baik pada foto HP: Dice naik dari 0,55 ke 0,89. Jika ditanya spesifisitas: 66 persen, wajar untuk penyaring yang memprioritaskan tidak melewatkan kasus.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Desainnya untuk kader, bukan dokter. Mobile-first, tombol besar, bahasa sehari-hari. Kalau foto buruk, aplikasi menolak dan memberi tahu cara memperbaikinya. Area yang dinilai selalu terlihat. Hasilnya bisa dicetak jadi surat rujukan PDF. Foto tidak disimpan di server, penting untuk privasi data kesehatan.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Kenapa tidak pakai cara yang sudah ada? Hemoglobinometer akurat, tapi butuh jarum, alat, dan strip sekitar tujuh ribu rupiah per tes. Oksimetri non-invasif alatnya mahal. Aplikasi foto kuku ada, tapi belum umum di Indonesia. Pemeriksaan visual kader murah tapi subjektif. AnemiaLens menggabungkan kelebihannya. Posisi kami: penyaring sebelum cek Hb, bukan pesaing cek Hb.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Ukuran pasar kami hitung dari pembayar, bukan pengguna. TAM: 10.321 puskesmas dikali lisensi 1,5 juta per tahun, sekitar 15,5 miliar rupiah. SAM: puskesmas di wilayah kepulauan dan pedalaman, kami asumsikan 30 persen, sekitar 4,6 miliar. SOM tiga tahun: 250 puskesmas di sekitar 10 kabupaten, 375 juta per tahun. Penerima manfaatnya sekitar 4 juta ibu hamil per tahun. Sampaikan terus terang bahwa harga dan persentase adalah asumsi yang akan divalidasi saat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Business Model Canvas kami. Proposisi nilai di tengah: skrining tanpa jarum, cukup HP, biaya per tes hampir nol, dan rujukan lebih tepat sasaran. Segmen pelanggan dipisah antara pengguna yang gratis dan pembayar institusi. Saluran memanfaatkan jalur yang sudah ada: dinkes ke puskesmas ke posyandu, dan program UKS. Pendapatan dari lisensi puskesmas, sponsor CSR, API B2B, dan hibah di tahap awal. Tidak perlu dibaca semua, tunjuk bagian tengah dan kanan bawah.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Monetisasi kami freemium institusional. Untuk warga dan kader gratis selamanya, karena kalau berbayar adopsi di desa akan gagal. Yang membayar puskesmas atau dinas kesehatan, 1,5 juta per puskesmas per tahun atau sekitar 125 ribu per bulan, untuk dasbor wilayah, rekap per posyandu, dan pelatihan. Aliran ketiga untuk klinik, apotek, dan aplikasi kesehatan lewat API seribu rupiah per analisis, serta paket Adopsi Wilayah untuk CSR.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economics. Satu cek Hb dengan strip sekitar 7.130 rupiah, biaya server kami per analisis di bawah 10 rupiah. Yang lebih penting: dari 100 warga dengan prevalensi 27,7 persen, AnemiaLens hanya merujuk sekitar 48 orang untuk cek Hb dan menangkap sekitar 24 dari 28 kasus. Strip dan waktu petugas dipakai untuk yang benar-benar berisiko. Proyeksi pendapatan naik dari 37,5 juta di tahun pilot ke sekitar 675 juta pada 2029. Semua angka proyeksi adalah asumsi.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Strategi masuk pasar: mulai dari satu kabupaten kepulauan. Pilot di 3 sampai 5 posyandu sambil dibandingkan dengan cek Hb pada sekitar 300 warga. Lalu latih ulang dengan data Indonesia dan ajukan izin edar. 2028 masuk 3 kabupaten dan mulai lisensi berbayar, plus versi offline. 2029 sekitar 10 kabupaten. Kanalnya tiga: dari atas lewat dinkes, dari bawah lewat kader champion, dan lewat sekolah.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sadar risikonya. Akurasi bisa turun pada warna kulit dan cahaya lokal, jadi kami latih ulang dengan data Indonesia. Agar tidak dianggap diagnosis, kami posisikan sebagai skrining dan siapkan jalur izin edar sesuai KMK 951/2026. Privasi: foto tidak disimpan, mengikuti prinsip UU PDP. Sinyal lemah: versi offline. Adopsi: antarmuka sederhana dan kader champion.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Dampaknya: warga yang berisiko dirujuk lebih dini, yang tidak berisiko tidak perlu jauh-jauh ke puskesmas. Menurut WHO, setiap satu dolar untuk penanganan anemia kembali sekitar dua belas dolar. Kami selaras dengan target anemia remaja 25 persen pada 2025 sampai 2029. Saat pilot kami ukur sensitivitas lapangan dengan target minimal 85 persen.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Sesuai ketentuan, ini daftar AI yang kami gunakan. Claude dari Anthropic sebagai asisten pengembangan. Di dalam produk ada U-Net ResNet-34 untuk segmentasi, EfficientNet-B0, dan model scikit-learn. DINOv2 sempat dievaluasi tapi tidak dipakai. Google Colab hanya infrastruktur pelatihan. Semua keputusan desain dan validasi tetap kami yang menentukan dan memeriksa.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Penutup: dengan AnemiaLens, setiap HP kader bisa menjadi alat skrining anemia. Yang kami cari: mitra pilot di wilayah kepulauan, akses data lokal untuk validasi, dan mentor regulasi. Terima kasih, kami siap tanya jawab. Siapkan jawaban untuk spesifisitas 66 persen, bias warna kulit dan pencahayaan, kenapa belum ada data Indonesia, privasi foto, dan dasar asumsi harga lisensi.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AnemiaLens · JOINTS × INSPIRE 2026</a:t>
            </a:r>
            <a:endParaRPr lang="en-US" sz="1000" dirty="0"/>
          </a:p>
        </p:txBody>
      </p:sp>
      <p:sp>
        <p:nvSpPr>
          <p:cNvPr id="3" name="Text 1"/>
          <p:cNvSpPr/>
          <p:nvPr>
            <p:ph idx="101" type="body" hasCustomPrompt="1"/>
          </p:nvPr>
        </p:nvSpPr>
        <p:spPr>
          <a:xfrm>
            <a:off x="548640" y="384048"/>
            <a:ext cx="11094415" cy="292608"/>
          </a:xfrm>
          <a:prstGeom prst="rect">
            <a:avLst/>
          </a:prstGeom>
          <a:noFill/>
          <a:ln/>
        </p:spPr>
        <p:txBody>
          <a:bodyPr wrap="square" rtlCol="0"/>
          <a:lstStyle>
            <a:lvl1pPr indent="0" marL="0">
              <a:buNone/>
              <a:defRPr lang="en-US" sz="1200" b="1" spc="200" kern="0" dirty="0">
                <a:solidFill>
                  <a:schemeClr val="accent4"/>
                </a:solidFill>
              </a:defRPr>
            </a:lvl1pPr>
          </a:lstStyle>
          <a:p>
            <a:pPr indent="0" marL="0">
              <a:buNone/>
            </a:pPr>
            <a:endParaRPr lang="en-US" sz="1200" dirty="0"/>
          </a:p>
        </p:txBody>
      </p:sp>
      <p:sp>
        <p:nvSpPr>
          <p:cNvPr id="4" name="Text 1"/>
          <p:cNvSpPr/>
          <p:nvPr>
            <p:ph idx="102" type="title" hasCustomPrompt="1"/>
          </p:nvPr>
        </p:nvSpPr>
        <p:spPr>
          <a:xfrm>
            <a:off x="548640" y="694944"/>
            <a:ext cx="11094415" cy="731520"/>
          </a:xfrm>
          <a:prstGeom prst="rect">
            <a:avLst/>
          </a:prstGeom>
          <a:noFill/>
          <a:ln/>
        </p:spPr>
        <p:txBody>
          <a:bodyPr wrap="square" rtlCol="0"/>
          <a:lstStyle>
            <a:lvl1pPr algn="l" indent="0" marL="0">
              <a:buNone/>
              <a:defRPr lang="en-US" sz="3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C">
    <p:bg>
      <p:bgPr>
        <a:solidFill>
          <a:srgbClr val="1F1A2E"/>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AnemiaLens · JOINTS × INSPIRE 2026</a:t>
            </a:r>
            <a:endParaRPr lang="en-US" sz="1000" dirty="0"/>
          </a:p>
        </p:txBody>
      </p:sp>
      <p:sp>
        <p:nvSpPr>
          <p:cNvPr id="3" name="Text 1"/>
          <p:cNvSpPr/>
          <p:nvPr>
            <p:ph idx="101" type="body" hasCustomPrompt="1"/>
          </p:nvPr>
        </p:nvSpPr>
        <p:spPr>
          <a:xfrm>
            <a:off x="548640" y="384048"/>
            <a:ext cx="11094415" cy="292608"/>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4" name="Text 1"/>
          <p:cNvSpPr/>
          <p:nvPr>
            <p:ph idx="102" type="title" hasCustomPrompt="1"/>
          </p:nvPr>
        </p:nvSpPr>
        <p:spPr>
          <a:xfrm>
            <a:off x="548640" y="694944"/>
            <a:ext cx="11094415" cy="731520"/>
          </a:xfrm>
          <a:prstGeom prst="rect">
            <a:avLst/>
          </a:prstGeom>
          <a:noFill/>
          <a:ln/>
        </p:spPr>
        <p:txBody>
          <a:bodyPr wrap="square" rtlCol="0"/>
          <a:lstStyle>
            <a:lvl1pPr algn="l" indent="0" marL="0">
              <a:buNone/>
              <a:defRPr lang="en-US" sz="3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F1A2E"/>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AnemiaLens · JOINTS × INSPIRE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234440"/>
            <a:ext cx="54864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JOINTS × INSPIRE 2026  ·  HACKATHON  ·  HEALTHCARE</a:t>
            </a:r>
            <a:endParaRPr lang="en-US" sz="1200" dirty="0"/>
          </a:p>
        </p:txBody>
      </p:sp>
      <p:sp>
        <p:nvSpPr>
          <p:cNvPr id="3" name="Text 1"/>
          <p:cNvSpPr txBox="1"/>
          <p:nvPr/>
        </p:nvSpPr>
        <p:spPr>
          <a:xfrm>
            <a:off x="548640" y="1645920"/>
            <a:ext cx="5486400" cy="1005840"/>
          </a:xfrm>
          <a:prstGeom prst="rect">
            <a:avLst/>
          </a:prstGeom>
          <a:noFill/>
          <a:ln/>
        </p:spPr>
        <p:txBody>
          <a:bodyPr wrap="square" lIns="0" tIns="0" rIns="0" bIns="0" rtlCol="0" anchor="t"/>
          <a:lstStyle/>
          <a:p>
            <a:pPr indent="0" marL="0">
              <a:buNone/>
            </a:pPr>
            <a:r>
              <a:rPr lang="en-US" sz="6000" b="1" dirty="0">
                <a:solidFill>
                  <a:schemeClr val="bg1"/>
                </a:solidFill>
                <a:latin typeface="Cambria" pitchFamily="34" charset="0"/>
                <a:ea typeface="Cambria" pitchFamily="34" charset="-122"/>
                <a:cs typeface="Cambria" pitchFamily="34" charset="-120"/>
              </a:rPr>
              <a:t>AnemiaLens</a:t>
            </a:r>
            <a:endParaRPr lang="en-US" sz="6000" dirty="0"/>
          </a:p>
        </p:txBody>
      </p:sp>
      <p:sp>
        <p:nvSpPr>
          <p:cNvPr id="4" name="Text 2"/>
          <p:cNvSpPr txBox="1"/>
          <p:nvPr/>
        </p:nvSpPr>
        <p:spPr>
          <a:xfrm>
            <a:off x="548640" y="2743200"/>
            <a:ext cx="5303520" cy="914400"/>
          </a:xfrm>
          <a:prstGeom prst="rect">
            <a:avLst/>
          </a:prstGeom>
          <a:noFill/>
          <a:ln/>
        </p:spPr>
        <p:txBody>
          <a:bodyPr wrap="square" lIns="0" tIns="0" rIns="0" bIns="0" rtlCol="0" anchor="t"/>
          <a:lstStyle/>
          <a:p>
            <a:pPr indent="0" marL="0">
              <a:buNone/>
            </a:pPr>
            <a:r>
              <a:rPr lang="en-US" sz="2800" i="1" dirty="0">
                <a:solidFill>
                  <a:schemeClr val="accent3"/>
                </a:solidFill>
                <a:latin typeface="Cambria" pitchFamily="34" charset="0"/>
                <a:ea typeface="Cambria" pitchFamily="34" charset="-122"/>
                <a:cs typeface="Cambria" pitchFamily="34" charset="-120"/>
              </a:rPr>
              <a:t>Cek tanda anemia cukup dari foto mata.</a:t>
            </a:r>
            <a:endParaRPr lang="en-US" sz="2800" dirty="0"/>
          </a:p>
        </p:txBody>
      </p:sp>
      <p:sp>
        <p:nvSpPr>
          <p:cNvPr id="5" name="Text 3"/>
          <p:cNvSpPr txBox="1"/>
          <p:nvPr/>
        </p:nvSpPr>
        <p:spPr>
          <a:xfrm>
            <a:off x="548640" y="3794760"/>
            <a:ext cx="5120640" cy="822960"/>
          </a:xfrm>
          <a:prstGeom prst="rect">
            <a:avLst/>
          </a:prstGeom>
          <a:noFill/>
          <a:ln/>
        </p:spPr>
        <p:txBody>
          <a:bodyPr wrap="square" lIns="0" tIns="0" rIns="0" bIns="0" rtlCol="0" anchor="t"/>
          <a:lstStyle/>
          <a:p>
            <a:pPr indent="0" marL="0">
              <a:buNone/>
            </a:pPr>
            <a:r>
              <a:rPr lang="en-US" sz="1600" dirty="0">
                <a:solidFill>
                  <a:schemeClr val="accent6"/>
                </a:solidFill>
              </a:rPr>
              <a:t>Skrining anemia tanpa jarum dengan HP biasa, kurang dari satu menit, untuk desa yang jauh dari puskesmas.</a:t>
            </a:r>
            <a:endParaRPr lang="en-US" sz="1600" dirty="0"/>
          </a:p>
        </p:txBody>
      </p:sp>
      <p:sp>
        <p:nvSpPr>
          <p:cNvPr id="6" name="Text 4"/>
          <p:cNvSpPr txBox="1"/>
          <p:nvPr/>
        </p:nvSpPr>
        <p:spPr>
          <a:xfrm>
            <a:off x="548640" y="5074920"/>
            <a:ext cx="5486400" cy="274320"/>
          </a:xfrm>
          <a:prstGeom prst="rect">
            <a:avLst/>
          </a:prstGeom>
          <a:noFill/>
          <a:ln/>
        </p:spPr>
        <p:txBody>
          <a:bodyPr wrap="square" lIns="0" tIns="0" rIns="0" bIns="0" rtlCol="0" anchor="t"/>
          <a:lstStyle/>
          <a:p>
            <a:pPr indent="0" marL="0">
              <a:buNone/>
            </a:pPr>
            <a:r>
              <a:rPr lang="en-US" sz="1200" dirty="0">
                <a:solidFill>
                  <a:schemeClr val="accent6"/>
                </a:solidFill>
              </a:rPr>
              <a:t>[Nama Tim]  ·  [Nama Anggota 1]  ·  [Nama Anggota 2]  ·  [Nama Anggota 3]</a:t>
            </a:r>
            <a:endParaRPr lang="en-US" sz="1200" dirty="0"/>
          </a:p>
        </p:txBody>
      </p:sp>
      <p:sp>
        <p:nvSpPr>
          <p:cNvPr id="7" name="Text 5"/>
          <p:cNvSpPr txBox="1"/>
          <p:nvPr/>
        </p:nvSpPr>
        <p:spPr>
          <a:xfrm>
            <a:off x="548640" y="5394960"/>
            <a:ext cx="5486400" cy="274320"/>
          </a:xfrm>
          <a:prstGeom prst="rect">
            <a:avLst/>
          </a:prstGeom>
          <a:noFill/>
          <a:ln/>
        </p:spPr>
        <p:txBody>
          <a:bodyPr wrap="square" lIns="0" tIns="0" rIns="0" bIns="0" rtlCol="0" anchor="t"/>
          <a:lstStyle/>
          <a:p>
            <a:pPr indent="0" marL="0">
              <a:buNone/>
            </a:pPr>
            <a:r>
              <a:rPr lang="en-US" sz="1200" dirty="0">
                <a:solidFill>
                  <a:schemeClr val="accent6"/>
                </a:solidFill>
              </a:rPr>
              <a:t>[Nama Universitas]  ·  github.com/brianmacrio/AnemiaLens</a:t>
            </a:r>
            <a:endParaRPr lang="en-US" sz="1200" dirty="0"/>
          </a:p>
        </p:txBody>
      </p:sp>
      <p:sp>
        <p:nvSpPr>
          <p:cNvPr id="8" name="Shape 6"/>
          <p:cNvSpPr/>
          <p:nvPr/>
        </p:nvSpPr>
        <p:spPr>
          <a:xfrm>
            <a:off x="6172200" y="1143000"/>
            <a:ext cx="5486400" cy="4206240"/>
          </a:xfrm>
          <a:prstGeom prst="roundRect">
            <a:avLst>
              <a:gd name="adj" fmla="val 3043"/>
            </a:avLst>
          </a:prstGeom>
          <a:solidFill>
            <a:schemeClr val="bg1"/>
          </a:solidFill>
          <a:ln w="12700">
            <a:solidFill>
              <a:schemeClr val="bg1"/>
            </a:solidFill>
            <a:prstDash val="solid"/>
          </a:ln>
          <a:effectLst>
            <a:outerShdw sx="100000" sy="100000" kx="0" ky="0" algn="bl" rotWithShape="0" blurRad="127000" dist="38100" dir="5400000">
              <a:srgbClr val="1F1A2E">
                <a:alpha val="10000"/>
              </a:srgbClr>
            </a:outerShdw>
          </a:effectLst>
        </p:spPr>
      </p:sp>
      <p:pic>
        <p:nvPicPr>
          <p:cNvPr id="9" name="Image 0" descr="/home/claude/anemia/doc/img/web_hero.png">    </p:cNvPr>
          <p:cNvPicPr>
            <a:picLocks noChangeAspect="1"/>
          </p:cNvPicPr>
          <p:nvPr/>
        </p:nvPicPr>
        <p:blipFill>
          <a:blip r:embed="rId1"/>
          <a:stretch>
            <a:fillRect/>
          </a:stretch>
        </p:blipFill>
        <p:spPr>
          <a:xfrm>
            <a:off x="6309360" y="1414642"/>
            <a:ext cx="5212080" cy="3662955"/>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822960"/>
            <a:ext cx="54864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MASALAHNYA</a:t>
            </a:r>
            <a:endParaRPr lang="en-US" sz="1200" dirty="0"/>
          </a:p>
        </p:txBody>
      </p:sp>
      <p:sp>
        <p:nvSpPr>
          <p:cNvPr id="3" name="Text 1"/>
          <p:cNvSpPr txBox="1"/>
          <p:nvPr/>
        </p:nvSpPr>
        <p:spPr>
          <a:xfrm>
            <a:off x="548640" y="1234440"/>
            <a:ext cx="6035040" cy="1828800"/>
          </a:xfrm>
          <a:prstGeom prst="rect">
            <a:avLst/>
          </a:prstGeom>
          <a:noFill/>
          <a:ln/>
        </p:spPr>
        <p:txBody>
          <a:bodyPr wrap="square" lIns="0" tIns="0" rIns="0" bIns="0" rtlCol="0" anchor="t"/>
          <a:lstStyle/>
          <a:p>
            <a:pPr indent="0" marL="0">
              <a:buNone/>
            </a:pPr>
            <a:r>
              <a:rPr lang="en-US" sz="12000" b="1" dirty="0">
                <a:solidFill>
                  <a:schemeClr val="accent3"/>
                </a:solidFill>
                <a:latin typeface="Cambria" pitchFamily="34" charset="0"/>
                <a:ea typeface="Cambria" pitchFamily="34" charset="-122"/>
                <a:cs typeface="Cambria" pitchFamily="34" charset="-120"/>
              </a:rPr>
              <a:t>27,7%</a:t>
            </a:r>
            <a:endParaRPr lang="en-US" sz="12000" dirty="0"/>
          </a:p>
        </p:txBody>
      </p:sp>
      <p:sp>
        <p:nvSpPr>
          <p:cNvPr id="4" name="Text 2"/>
          <p:cNvSpPr txBox="1"/>
          <p:nvPr/>
        </p:nvSpPr>
        <p:spPr>
          <a:xfrm>
            <a:off x="548640" y="3246120"/>
            <a:ext cx="5852160" cy="822960"/>
          </a:xfrm>
          <a:prstGeom prst="rect">
            <a:avLst/>
          </a:prstGeom>
          <a:noFill/>
          <a:ln/>
        </p:spPr>
        <p:txBody>
          <a:bodyPr wrap="square" lIns="0" tIns="0" rIns="0" bIns="0" rtlCol="0" anchor="t"/>
          <a:lstStyle/>
          <a:p>
            <a:pPr indent="0" marL="0">
              <a:buNone/>
            </a:pPr>
            <a:r>
              <a:rPr lang="en-US" sz="2800" b="1" dirty="0">
                <a:solidFill>
                  <a:schemeClr val="bg1"/>
                </a:solidFill>
              </a:rPr>
              <a:t>ibu hamil di Indonesia mengalami anemia</a:t>
            </a:r>
            <a:endParaRPr lang="en-US" sz="2800" dirty="0"/>
          </a:p>
        </p:txBody>
      </p:sp>
      <p:sp>
        <p:nvSpPr>
          <p:cNvPr id="5" name="Text 3"/>
          <p:cNvSpPr txBox="1"/>
          <p:nvPr/>
        </p:nvSpPr>
        <p:spPr>
          <a:xfrm>
            <a:off x="548640" y="4206240"/>
            <a:ext cx="5669280" cy="914400"/>
          </a:xfrm>
          <a:prstGeom prst="rect">
            <a:avLst/>
          </a:prstGeom>
          <a:noFill/>
          <a:ln/>
        </p:spPr>
        <p:txBody>
          <a:bodyPr wrap="square" lIns="0" tIns="0" rIns="0" bIns="0" rtlCol="0" anchor="t"/>
          <a:lstStyle/>
          <a:p>
            <a:pPr indent="0" marL="0">
              <a:buNone/>
            </a:pPr>
            <a:r>
              <a:rPr lang="en-US" sz="1600" dirty="0">
                <a:solidFill>
                  <a:schemeClr val="accent6"/>
                </a:solidFill>
              </a:rPr>
              <a:t>Lebih dari 1 dari 4. Anemia saat hamil berkaitan dengan kelahiran prematur, bayi berat lahir rendah, dan kematian ibu.</a:t>
            </a:r>
            <a:endParaRPr lang="en-US" sz="1600" dirty="0"/>
          </a:p>
        </p:txBody>
      </p:sp>
      <p:sp>
        <p:nvSpPr>
          <p:cNvPr id="6" name="Shape 4"/>
          <p:cNvSpPr/>
          <p:nvPr/>
        </p:nvSpPr>
        <p:spPr>
          <a:xfrm>
            <a:off x="7086600" y="1097280"/>
            <a:ext cx="4553712" cy="2148840"/>
          </a:xfrm>
          <a:prstGeom prst="roundRect">
            <a:avLst>
              <a:gd name="adj" fmla="val 5957"/>
            </a:avLst>
          </a:prstGeom>
          <a:solidFill>
            <a:schemeClr val="accent5"/>
          </a:solidFill>
          <a:ln w="12700">
            <a:solidFill>
              <a:schemeClr val="accent5"/>
            </a:solidFill>
            <a:prstDash val="solid"/>
          </a:ln>
        </p:spPr>
      </p:sp>
      <p:sp>
        <p:nvSpPr>
          <p:cNvPr id="7" name="Text 5"/>
          <p:cNvSpPr txBox="1"/>
          <p:nvPr/>
        </p:nvSpPr>
        <p:spPr>
          <a:xfrm>
            <a:off x="7406640" y="1325880"/>
            <a:ext cx="3931920" cy="1005840"/>
          </a:xfrm>
          <a:prstGeom prst="rect">
            <a:avLst/>
          </a:prstGeom>
          <a:noFill/>
          <a:ln/>
        </p:spPr>
        <p:txBody>
          <a:bodyPr wrap="square" lIns="0" tIns="0" rIns="0" bIns="0" rtlCol="0" anchor="t"/>
          <a:lstStyle/>
          <a:p>
            <a:pPr indent="0" marL="0">
              <a:buNone/>
            </a:pPr>
            <a:r>
              <a:rPr lang="en-US" sz="6000" b="1" dirty="0">
                <a:solidFill>
                  <a:schemeClr val="bg1"/>
                </a:solidFill>
                <a:latin typeface="Cambria" pitchFamily="34" charset="0"/>
                <a:ea typeface="Cambria" pitchFamily="34" charset="-122"/>
                <a:cs typeface="Cambria" pitchFamily="34" charset="-120"/>
              </a:rPr>
              <a:t>15,5%</a:t>
            </a:r>
            <a:endParaRPr lang="en-US" sz="6000" dirty="0"/>
          </a:p>
        </p:txBody>
      </p:sp>
      <p:sp>
        <p:nvSpPr>
          <p:cNvPr id="8" name="Text 6"/>
          <p:cNvSpPr txBox="1"/>
          <p:nvPr/>
        </p:nvSpPr>
        <p:spPr>
          <a:xfrm>
            <a:off x="7406640" y="2423160"/>
            <a:ext cx="3931920" cy="548640"/>
          </a:xfrm>
          <a:prstGeom prst="rect">
            <a:avLst/>
          </a:prstGeom>
          <a:noFill/>
          <a:ln/>
        </p:spPr>
        <p:txBody>
          <a:bodyPr wrap="square" lIns="0" tIns="0" rIns="0" bIns="0" rtlCol="0" anchor="t"/>
          <a:lstStyle/>
          <a:p>
            <a:pPr indent="0" marL="0">
              <a:buNone/>
            </a:pPr>
            <a:r>
              <a:rPr lang="en-US" sz="1600" dirty="0">
                <a:solidFill>
                  <a:schemeClr val="accent6"/>
                </a:solidFill>
              </a:rPr>
              <a:t>remaja usia 15–24 tahun mengalami anemia</a:t>
            </a:r>
            <a:endParaRPr lang="en-US" sz="1600" dirty="0"/>
          </a:p>
        </p:txBody>
      </p:sp>
      <p:sp>
        <p:nvSpPr>
          <p:cNvPr id="9" name="Shape 7"/>
          <p:cNvSpPr/>
          <p:nvPr/>
        </p:nvSpPr>
        <p:spPr>
          <a:xfrm>
            <a:off x="7086600" y="3520440"/>
            <a:ext cx="4553712" cy="2148840"/>
          </a:xfrm>
          <a:prstGeom prst="roundRect">
            <a:avLst>
              <a:gd name="adj" fmla="val 5957"/>
            </a:avLst>
          </a:prstGeom>
          <a:solidFill>
            <a:schemeClr val="accent5"/>
          </a:solidFill>
          <a:ln w="12700">
            <a:solidFill>
              <a:schemeClr val="accent5"/>
            </a:solidFill>
            <a:prstDash val="solid"/>
          </a:ln>
        </p:spPr>
      </p:sp>
      <p:sp>
        <p:nvSpPr>
          <p:cNvPr id="10" name="Text 8"/>
          <p:cNvSpPr txBox="1"/>
          <p:nvPr/>
        </p:nvSpPr>
        <p:spPr>
          <a:xfrm>
            <a:off x="7406640" y="3749040"/>
            <a:ext cx="3931920" cy="1005840"/>
          </a:xfrm>
          <a:prstGeom prst="rect">
            <a:avLst/>
          </a:prstGeom>
          <a:noFill/>
          <a:ln/>
        </p:spPr>
        <p:txBody>
          <a:bodyPr wrap="square" lIns="0" tIns="0" rIns="0" bIns="0" rtlCol="0" anchor="t"/>
          <a:lstStyle/>
          <a:p>
            <a:pPr indent="0" marL="0">
              <a:buNone/>
            </a:pPr>
            <a:r>
              <a:rPr lang="en-US" sz="6000" b="1" dirty="0">
                <a:solidFill>
                  <a:schemeClr val="bg1"/>
                </a:solidFill>
                <a:latin typeface="Cambria" pitchFamily="34" charset="0"/>
                <a:ea typeface="Cambria" pitchFamily="34" charset="-122"/>
                <a:cs typeface="Cambria" pitchFamily="34" charset="-120"/>
              </a:rPr>
              <a:t>37%</a:t>
            </a:r>
            <a:endParaRPr lang="en-US" sz="6000" dirty="0"/>
          </a:p>
        </p:txBody>
      </p:sp>
      <p:sp>
        <p:nvSpPr>
          <p:cNvPr id="11" name="Text 9"/>
          <p:cNvSpPr txBox="1"/>
          <p:nvPr/>
        </p:nvSpPr>
        <p:spPr>
          <a:xfrm>
            <a:off x="7406640" y="4846320"/>
            <a:ext cx="3931920" cy="548640"/>
          </a:xfrm>
          <a:prstGeom prst="rect">
            <a:avLst/>
          </a:prstGeom>
          <a:noFill/>
          <a:ln/>
        </p:spPr>
        <p:txBody>
          <a:bodyPr wrap="square" lIns="0" tIns="0" rIns="0" bIns="0" rtlCol="0" anchor="t"/>
          <a:lstStyle/>
          <a:p>
            <a:pPr indent="0" marL="0">
              <a:buNone/>
            </a:pPr>
            <a:r>
              <a:rPr lang="en-US" sz="1600" dirty="0">
                <a:solidFill>
                  <a:schemeClr val="accent6"/>
                </a:solidFill>
              </a:rPr>
              <a:t>ibu hamil di dunia mengalami anemia (WHO)</a:t>
            </a:r>
            <a:endParaRPr lang="en-US" sz="1600" dirty="0"/>
          </a:p>
        </p:txBody>
      </p:sp>
      <p:sp>
        <p:nvSpPr>
          <p:cNvPr id="12" name="Text 10"/>
          <p:cNvSpPr txBox="1"/>
          <p:nvPr/>
        </p:nvSpPr>
        <p:spPr>
          <a:xfrm>
            <a:off x="548640" y="6053328"/>
            <a:ext cx="11094415" cy="256032"/>
          </a:xfrm>
          <a:prstGeom prst="rect">
            <a:avLst/>
          </a:prstGeom>
          <a:noFill/>
          <a:ln/>
        </p:spPr>
        <p:txBody>
          <a:bodyPr wrap="square" lIns="0" tIns="0" rIns="0" bIns="0" rtlCol="0" anchor="t"/>
          <a:lstStyle/>
          <a:p>
            <a:pPr indent="0" marL="0">
              <a:buNone/>
            </a:pPr>
            <a:r>
              <a:rPr lang="en-US" sz="1000" i="1" dirty="0">
                <a:solidFill>
                  <a:schemeClr val="accent6"/>
                </a:solidFill>
              </a:rPr>
              <a:t>Sumber: Survei Kesehatan Indonesia 2023 (Kemenkes BKPK); WHO Anaemia Fact Sheet</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nchor="t"/>
          <a:lstStyle/>
          <a:p>
            <a:pPr indent="0" marL="0">
              <a:buNone/>
            </a:pPr>
            <a:r>
              <a:rPr lang="en-US" sz="1200" b="1" spc="200" kern="0" dirty="0">
                <a:solidFill>
                  <a:schemeClr val="accent4"/>
                </a:solidFill>
              </a:rPr>
              <a:t>AKAR MASALAH</a:t>
            </a:r>
            <a:endParaRPr lang="en-US" sz="1200" dirty="0"/>
          </a:p>
        </p:txBody>
      </p:sp>
      <p:sp>
        <p:nvSpPr>
          <p:cNvPr id="3" name="Text 1"/>
          <p:cNvSpPr/>
          <p:nvPr>
            <p:ph idx="102" type="title" hasCustomPrompt="1"/>
          </p:nvPr>
        </p:nvSpPr>
        <p:spPr>
          <a:xfrm>
            <a:off x="548640" y="694944"/>
            <a:ext cx="11094415" cy="73152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Deteksi anemia masih butuh jarum dan petugas</a:t>
            </a:r>
            <a:endParaRPr lang="en-US" sz="3400" dirty="0"/>
          </a:p>
        </p:txBody>
      </p:sp>
      <p:sp>
        <p:nvSpPr>
          <p:cNvPr id="4" name="Shape 2"/>
          <p:cNvSpPr/>
          <p:nvPr/>
        </p:nvSpPr>
        <p:spPr>
          <a:xfrm>
            <a:off x="548640" y="1691640"/>
            <a:ext cx="3557016" cy="3017520"/>
          </a:xfrm>
          <a:prstGeom prst="roundRect">
            <a:avLst>
              <a:gd name="adj" fmla="val 4242"/>
            </a:avLst>
          </a:prstGeom>
          <a:solidFill>
            <a:schemeClr val="bg2"/>
          </a:solidFill>
          <a:ln w="12700">
            <a:solidFill>
              <a:schemeClr val="bg2"/>
            </a:solidFill>
            <a:prstDash val="solid"/>
          </a:ln>
        </p:spPr>
      </p:sp>
      <p:sp>
        <p:nvSpPr>
          <p:cNvPr id="5" name="Shape 3"/>
          <p:cNvSpPr/>
          <p:nvPr/>
        </p:nvSpPr>
        <p:spPr>
          <a:xfrm>
            <a:off x="868680" y="1965960"/>
            <a:ext cx="731520" cy="731520"/>
          </a:xfrm>
          <a:prstGeom prst="ellipse">
            <a:avLst/>
          </a:prstGeom>
          <a:solidFill>
            <a:schemeClr val="bg1"/>
          </a:solidFill>
          <a:ln w="12700">
            <a:solidFill>
              <a:schemeClr val="bg1"/>
            </a:solidFill>
            <a:prstDash val="solid"/>
          </a:ln>
        </p:spPr>
      </p:sp>
      <p:pic>
        <p:nvPicPr>
          <p:cNvPr id="6" name="Image 0" descr="preencoded.png">    </p:cNvPr>
          <p:cNvPicPr>
            <a:picLocks noChangeAspect="1"/>
          </p:cNvPicPr>
          <p:nvPr/>
        </p:nvPicPr>
        <p:blipFill>
          <a:blip r:embed="rId1"/>
          <a:stretch>
            <a:fillRect/>
          </a:stretch>
        </p:blipFill>
        <p:spPr>
          <a:xfrm>
            <a:off x="1058875" y="2156155"/>
            <a:ext cx="351130" cy="351130"/>
          </a:xfrm>
          <a:prstGeom prst="rect">
            <a:avLst/>
          </a:prstGeom>
        </p:spPr>
      </p:pic>
      <p:sp>
        <p:nvSpPr>
          <p:cNvPr id="7" name="Text 4"/>
          <p:cNvSpPr txBox="1"/>
          <p:nvPr/>
        </p:nvSpPr>
        <p:spPr>
          <a:xfrm>
            <a:off x="868680" y="2880360"/>
            <a:ext cx="2926080" cy="411480"/>
          </a:xfrm>
          <a:prstGeom prst="rect">
            <a:avLst/>
          </a:prstGeom>
          <a:noFill/>
          <a:ln/>
        </p:spPr>
        <p:txBody>
          <a:bodyPr wrap="square" lIns="0" tIns="0" rIns="0" bIns="0" rtlCol="0" anchor="t"/>
          <a:lstStyle/>
          <a:p>
            <a:pPr indent="0" marL="0">
              <a:buNone/>
            </a:pPr>
            <a:r>
              <a:rPr lang="en-US" sz="2000" b="1" dirty="0">
                <a:solidFill>
                  <a:schemeClr val="tx1"/>
                </a:solidFill>
              </a:rPr>
              <a:t>Cek Hb = tusuk jari</a:t>
            </a:r>
            <a:endParaRPr lang="en-US" sz="2000" dirty="0"/>
          </a:p>
        </p:txBody>
      </p:sp>
      <p:sp>
        <p:nvSpPr>
          <p:cNvPr id="8" name="Text 5"/>
          <p:cNvSpPr txBox="1"/>
          <p:nvPr/>
        </p:nvSpPr>
        <p:spPr>
          <a:xfrm>
            <a:off x="868680" y="3337560"/>
            <a:ext cx="2926080" cy="1234440"/>
          </a:xfrm>
          <a:prstGeom prst="rect">
            <a:avLst/>
          </a:prstGeom>
          <a:noFill/>
          <a:ln/>
        </p:spPr>
        <p:txBody>
          <a:bodyPr wrap="square" lIns="0" tIns="0" rIns="0" bIns="0" rtlCol="0" anchor="t"/>
          <a:lstStyle/>
          <a:p>
            <a:pPr indent="0" marL="0">
              <a:buNone/>
            </a:pPr>
            <a:r>
              <a:rPr lang="en-US" sz="1500" dirty="0">
                <a:solidFill>
                  <a:schemeClr val="tx2"/>
                </a:solidFill>
              </a:rPr>
              <a:t>Butuh alat, strip habis pakai (± Rp7.100 per strip), dan petugas terlatih. Skrining rutin di desa jarang terjadi.</a:t>
            </a:r>
            <a:endParaRPr lang="en-US" sz="1500" dirty="0"/>
          </a:p>
        </p:txBody>
      </p:sp>
      <p:sp>
        <p:nvSpPr>
          <p:cNvPr id="9" name="Shape 6"/>
          <p:cNvSpPr/>
          <p:nvPr/>
        </p:nvSpPr>
        <p:spPr>
          <a:xfrm>
            <a:off x="4315968" y="1691640"/>
            <a:ext cx="3557016" cy="3017520"/>
          </a:xfrm>
          <a:prstGeom prst="roundRect">
            <a:avLst>
              <a:gd name="adj" fmla="val 4242"/>
            </a:avLst>
          </a:prstGeom>
          <a:solidFill>
            <a:srgbClr val="1F1A2E"/>
          </a:solidFill>
          <a:ln w="12700">
            <a:solidFill>
              <a:srgbClr val="1F1A2E"/>
            </a:solidFill>
            <a:prstDash val="solid"/>
          </a:ln>
        </p:spPr>
      </p:sp>
      <p:sp>
        <p:nvSpPr>
          <p:cNvPr id="10" name="Shape 7"/>
          <p:cNvSpPr/>
          <p:nvPr/>
        </p:nvSpPr>
        <p:spPr>
          <a:xfrm>
            <a:off x="4636008" y="1965960"/>
            <a:ext cx="731520" cy="73152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4826203" y="2156155"/>
            <a:ext cx="351130" cy="351130"/>
          </a:xfrm>
          <a:prstGeom prst="rect">
            <a:avLst/>
          </a:prstGeom>
        </p:spPr>
      </p:pic>
      <p:sp>
        <p:nvSpPr>
          <p:cNvPr id="12" name="Text 8"/>
          <p:cNvSpPr txBox="1"/>
          <p:nvPr/>
        </p:nvSpPr>
        <p:spPr>
          <a:xfrm>
            <a:off x="4636008" y="2880360"/>
            <a:ext cx="2926080" cy="411480"/>
          </a:xfrm>
          <a:prstGeom prst="rect">
            <a:avLst/>
          </a:prstGeom>
          <a:noFill/>
          <a:ln/>
        </p:spPr>
        <p:txBody>
          <a:bodyPr wrap="square" lIns="0" tIns="0" rIns="0" bIns="0" rtlCol="0" anchor="t"/>
          <a:lstStyle/>
          <a:p>
            <a:pPr indent="0" marL="0">
              <a:buNone/>
            </a:pPr>
            <a:r>
              <a:rPr lang="en-US" sz="2000" b="1" dirty="0">
                <a:solidFill>
                  <a:schemeClr val="bg1"/>
                </a:solidFill>
              </a:rPr>
              <a:t>Posyandu tanpa alat Hb</a:t>
            </a:r>
            <a:endParaRPr lang="en-US" sz="2000" dirty="0"/>
          </a:p>
        </p:txBody>
      </p:sp>
      <p:sp>
        <p:nvSpPr>
          <p:cNvPr id="13" name="Text 9"/>
          <p:cNvSpPr txBox="1"/>
          <p:nvPr/>
        </p:nvSpPr>
        <p:spPr>
          <a:xfrm>
            <a:off x="4636008" y="3337560"/>
            <a:ext cx="2926080" cy="1234440"/>
          </a:xfrm>
          <a:prstGeom prst="rect">
            <a:avLst/>
          </a:prstGeom>
          <a:noFill/>
          <a:ln/>
        </p:spPr>
        <p:txBody>
          <a:bodyPr wrap="square" lIns="0" tIns="0" rIns="0" bIns="0" rtlCol="0" anchor="t"/>
          <a:lstStyle/>
          <a:p>
            <a:pPr indent="0" marL="0">
              <a:buNone/>
            </a:pPr>
            <a:r>
              <a:rPr lang="en-US" sz="1500" dirty="0">
                <a:solidFill>
                  <a:schemeClr val="accent6"/>
                </a:solidFill>
              </a:rPr>
              <a:t>Posyandu kit Kemenkes 2024 berisi pita LiLA, tensimeter, dan termometer. Tidak ada alat cek Hb.</a:t>
            </a:r>
            <a:endParaRPr lang="en-US" sz="1500" dirty="0"/>
          </a:p>
        </p:txBody>
      </p:sp>
      <p:sp>
        <p:nvSpPr>
          <p:cNvPr id="14" name="Shape 10"/>
          <p:cNvSpPr/>
          <p:nvPr/>
        </p:nvSpPr>
        <p:spPr>
          <a:xfrm>
            <a:off x="8083296" y="1691640"/>
            <a:ext cx="3557016" cy="3017520"/>
          </a:xfrm>
          <a:prstGeom prst="roundRect">
            <a:avLst>
              <a:gd name="adj" fmla="val 4242"/>
            </a:avLst>
          </a:prstGeom>
          <a:solidFill>
            <a:schemeClr val="bg2"/>
          </a:solidFill>
          <a:ln w="12700">
            <a:solidFill>
              <a:schemeClr val="bg2"/>
            </a:solidFill>
            <a:prstDash val="solid"/>
          </a:ln>
        </p:spPr>
      </p:sp>
      <p:sp>
        <p:nvSpPr>
          <p:cNvPr id="15" name="Shape 11"/>
          <p:cNvSpPr/>
          <p:nvPr/>
        </p:nvSpPr>
        <p:spPr>
          <a:xfrm>
            <a:off x="8403336" y="1965960"/>
            <a:ext cx="731520" cy="731520"/>
          </a:xfrm>
          <a:prstGeom prst="ellipse">
            <a:avLst/>
          </a:prstGeom>
          <a:solidFill>
            <a:schemeClr val="bg1"/>
          </a:solidFill>
          <a:ln w="12700">
            <a:solidFill>
              <a:schemeClr val="bg1"/>
            </a:solidFill>
            <a:prstDash val="solid"/>
          </a:ln>
        </p:spPr>
      </p:sp>
      <p:pic>
        <p:nvPicPr>
          <p:cNvPr id="16" name="Image 2" descr="preencoded.png">    </p:cNvPr>
          <p:cNvPicPr>
            <a:picLocks noChangeAspect="1"/>
          </p:cNvPicPr>
          <p:nvPr/>
        </p:nvPicPr>
        <p:blipFill>
          <a:blip r:embed="rId3"/>
          <a:stretch>
            <a:fillRect/>
          </a:stretch>
        </p:blipFill>
        <p:spPr>
          <a:xfrm>
            <a:off x="8593531" y="2156155"/>
            <a:ext cx="351130" cy="351130"/>
          </a:xfrm>
          <a:prstGeom prst="rect">
            <a:avLst/>
          </a:prstGeom>
        </p:spPr>
      </p:pic>
      <p:sp>
        <p:nvSpPr>
          <p:cNvPr id="17" name="Text 12"/>
          <p:cNvSpPr txBox="1"/>
          <p:nvPr/>
        </p:nvSpPr>
        <p:spPr>
          <a:xfrm>
            <a:off x="8403336" y="2880360"/>
            <a:ext cx="2926080" cy="411480"/>
          </a:xfrm>
          <a:prstGeom prst="rect">
            <a:avLst/>
          </a:prstGeom>
          <a:noFill/>
          <a:ln/>
        </p:spPr>
        <p:txBody>
          <a:bodyPr wrap="square" lIns="0" tIns="0" rIns="0" bIns="0" rtlCol="0" anchor="t"/>
          <a:lstStyle/>
          <a:p>
            <a:pPr indent="0" marL="0">
              <a:buNone/>
            </a:pPr>
            <a:r>
              <a:rPr lang="en-US" sz="2000" b="1" dirty="0">
                <a:solidFill>
                  <a:schemeClr val="tx1"/>
                </a:solidFill>
              </a:rPr>
              <a:t>Jauh dan mahal</a:t>
            </a:r>
            <a:endParaRPr lang="en-US" sz="2000" dirty="0"/>
          </a:p>
        </p:txBody>
      </p:sp>
      <p:sp>
        <p:nvSpPr>
          <p:cNvPr id="18" name="Text 13"/>
          <p:cNvSpPr txBox="1"/>
          <p:nvPr/>
        </p:nvSpPr>
        <p:spPr>
          <a:xfrm>
            <a:off x="8403336" y="3337560"/>
            <a:ext cx="2926080" cy="1234440"/>
          </a:xfrm>
          <a:prstGeom prst="rect">
            <a:avLst/>
          </a:prstGeom>
          <a:noFill/>
          <a:ln/>
        </p:spPr>
        <p:txBody>
          <a:bodyPr wrap="square" lIns="0" tIns="0" rIns="0" bIns="0" rtlCol="0" anchor="t"/>
          <a:lstStyle/>
          <a:p>
            <a:pPr indent="0" marL="0">
              <a:buNone/>
            </a:pPr>
            <a:r>
              <a:rPr lang="en-US" sz="1500" dirty="0">
                <a:solidFill>
                  <a:schemeClr val="tx2"/>
                </a:solidFill>
              </a:rPr>
              <a:t>Di kepulauan dan pedalaman, warga enggan menempuh perjalanan ke puskesmas bila belum yakin sakit.</a:t>
            </a:r>
            <a:endParaRPr lang="en-US" sz="1500" dirty="0"/>
          </a:p>
        </p:txBody>
      </p:sp>
      <p:sp>
        <p:nvSpPr>
          <p:cNvPr id="19" name="Shape 14"/>
          <p:cNvSpPr/>
          <p:nvPr/>
        </p:nvSpPr>
        <p:spPr>
          <a:xfrm>
            <a:off x="548640" y="4937760"/>
            <a:ext cx="11094415" cy="868680"/>
          </a:xfrm>
          <a:prstGeom prst="roundRect">
            <a:avLst>
              <a:gd name="adj" fmla="val 14737"/>
            </a:avLst>
          </a:prstGeom>
          <a:solidFill>
            <a:schemeClr val="bg2"/>
          </a:solidFill>
          <a:ln w="12700">
            <a:solidFill>
              <a:schemeClr val="bg2"/>
            </a:solidFill>
            <a:prstDash val="solid"/>
          </a:ln>
        </p:spPr>
      </p:sp>
      <p:sp>
        <p:nvSpPr>
          <p:cNvPr id="20" name="Text 15"/>
          <p:cNvSpPr txBox="1"/>
          <p:nvPr/>
        </p:nvSpPr>
        <p:spPr>
          <a:xfrm>
            <a:off x="868680" y="5047488"/>
            <a:ext cx="10454335" cy="685800"/>
          </a:xfrm>
          <a:prstGeom prst="rect">
            <a:avLst/>
          </a:prstGeom>
          <a:noFill/>
          <a:ln/>
        </p:spPr>
        <p:txBody>
          <a:bodyPr wrap="square" lIns="0" tIns="0" rIns="0" bIns="0" rtlCol="0" anchor="ctr"/>
          <a:lstStyle/>
          <a:p>
            <a:pPr indent="0" marL="0">
              <a:buNone/>
            </a:pPr>
            <a:r>
              <a:rPr lang="en-US" sz="1500" b="1" dirty="0">
                <a:solidFill>
                  <a:schemeClr val="accent4"/>
                </a:solidFill>
              </a:rPr>
              <a:t>Subtema: </a:t>
            </a:r>
            <a:pPr indent="0" marL="0">
              <a:buNone/>
            </a:pPr>
            <a:r>
              <a:rPr lang="en-US" sz="1500" dirty="0">
                <a:solidFill>
                  <a:schemeClr val="tx1"/>
                </a:solidFill>
              </a:rPr>
              <a:t>masyarakat di wilayah kepulauan dan pedalaman yang terkendala jarak dan biaya transportasi untuk menjangkau tenaga medis dan layanan kesehatan.</a:t>
            </a:r>
            <a:endParaRPr lang="en-US" sz="1500" dirty="0"/>
          </a:p>
        </p:txBody>
      </p:sp>
      <p:sp>
        <p:nvSpPr>
          <p:cNvPr id="21" name="Text 16"/>
          <p:cNvSpPr txBox="1"/>
          <p:nvPr/>
        </p:nvSpPr>
        <p:spPr>
          <a:xfrm>
            <a:off x="548640" y="6053328"/>
            <a:ext cx="11094415" cy="256032"/>
          </a:xfrm>
          <a:prstGeom prst="rect">
            <a:avLst/>
          </a:prstGeom>
          <a:noFill/>
          <a:ln/>
        </p:spPr>
        <p:txBody>
          <a:bodyPr wrap="square" lIns="0" tIns="0" rIns="0" bIns="0" rtlCol="0" anchor="t"/>
          <a:lstStyle/>
          <a:p>
            <a:pPr indent="0" marL="0">
              <a:buNone/>
            </a:pPr>
            <a:r>
              <a:rPr lang="en-US" sz="1000" i="1" dirty="0">
                <a:solidFill>
                  <a:schemeClr val="tx2"/>
                </a:solidFill>
              </a:rPr>
              <a:t>Sumber: Kemenkes, Sarasehan Menkes dengan Kader Posyandu (11 Des 2024); harga strip Easy Touch Hb 25 strip Rp178.251 (Medicastore)</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nchor="t"/>
          <a:lstStyle/>
          <a:p>
            <a:pPr indent="0" marL="0">
              <a:buNone/>
            </a:pPr>
            <a:r>
              <a:rPr lang="en-US" sz="1200" b="1" spc="200" kern="0" dirty="0">
                <a:solidFill>
                  <a:schemeClr val="accent4"/>
                </a:solidFill>
              </a:rPr>
              <a:t>PENGGUNA DAN PEMBAYAR</a:t>
            </a:r>
            <a:endParaRPr lang="en-US" sz="1200" dirty="0"/>
          </a:p>
        </p:txBody>
      </p:sp>
      <p:sp>
        <p:nvSpPr>
          <p:cNvPr id="3" name="Text 1"/>
          <p:cNvSpPr/>
          <p:nvPr>
            <p:ph idx="102" type="title" hasCustomPrompt="1"/>
          </p:nvPr>
        </p:nvSpPr>
        <p:spPr>
          <a:xfrm>
            <a:off x="548640" y="694944"/>
            <a:ext cx="11094415" cy="73152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Kader memakai, dinas kesehatan membayar</a:t>
            </a:r>
            <a:endParaRPr lang="en-US" sz="3400" dirty="0"/>
          </a:p>
        </p:txBody>
      </p:sp>
      <p:sp>
        <p:nvSpPr>
          <p:cNvPr id="4" name="Text 2"/>
          <p:cNvSpPr txBox="1"/>
          <p:nvPr/>
        </p:nvSpPr>
        <p:spPr>
          <a:xfrm>
            <a:off x="548640" y="1645920"/>
            <a:ext cx="594360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PENGGUNA (GRATIS)</a:t>
            </a:r>
            <a:endParaRPr lang="en-US" sz="1200" dirty="0"/>
          </a:p>
        </p:txBody>
      </p:sp>
      <p:sp>
        <p:nvSpPr>
          <p:cNvPr id="5" name="Shape 3"/>
          <p:cNvSpPr/>
          <p:nvPr/>
        </p:nvSpPr>
        <p:spPr>
          <a:xfrm>
            <a:off x="548640" y="2011680"/>
            <a:ext cx="658368" cy="658368"/>
          </a:xfrm>
          <a:prstGeom prst="ellipse">
            <a:avLst/>
          </a:prstGeom>
          <a:solidFill>
            <a:schemeClr val="bg2"/>
          </a:solidFill>
          <a:ln w="12700">
            <a:solidFill>
              <a:schemeClr val="bg2"/>
            </a:solidFill>
            <a:prstDash val="solid"/>
          </a:ln>
        </p:spPr>
      </p:sp>
      <p:pic>
        <p:nvPicPr>
          <p:cNvPr id="6" name="Image 0" descr="preencoded.png">    </p:cNvPr>
          <p:cNvPicPr>
            <a:picLocks noChangeAspect="1"/>
          </p:cNvPicPr>
          <p:nvPr/>
        </p:nvPicPr>
        <p:blipFill>
          <a:blip r:embed="rId1"/>
          <a:stretch>
            <a:fillRect/>
          </a:stretch>
        </p:blipFill>
        <p:spPr>
          <a:xfrm>
            <a:off x="719816" y="2182856"/>
            <a:ext cx="316017" cy="316017"/>
          </a:xfrm>
          <a:prstGeom prst="rect">
            <a:avLst/>
          </a:prstGeom>
        </p:spPr>
      </p:pic>
      <p:sp>
        <p:nvSpPr>
          <p:cNvPr id="7" name="Text 4"/>
          <p:cNvSpPr txBox="1"/>
          <p:nvPr/>
        </p:nvSpPr>
        <p:spPr>
          <a:xfrm>
            <a:off x="1417320" y="2029968"/>
            <a:ext cx="5120640" cy="320040"/>
          </a:xfrm>
          <a:prstGeom prst="rect">
            <a:avLst/>
          </a:prstGeom>
          <a:noFill/>
          <a:ln/>
        </p:spPr>
        <p:txBody>
          <a:bodyPr wrap="square" lIns="0" tIns="0" rIns="0" bIns="0" rtlCol="0" anchor="t"/>
          <a:lstStyle/>
          <a:p>
            <a:pPr indent="0" marL="0">
              <a:buNone/>
            </a:pPr>
            <a:r>
              <a:rPr lang="en-US" sz="1700" b="1" dirty="0">
                <a:solidFill>
                  <a:schemeClr val="tx1"/>
                </a:solidFill>
              </a:rPr>
              <a:t>Kader posyandu</a:t>
            </a:r>
            <a:endParaRPr lang="en-US" sz="1700" dirty="0"/>
          </a:p>
        </p:txBody>
      </p:sp>
      <p:sp>
        <p:nvSpPr>
          <p:cNvPr id="8" name="Text 5"/>
          <p:cNvSpPr txBox="1"/>
          <p:nvPr/>
        </p:nvSpPr>
        <p:spPr>
          <a:xfrm>
            <a:off x="1417320" y="2350008"/>
            <a:ext cx="5120640" cy="457200"/>
          </a:xfrm>
          <a:prstGeom prst="rect">
            <a:avLst/>
          </a:prstGeom>
          <a:noFill/>
          <a:ln/>
        </p:spPr>
        <p:txBody>
          <a:bodyPr wrap="square" lIns="0" tIns="0" rIns="0" bIns="0" rtlCol="0" anchor="t"/>
          <a:lstStyle/>
          <a:p>
            <a:pPr indent="0" marL="0">
              <a:buNone/>
            </a:pPr>
            <a:r>
              <a:rPr lang="en-US" sz="1400" dirty="0">
                <a:solidFill>
                  <a:schemeClr val="tx2"/>
                </a:solidFill>
              </a:rPr>
              <a:t>Menyaring puluhan warga per jadwal dan tahu siapa yang perlu dirujuk</a:t>
            </a:r>
            <a:endParaRPr lang="en-US" sz="1400" dirty="0"/>
          </a:p>
        </p:txBody>
      </p:sp>
      <p:sp>
        <p:nvSpPr>
          <p:cNvPr id="9" name="Shape 6"/>
          <p:cNvSpPr/>
          <p:nvPr/>
        </p:nvSpPr>
        <p:spPr>
          <a:xfrm>
            <a:off x="548640" y="2907792"/>
            <a:ext cx="658368" cy="658368"/>
          </a:xfrm>
          <a:prstGeom prst="ellipse">
            <a:avLst/>
          </a:prstGeom>
          <a:solidFill>
            <a:schemeClr val="bg2"/>
          </a:solidFill>
          <a:ln w="12700">
            <a:solidFill>
              <a:schemeClr val="bg2"/>
            </a:solidFill>
            <a:prstDash val="solid"/>
          </a:ln>
        </p:spPr>
      </p:sp>
      <p:pic>
        <p:nvPicPr>
          <p:cNvPr id="10" name="Image 1" descr="preencoded.png">    </p:cNvPr>
          <p:cNvPicPr>
            <a:picLocks noChangeAspect="1"/>
          </p:cNvPicPr>
          <p:nvPr/>
        </p:nvPicPr>
        <p:blipFill>
          <a:blip r:embed="rId2"/>
          <a:stretch>
            <a:fillRect/>
          </a:stretch>
        </p:blipFill>
        <p:spPr>
          <a:xfrm>
            <a:off x="719816" y="3078968"/>
            <a:ext cx="316017" cy="316017"/>
          </a:xfrm>
          <a:prstGeom prst="rect">
            <a:avLst/>
          </a:prstGeom>
        </p:spPr>
      </p:pic>
      <p:sp>
        <p:nvSpPr>
          <p:cNvPr id="11" name="Text 7"/>
          <p:cNvSpPr txBox="1"/>
          <p:nvPr/>
        </p:nvSpPr>
        <p:spPr>
          <a:xfrm>
            <a:off x="1417320" y="2926080"/>
            <a:ext cx="5120640" cy="320040"/>
          </a:xfrm>
          <a:prstGeom prst="rect">
            <a:avLst/>
          </a:prstGeom>
          <a:noFill/>
          <a:ln/>
        </p:spPr>
        <p:txBody>
          <a:bodyPr wrap="square" lIns="0" tIns="0" rIns="0" bIns="0" rtlCol="0" anchor="t"/>
          <a:lstStyle/>
          <a:p>
            <a:pPr indent="0" marL="0">
              <a:buNone/>
            </a:pPr>
            <a:r>
              <a:rPr lang="en-US" sz="1700" b="1" dirty="0">
                <a:solidFill>
                  <a:schemeClr val="tx1"/>
                </a:solidFill>
              </a:rPr>
              <a:t>Ibu hamil</a:t>
            </a:r>
            <a:endParaRPr lang="en-US" sz="1700" dirty="0"/>
          </a:p>
        </p:txBody>
      </p:sp>
      <p:sp>
        <p:nvSpPr>
          <p:cNvPr id="12" name="Text 8"/>
          <p:cNvSpPr txBox="1"/>
          <p:nvPr/>
        </p:nvSpPr>
        <p:spPr>
          <a:xfrm>
            <a:off x="1417320" y="3246120"/>
            <a:ext cx="5120640" cy="457200"/>
          </a:xfrm>
          <a:prstGeom prst="rect">
            <a:avLst/>
          </a:prstGeom>
          <a:noFill/>
          <a:ln/>
        </p:spPr>
        <p:txBody>
          <a:bodyPr wrap="square" lIns="0" tIns="0" rIns="0" bIns="0" rtlCol="0" anchor="t"/>
          <a:lstStyle/>
          <a:p>
            <a:pPr indent="0" marL="0">
              <a:buNone/>
            </a:pPr>
            <a:r>
              <a:rPr lang="en-US" sz="1400" dirty="0">
                <a:solidFill>
                  <a:schemeClr val="tx2"/>
                </a:solidFill>
              </a:rPr>
              <a:t>Memantau risiko di antara kunjungan ANC tanpa perjalanan jauh</a:t>
            </a:r>
            <a:endParaRPr lang="en-US" sz="1400" dirty="0"/>
          </a:p>
        </p:txBody>
      </p:sp>
      <p:sp>
        <p:nvSpPr>
          <p:cNvPr id="13" name="Shape 9"/>
          <p:cNvSpPr/>
          <p:nvPr/>
        </p:nvSpPr>
        <p:spPr>
          <a:xfrm>
            <a:off x="548640" y="3803904"/>
            <a:ext cx="658368" cy="658368"/>
          </a:xfrm>
          <a:prstGeom prst="ellipse">
            <a:avLst/>
          </a:prstGeom>
          <a:solidFill>
            <a:schemeClr val="bg2"/>
          </a:solidFill>
          <a:ln w="12700">
            <a:solidFill>
              <a:schemeClr val="bg2"/>
            </a:solidFill>
            <a:prstDash val="solid"/>
          </a:ln>
        </p:spPr>
      </p:sp>
      <p:pic>
        <p:nvPicPr>
          <p:cNvPr id="14" name="Image 2" descr="preencoded.png">    </p:cNvPr>
          <p:cNvPicPr>
            <a:picLocks noChangeAspect="1"/>
          </p:cNvPicPr>
          <p:nvPr/>
        </p:nvPicPr>
        <p:blipFill>
          <a:blip r:embed="rId3"/>
          <a:stretch>
            <a:fillRect/>
          </a:stretch>
        </p:blipFill>
        <p:spPr>
          <a:xfrm>
            <a:off x="719816" y="3975080"/>
            <a:ext cx="316017" cy="316017"/>
          </a:xfrm>
          <a:prstGeom prst="rect">
            <a:avLst/>
          </a:prstGeom>
        </p:spPr>
      </p:pic>
      <p:sp>
        <p:nvSpPr>
          <p:cNvPr id="15" name="Text 10"/>
          <p:cNvSpPr txBox="1"/>
          <p:nvPr/>
        </p:nvSpPr>
        <p:spPr>
          <a:xfrm>
            <a:off x="1417320" y="3822192"/>
            <a:ext cx="5120640" cy="320040"/>
          </a:xfrm>
          <a:prstGeom prst="rect">
            <a:avLst/>
          </a:prstGeom>
          <a:noFill/>
          <a:ln/>
        </p:spPr>
        <p:txBody>
          <a:bodyPr wrap="square" lIns="0" tIns="0" rIns="0" bIns="0" rtlCol="0" anchor="t"/>
          <a:lstStyle/>
          <a:p>
            <a:pPr indent="0" marL="0">
              <a:buNone/>
            </a:pPr>
            <a:r>
              <a:rPr lang="en-US" sz="1700" b="1" dirty="0">
                <a:solidFill>
                  <a:schemeClr val="tx1"/>
                </a:solidFill>
              </a:rPr>
              <a:t>Remaja putri</a:t>
            </a:r>
            <a:endParaRPr lang="en-US" sz="1700" dirty="0"/>
          </a:p>
        </p:txBody>
      </p:sp>
      <p:sp>
        <p:nvSpPr>
          <p:cNvPr id="16" name="Text 11"/>
          <p:cNvSpPr txBox="1"/>
          <p:nvPr/>
        </p:nvSpPr>
        <p:spPr>
          <a:xfrm>
            <a:off x="1417320" y="4142232"/>
            <a:ext cx="5120640" cy="457200"/>
          </a:xfrm>
          <a:prstGeom prst="rect">
            <a:avLst/>
          </a:prstGeom>
          <a:noFill/>
          <a:ln/>
        </p:spPr>
        <p:txBody>
          <a:bodyPr wrap="square" lIns="0" tIns="0" rIns="0" bIns="0" rtlCol="0" anchor="t"/>
          <a:lstStyle/>
          <a:p>
            <a:pPr indent="0" marL="0">
              <a:buNone/>
            </a:pPr>
            <a:r>
              <a:rPr lang="en-US" sz="1400" dirty="0">
                <a:solidFill>
                  <a:schemeClr val="tx2"/>
                </a:solidFill>
              </a:rPr>
              <a:t>Pendamping program tablet tambah darah dan skrining sekolah</a:t>
            </a:r>
            <a:endParaRPr lang="en-US" sz="1400" dirty="0"/>
          </a:p>
        </p:txBody>
      </p:sp>
      <p:sp>
        <p:nvSpPr>
          <p:cNvPr id="17" name="Text 12"/>
          <p:cNvSpPr txBox="1"/>
          <p:nvPr/>
        </p:nvSpPr>
        <p:spPr>
          <a:xfrm>
            <a:off x="6812280" y="1645920"/>
            <a:ext cx="4846320" cy="274320"/>
          </a:xfrm>
          <a:prstGeom prst="rect">
            <a:avLst/>
          </a:prstGeom>
          <a:noFill/>
          <a:ln/>
        </p:spPr>
        <p:txBody>
          <a:bodyPr wrap="square" lIns="0" tIns="0" rIns="0" bIns="0" rtlCol="0" anchor="t"/>
          <a:lstStyle/>
          <a:p>
            <a:pPr indent="0" marL="0">
              <a:buNone/>
            </a:pPr>
            <a:r>
              <a:rPr lang="en-US" sz="1200" b="1" spc="100" kern="0" dirty="0">
                <a:solidFill>
                  <a:schemeClr val="accent4"/>
                </a:solidFill>
              </a:rPr>
              <a:t>PEMBAYAR (INSTITUSI)</a:t>
            </a:r>
            <a:endParaRPr lang="en-US" sz="1200" dirty="0"/>
          </a:p>
        </p:txBody>
      </p:sp>
      <p:sp>
        <p:nvSpPr>
          <p:cNvPr id="18" name="Shape 13"/>
          <p:cNvSpPr/>
          <p:nvPr/>
        </p:nvSpPr>
        <p:spPr>
          <a:xfrm>
            <a:off x="6812280" y="2011680"/>
            <a:ext cx="658368" cy="658368"/>
          </a:xfrm>
          <a:prstGeom prst="ellipse">
            <a:avLst/>
          </a:prstGeom>
          <a:solidFill>
            <a:schemeClr val="bg2"/>
          </a:solidFill>
          <a:ln w="12700">
            <a:solidFill>
              <a:schemeClr val="bg2"/>
            </a:solidFill>
            <a:prstDash val="solid"/>
          </a:ln>
        </p:spPr>
      </p:sp>
      <p:pic>
        <p:nvPicPr>
          <p:cNvPr id="19" name="Image 3" descr="preencoded.png">    </p:cNvPr>
          <p:cNvPicPr>
            <a:picLocks noChangeAspect="1"/>
          </p:cNvPicPr>
          <p:nvPr/>
        </p:nvPicPr>
        <p:blipFill>
          <a:blip r:embed="rId4"/>
          <a:stretch>
            <a:fillRect/>
          </a:stretch>
        </p:blipFill>
        <p:spPr>
          <a:xfrm>
            <a:off x="6983456" y="2182856"/>
            <a:ext cx="316017" cy="316017"/>
          </a:xfrm>
          <a:prstGeom prst="rect">
            <a:avLst/>
          </a:prstGeom>
        </p:spPr>
      </p:pic>
      <p:sp>
        <p:nvSpPr>
          <p:cNvPr id="20" name="Text 14"/>
          <p:cNvSpPr txBox="1"/>
          <p:nvPr/>
        </p:nvSpPr>
        <p:spPr>
          <a:xfrm>
            <a:off x="7680960" y="2029968"/>
            <a:ext cx="3959352" cy="320040"/>
          </a:xfrm>
          <a:prstGeom prst="rect">
            <a:avLst/>
          </a:prstGeom>
          <a:noFill/>
          <a:ln/>
        </p:spPr>
        <p:txBody>
          <a:bodyPr wrap="square" lIns="0" tIns="0" rIns="0" bIns="0" rtlCol="0" anchor="t"/>
          <a:lstStyle/>
          <a:p>
            <a:pPr indent="0" marL="0">
              <a:buNone/>
            </a:pPr>
            <a:r>
              <a:rPr lang="en-US" sz="1700" b="1" dirty="0">
                <a:solidFill>
                  <a:schemeClr val="tx1"/>
                </a:solidFill>
              </a:rPr>
              <a:t>Dinas kesehatan &amp; puskesmas</a:t>
            </a:r>
            <a:endParaRPr lang="en-US" sz="1700" dirty="0"/>
          </a:p>
        </p:txBody>
      </p:sp>
      <p:sp>
        <p:nvSpPr>
          <p:cNvPr id="21" name="Text 15"/>
          <p:cNvSpPr txBox="1"/>
          <p:nvPr/>
        </p:nvSpPr>
        <p:spPr>
          <a:xfrm>
            <a:off x="7680960" y="2350008"/>
            <a:ext cx="3959352" cy="457200"/>
          </a:xfrm>
          <a:prstGeom prst="rect">
            <a:avLst/>
          </a:prstGeom>
          <a:noFill/>
          <a:ln/>
        </p:spPr>
        <p:txBody>
          <a:bodyPr wrap="square" lIns="0" tIns="0" rIns="0" bIns="0" rtlCol="0" anchor="t"/>
          <a:lstStyle/>
          <a:p>
            <a:pPr indent="0" marL="0">
              <a:buNone/>
            </a:pPr>
            <a:r>
              <a:rPr lang="en-US" sz="1400" dirty="0">
                <a:solidFill>
                  <a:schemeClr val="tx2"/>
                </a:solidFill>
              </a:rPr>
              <a:t>Butuh data skrining wilayah dan rujukan yang tepat sasaran</a:t>
            </a:r>
            <a:endParaRPr lang="en-US" sz="1400" dirty="0"/>
          </a:p>
        </p:txBody>
      </p:sp>
      <p:sp>
        <p:nvSpPr>
          <p:cNvPr id="22" name="Shape 16"/>
          <p:cNvSpPr/>
          <p:nvPr/>
        </p:nvSpPr>
        <p:spPr>
          <a:xfrm>
            <a:off x="6812280" y="2907792"/>
            <a:ext cx="658368" cy="658368"/>
          </a:xfrm>
          <a:prstGeom prst="ellipse">
            <a:avLst/>
          </a:prstGeom>
          <a:solidFill>
            <a:schemeClr val="bg2"/>
          </a:solidFill>
          <a:ln w="12700">
            <a:solidFill>
              <a:schemeClr val="bg2"/>
            </a:solidFill>
            <a:prstDash val="solid"/>
          </a:ln>
        </p:spPr>
      </p:sp>
      <p:pic>
        <p:nvPicPr>
          <p:cNvPr id="23" name="Image 4" descr="preencoded.png">    </p:cNvPr>
          <p:cNvPicPr>
            <a:picLocks noChangeAspect="1"/>
          </p:cNvPicPr>
          <p:nvPr/>
        </p:nvPicPr>
        <p:blipFill>
          <a:blip r:embed="rId5"/>
          <a:stretch>
            <a:fillRect/>
          </a:stretch>
        </p:blipFill>
        <p:spPr>
          <a:xfrm>
            <a:off x="6983456" y="3078968"/>
            <a:ext cx="316017" cy="316017"/>
          </a:xfrm>
          <a:prstGeom prst="rect">
            <a:avLst/>
          </a:prstGeom>
        </p:spPr>
      </p:pic>
      <p:sp>
        <p:nvSpPr>
          <p:cNvPr id="24" name="Text 17"/>
          <p:cNvSpPr txBox="1"/>
          <p:nvPr/>
        </p:nvSpPr>
        <p:spPr>
          <a:xfrm>
            <a:off x="7680960" y="2926080"/>
            <a:ext cx="3959352" cy="320040"/>
          </a:xfrm>
          <a:prstGeom prst="rect">
            <a:avLst/>
          </a:prstGeom>
          <a:noFill/>
          <a:ln/>
        </p:spPr>
        <p:txBody>
          <a:bodyPr wrap="square" lIns="0" tIns="0" rIns="0" bIns="0" rtlCol="0" anchor="t"/>
          <a:lstStyle/>
          <a:p>
            <a:pPr indent="0" marL="0">
              <a:buNone/>
            </a:pPr>
            <a:r>
              <a:rPr lang="en-US" sz="1700" b="1" dirty="0">
                <a:solidFill>
                  <a:schemeClr val="tx1"/>
                </a:solidFill>
              </a:rPr>
              <a:t>Mitra CSR &amp; NGO gizi</a:t>
            </a:r>
            <a:endParaRPr lang="en-US" sz="1700" dirty="0"/>
          </a:p>
        </p:txBody>
      </p:sp>
      <p:sp>
        <p:nvSpPr>
          <p:cNvPr id="25" name="Text 18"/>
          <p:cNvSpPr txBox="1"/>
          <p:nvPr/>
        </p:nvSpPr>
        <p:spPr>
          <a:xfrm>
            <a:off x="7680960" y="3246120"/>
            <a:ext cx="3959352" cy="457200"/>
          </a:xfrm>
          <a:prstGeom prst="rect">
            <a:avLst/>
          </a:prstGeom>
          <a:noFill/>
          <a:ln/>
        </p:spPr>
        <p:txBody>
          <a:bodyPr wrap="square" lIns="0" tIns="0" rIns="0" bIns="0" rtlCol="0" anchor="t"/>
          <a:lstStyle/>
          <a:p>
            <a:pPr indent="0" marL="0">
              <a:buNone/>
            </a:pPr>
            <a:r>
              <a:rPr lang="en-US" sz="1400" dirty="0">
                <a:solidFill>
                  <a:schemeClr val="tx2"/>
                </a:solidFill>
              </a:rPr>
              <a:t>Mendanai program kesehatan ibu dan anak di daerah 3T</a:t>
            </a:r>
            <a:endParaRPr lang="en-US" sz="1400" dirty="0"/>
          </a:p>
        </p:txBody>
      </p:sp>
      <p:sp>
        <p:nvSpPr>
          <p:cNvPr id="26" name="Shape 19"/>
          <p:cNvSpPr/>
          <p:nvPr/>
        </p:nvSpPr>
        <p:spPr>
          <a:xfrm>
            <a:off x="548640" y="4800600"/>
            <a:ext cx="3557016" cy="1097280"/>
          </a:xfrm>
          <a:prstGeom prst="roundRect">
            <a:avLst>
              <a:gd name="adj" fmla="val 11667"/>
            </a:avLst>
          </a:prstGeom>
          <a:solidFill>
            <a:srgbClr val="1F1A2E"/>
          </a:solidFill>
          <a:ln w="12700">
            <a:solidFill>
              <a:srgbClr val="1F1A2E"/>
            </a:solidFill>
            <a:prstDash val="solid"/>
          </a:ln>
        </p:spPr>
      </p:sp>
      <p:sp>
        <p:nvSpPr>
          <p:cNvPr id="27" name="Text 20"/>
          <p:cNvSpPr txBox="1"/>
          <p:nvPr/>
        </p:nvSpPr>
        <p:spPr>
          <a:xfrm>
            <a:off x="822960" y="4937760"/>
            <a:ext cx="1737360" cy="822960"/>
          </a:xfrm>
          <a:prstGeom prst="rect">
            <a:avLst/>
          </a:prstGeom>
          <a:noFill/>
          <a:ln/>
        </p:spPr>
        <p:txBody>
          <a:bodyPr wrap="square" lIns="0" tIns="0" rIns="0" bIns="0" rtlCol="0" anchor="ctr"/>
          <a:lstStyle/>
          <a:p>
            <a:pPr indent="0" marL="0">
              <a:buNone/>
            </a:pPr>
            <a:r>
              <a:rPr lang="en-US" sz="3400" b="1" dirty="0">
                <a:solidFill>
                  <a:schemeClr val="accent3"/>
                </a:solidFill>
                <a:latin typeface="Cambria" pitchFamily="34" charset="0"/>
                <a:ea typeface="Cambria" pitchFamily="34" charset="-122"/>
                <a:cs typeface="Cambria" pitchFamily="34" charset="-120"/>
              </a:rPr>
              <a:t>303 rb</a:t>
            </a:r>
            <a:endParaRPr lang="en-US" sz="3400" dirty="0"/>
          </a:p>
        </p:txBody>
      </p:sp>
      <p:sp>
        <p:nvSpPr>
          <p:cNvPr id="28" name="Text 21"/>
          <p:cNvSpPr txBox="1"/>
          <p:nvPr/>
        </p:nvSpPr>
        <p:spPr>
          <a:xfrm>
            <a:off x="2514600" y="4937760"/>
            <a:ext cx="1463040" cy="822960"/>
          </a:xfrm>
          <a:prstGeom prst="rect">
            <a:avLst/>
          </a:prstGeom>
          <a:noFill/>
          <a:ln/>
        </p:spPr>
        <p:txBody>
          <a:bodyPr wrap="square" lIns="0" tIns="0" rIns="0" bIns="0" rtlCol="0" anchor="ctr"/>
          <a:lstStyle/>
          <a:p>
            <a:pPr indent="0" marL="0">
              <a:buNone/>
            </a:pPr>
            <a:r>
              <a:rPr lang="en-US" sz="1300" dirty="0">
                <a:solidFill>
                  <a:schemeClr val="accent6"/>
                </a:solidFill>
              </a:rPr>
              <a:t>posyandu</a:t>
            </a:r>
            <a:endParaRPr lang="en-US" sz="1300" dirty="0"/>
          </a:p>
        </p:txBody>
      </p:sp>
      <p:sp>
        <p:nvSpPr>
          <p:cNvPr id="29" name="Shape 22"/>
          <p:cNvSpPr/>
          <p:nvPr/>
        </p:nvSpPr>
        <p:spPr>
          <a:xfrm>
            <a:off x="4315968" y="4800600"/>
            <a:ext cx="3557016" cy="1097280"/>
          </a:xfrm>
          <a:prstGeom prst="roundRect">
            <a:avLst>
              <a:gd name="adj" fmla="val 11667"/>
            </a:avLst>
          </a:prstGeom>
          <a:solidFill>
            <a:srgbClr val="1F1A2E"/>
          </a:solidFill>
          <a:ln w="12700">
            <a:solidFill>
              <a:srgbClr val="1F1A2E"/>
            </a:solidFill>
            <a:prstDash val="solid"/>
          </a:ln>
        </p:spPr>
      </p:sp>
      <p:sp>
        <p:nvSpPr>
          <p:cNvPr id="30" name="Text 23"/>
          <p:cNvSpPr txBox="1"/>
          <p:nvPr/>
        </p:nvSpPr>
        <p:spPr>
          <a:xfrm>
            <a:off x="4590288" y="4937760"/>
            <a:ext cx="1737360" cy="822960"/>
          </a:xfrm>
          <a:prstGeom prst="rect">
            <a:avLst/>
          </a:prstGeom>
          <a:noFill/>
          <a:ln/>
        </p:spPr>
        <p:txBody>
          <a:bodyPr wrap="square" lIns="0" tIns="0" rIns="0" bIns="0" rtlCol="0" anchor="ctr"/>
          <a:lstStyle/>
          <a:p>
            <a:pPr indent="0" marL="0">
              <a:buNone/>
            </a:pPr>
            <a:r>
              <a:rPr lang="en-US" sz="3400" b="1" dirty="0">
                <a:solidFill>
                  <a:schemeClr val="accent3"/>
                </a:solidFill>
                <a:latin typeface="Cambria" pitchFamily="34" charset="0"/>
                <a:ea typeface="Cambria" pitchFamily="34" charset="-122"/>
                <a:cs typeface="Cambria" pitchFamily="34" charset="-120"/>
              </a:rPr>
              <a:t>10.321</a:t>
            </a:r>
            <a:endParaRPr lang="en-US" sz="3400" dirty="0"/>
          </a:p>
        </p:txBody>
      </p:sp>
      <p:sp>
        <p:nvSpPr>
          <p:cNvPr id="31" name="Text 24"/>
          <p:cNvSpPr txBox="1"/>
          <p:nvPr/>
        </p:nvSpPr>
        <p:spPr>
          <a:xfrm>
            <a:off x="6281928" y="4937760"/>
            <a:ext cx="1463040" cy="822960"/>
          </a:xfrm>
          <a:prstGeom prst="rect">
            <a:avLst/>
          </a:prstGeom>
          <a:noFill/>
          <a:ln/>
        </p:spPr>
        <p:txBody>
          <a:bodyPr wrap="square" lIns="0" tIns="0" rIns="0" bIns="0" rtlCol="0" anchor="ctr"/>
          <a:lstStyle/>
          <a:p>
            <a:pPr indent="0" marL="0">
              <a:buNone/>
            </a:pPr>
            <a:r>
              <a:rPr lang="en-US" sz="1300" dirty="0">
                <a:solidFill>
                  <a:schemeClr val="accent6"/>
                </a:solidFill>
              </a:rPr>
              <a:t>puskesmas</a:t>
            </a:r>
            <a:endParaRPr lang="en-US" sz="1300" dirty="0"/>
          </a:p>
        </p:txBody>
      </p:sp>
      <p:sp>
        <p:nvSpPr>
          <p:cNvPr id="32" name="Shape 25"/>
          <p:cNvSpPr/>
          <p:nvPr/>
        </p:nvSpPr>
        <p:spPr>
          <a:xfrm>
            <a:off x="8083296" y="4800600"/>
            <a:ext cx="3557016" cy="1097280"/>
          </a:xfrm>
          <a:prstGeom prst="roundRect">
            <a:avLst>
              <a:gd name="adj" fmla="val 11667"/>
            </a:avLst>
          </a:prstGeom>
          <a:solidFill>
            <a:srgbClr val="1F1A2E"/>
          </a:solidFill>
          <a:ln w="12700">
            <a:solidFill>
              <a:srgbClr val="1F1A2E"/>
            </a:solidFill>
            <a:prstDash val="solid"/>
          </a:ln>
        </p:spPr>
      </p:sp>
      <p:sp>
        <p:nvSpPr>
          <p:cNvPr id="33" name="Text 26"/>
          <p:cNvSpPr txBox="1"/>
          <p:nvPr/>
        </p:nvSpPr>
        <p:spPr>
          <a:xfrm>
            <a:off x="8357616" y="4937760"/>
            <a:ext cx="1737360" cy="822960"/>
          </a:xfrm>
          <a:prstGeom prst="rect">
            <a:avLst/>
          </a:prstGeom>
          <a:noFill/>
          <a:ln/>
        </p:spPr>
        <p:txBody>
          <a:bodyPr wrap="square" lIns="0" tIns="0" rIns="0" bIns="0" rtlCol="0" anchor="ctr"/>
          <a:lstStyle/>
          <a:p>
            <a:pPr indent="0" marL="0">
              <a:buNone/>
            </a:pPr>
            <a:r>
              <a:rPr lang="en-US" sz="3400" b="1" dirty="0">
                <a:solidFill>
                  <a:schemeClr val="accent3"/>
                </a:solidFill>
                <a:latin typeface="Cambria" pitchFamily="34" charset="0"/>
                <a:ea typeface="Cambria" pitchFamily="34" charset="-122"/>
                <a:cs typeface="Cambria" pitchFamily="34" charset="-120"/>
              </a:rPr>
              <a:t>497 rb</a:t>
            </a:r>
            <a:endParaRPr lang="en-US" sz="3400" dirty="0"/>
          </a:p>
        </p:txBody>
      </p:sp>
      <p:sp>
        <p:nvSpPr>
          <p:cNvPr id="34" name="Text 27"/>
          <p:cNvSpPr txBox="1"/>
          <p:nvPr/>
        </p:nvSpPr>
        <p:spPr>
          <a:xfrm>
            <a:off x="10049256" y="4937760"/>
            <a:ext cx="1463040" cy="822960"/>
          </a:xfrm>
          <a:prstGeom prst="rect">
            <a:avLst/>
          </a:prstGeom>
          <a:noFill/>
          <a:ln/>
        </p:spPr>
        <p:txBody>
          <a:bodyPr wrap="square" lIns="0" tIns="0" rIns="0" bIns="0" rtlCol="0" anchor="ctr"/>
          <a:lstStyle/>
          <a:p>
            <a:pPr indent="0" marL="0">
              <a:buNone/>
            </a:pPr>
            <a:r>
              <a:rPr lang="en-US" sz="1300" dirty="0">
                <a:solidFill>
                  <a:schemeClr val="accent6"/>
                </a:solidFill>
              </a:rPr>
              <a:t>kader ikut kuis nasional 2024</a:t>
            </a:r>
            <a:endParaRPr lang="en-US" sz="1300" dirty="0"/>
          </a:p>
        </p:txBody>
      </p:sp>
      <p:sp>
        <p:nvSpPr>
          <p:cNvPr id="35" name="Text 28"/>
          <p:cNvSpPr txBox="1"/>
          <p:nvPr/>
        </p:nvSpPr>
        <p:spPr>
          <a:xfrm>
            <a:off x="548640" y="6053328"/>
            <a:ext cx="11094415" cy="256032"/>
          </a:xfrm>
          <a:prstGeom prst="rect">
            <a:avLst/>
          </a:prstGeom>
          <a:noFill/>
          <a:ln/>
        </p:spPr>
        <p:txBody>
          <a:bodyPr wrap="square" lIns="0" tIns="0" rIns="0" bIns="0" rtlCol="0" anchor="t"/>
          <a:lstStyle/>
          <a:p>
            <a:pPr indent="0" marL="0">
              <a:buNone/>
            </a:pPr>
            <a:r>
              <a:rPr lang="en-US" sz="1000" i="1" dirty="0">
                <a:solidFill>
                  <a:schemeClr val="tx2"/>
                </a:solidFill>
              </a:rPr>
              <a:t>Sumber: Kemenkes (23 Des 2022) jumlah posyandu dan puskesmas; Kemenkes (11 Des 2024) jumlah kader</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nchor="t"/>
          <a:lstStyle/>
          <a:p>
            <a:pPr indent="0" marL="0">
              <a:buNone/>
            </a:pPr>
            <a:r>
              <a:rPr lang="en-US" sz="1200" b="1" spc="200" kern="0" dirty="0">
                <a:solidFill>
                  <a:schemeClr val="accent4"/>
                </a:solidFill>
              </a:rPr>
              <a:t>SOLUSI KAMI</a:t>
            </a:r>
            <a:endParaRPr lang="en-US" sz="1200" dirty="0"/>
          </a:p>
        </p:txBody>
      </p:sp>
      <p:sp>
        <p:nvSpPr>
          <p:cNvPr id="3" name="Text 1"/>
          <p:cNvSpPr/>
          <p:nvPr>
            <p:ph idx="102" type="title" hasCustomPrompt="1"/>
          </p:nvPr>
        </p:nvSpPr>
        <p:spPr>
          <a:xfrm>
            <a:off x="548640" y="694944"/>
            <a:ext cx="11094415" cy="73152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Satu foto kelopak mata, hasil dalam satu detik</a:t>
            </a:r>
            <a:endParaRPr lang="en-US" sz="3400" dirty="0"/>
          </a:p>
        </p:txBody>
      </p:sp>
      <p:sp>
        <p:nvSpPr>
          <p:cNvPr id="4" name="Text 2"/>
          <p:cNvSpPr txBox="1"/>
          <p:nvPr/>
        </p:nvSpPr>
        <p:spPr>
          <a:xfrm>
            <a:off x="548640" y="1645920"/>
            <a:ext cx="10515600" cy="777240"/>
          </a:xfrm>
          <a:prstGeom prst="rect">
            <a:avLst/>
          </a:prstGeom>
          <a:noFill/>
          <a:ln/>
        </p:spPr>
        <p:txBody>
          <a:bodyPr wrap="square" lIns="0" tIns="0" rIns="0" bIns="0" rtlCol="0" anchor="t"/>
          <a:lstStyle/>
          <a:p>
            <a:pPr indent="0" marL="0">
              <a:buNone/>
            </a:pPr>
            <a:r>
              <a:rPr lang="en-US" sz="2000" dirty="0">
                <a:solidFill>
                  <a:schemeClr val="tx2"/>
                </a:solidFill>
              </a:rPr>
              <a:t>AnemiaLens menyaring risiko anemia dari foto kelopak mata bawah, langsung di browser HP. Tanpa jarum, tanpa strip, tanpa instal aplikasi.</a:t>
            </a:r>
            <a:endParaRPr lang="en-US" sz="2000" dirty="0"/>
          </a:p>
        </p:txBody>
      </p:sp>
      <p:sp>
        <p:nvSpPr>
          <p:cNvPr id="5" name="Shape 3"/>
          <p:cNvSpPr/>
          <p:nvPr/>
        </p:nvSpPr>
        <p:spPr>
          <a:xfrm>
            <a:off x="548640" y="2697480"/>
            <a:ext cx="3392424" cy="2743200"/>
          </a:xfrm>
          <a:prstGeom prst="roundRect">
            <a:avLst>
              <a:gd name="adj" fmla="val 4667"/>
            </a:avLst>
          </a:prstGeom>
          <a:solidFill>
            <a:schemeClr val="bg2"/>
          </a:solidFill>
          <a:ln w="12700">
            <a:solidFill>
              <a:schemeClr val="bg2"/>
            </a:solidFill>
            <a:prstDash val="solid"/>
          </a:ln>
        </p:spPr>
      </p:sp>
      <p:sp>
        <p:nvSpPr>
          <p:cNvPr id="6" name="Shape 4"/>
          <p:cNvSpPr/>
          <p:nvPr/>
        </p:nvSpPr>
        <p:spPr>
          <a:xfrm>
            <a:off x="868680" y="2971800"/>
            <a:ext cx="731520" cy="731520"/>
          </a:xfrm>
          <a:prstGeom prst="ellipse">
            <a:avLst/>
          </a:prstGeom>
          <a:solidFill>
            <a:schemeClr val="bg1"/>
          </a:solidFill>
          <a:ln w="12700">
            <a:solidFill>
              <a:schemeClr val="bg1"/>
            </a:solidFill>
            <a:prstDash val="solid"/>
          </a:ln>
        </p:spPr>
      </p:sp>
      <p:pic>
        <p:nvPicPr>
          <p:cNvPr id="7" name="Image 0" descr="preencoded.png">    </p:cNvPr>
          <p:cNvPicPr>
            <a:picLocks noChangeAspect="1"/>
          </p:cNvPicPr>
          <p:nvPr/>
        </p:nvPicPr>
        <p:blipFill>
          <a:blip r:embed="rId1"/>
          <a:stretch>
            <a:fillRect/>
          </a:stretch>
        </p:blipFill>
        <p:spPr>
          <a:xfrm>
            <a:off x="1058875" y="3161995"/>
            <a:ext cx="351130" cy="351130"/>
          </a:xfrm>
          <a:prstGeom prst="rect">
            <a:avLst/>
          </a:prstGeom>
        </p:spPr>
      </p:pic>
      <p:sp>
        <p:nvSpPr>
          <p:cNvPr id="8" name="Text 5"/>
          <p:cNvSpPr txBox="1"/>
          <p:nvPr/>
        </p:nvSpPr>
        <p:spPr>
          <a:xfrm>
            <a:off x="868680" y="3886200"/>
            <a:ext cx="2743200" cy="411480"/>
          </a:xfrm>
          <a:prstGeom prst="rect">
            <a:avLst/>
          </a:prstGeom>
          <a:noFill/>
          <a:ln/>
        </p:spPr>
        <p:txBody>
          <a:bodyPr wrap="square" lIns="0" tIns="0" rIns="0" bIns="0" rtlCol="0" anchor="t"/>
          <a:lstStyle/>
          <a:p>
            <a:pPr indent="0" marL="0">
              <a:buNone/>
            </a:pPr>
            <a:r>
              <a:rPr lang="en-US" sz="2000" b="1" dirty="0">
                <a:solidFill>
                  <a:schemeClr val="tx1"/>
                </a:solidFill>
              </a:rPr>
              <a:t>1  Foto</a:t>
            </a:r>
            <a:endParaRPr lang="en-US" sz="2000" dirty="0"/>
          </a:p>
        </p:txBody>
      </p:sp>
      <p:sp>
        <p:nvSpPr>
          <p:cNvPr id="9" name="Text 6"/>
          <p:cNvSpPr txBox="1"/>
          <p:nvPr/>
        </p:nvSpPr>
        <p:spPr>
          <a:xfrm>
            <a:off x="868680" y="4343400"/>
            <a:ext cx="2743200" cy="914400"/>
          </a:xfrm>
          <a:prstGeom prst="rect">
            <a:avLst/>
          </a:prstGeom>
          <a:noFill/>
          <a:ln/>
        </p:spPr>
        <p:txBody>
          <a:bodyPr wrap="square" lIns="0" tIns="0" rIns="0" bIns="0" rtlCol="0" anchor="t"/>
          <a:lstStyle/>
          <a:p>
            <a:pPr indent="0" marL="0">
              <a:buNone/>
            </a:pPr>
            <a:r>
              <a:rPr lang="en-US" sz="1500" dirty="0">
                <a:solidFill>
                  <a:schemeClr val="tx2"/>
                </a:solidFill>
              </a:rPr>
              <a:t>Tarik kelopak mata bawah, ambil foto dengan kamera HP biasa.</a:t>
            </a:r>
            <a:endParaRPr lang="en-US" sz="1500" dirty="0"/>
          </a:p>
        </p:txBody>
      </p:sp>
      <p:sp>
        <p:nvSpPr>
          <p:cNvPr id="10" name="Shape 7"/>
          <p:cNvSpPr/>
          <p:nvPr/>
        </p:nvSpPr>
        <p:spPr>
          <a:xfrm>
            <a:off x="4032504" y="3931920"/>
            <a:ext cx="274320" cy="274320"/>
          </a:xfrm>
          <a:prstGeom prst="rightArrow">
            <a:avLst/>
          </a:prstGeom>
          <a:solidFill>
            <a:schemeClr val="accent1"/>
          </a:solidFill>
          <a:ln w="12700">
            <a:solidFill>
              <a:schemeClr val="accent1"/>
            </a:solidFill>
            <a:prstDash val="solid"/>
          </a:ln>
        </p:spPr>
      </p:sp>
      <p:sp>
        <p:nvSpPr>
          <p:cNvPr id="11" name="Shape 8"/>
          <p:cNvSpPr/>
          <p:nvPr/>
        </p:nvSpPr>
        <p:spPr>
          <a:xfrm>
            <a:off x="4398264" y="2697480"/>
            <a:ext cx="3392424" cy="2743200"/>
          </a:xfrm>
          <a:prstGeom prst="roundRect">
            <a:avLst>
              <a:gd name="adj" fmla="val 4667"/>
            </a:avLst>
          </a:prstGeom>
          <a:solidFill>
            <a:schemeClr val="bg2"/>
          </a:solidFill>
          <a:ln w="12700">
            <a:solidFill>
              <a:schemeClr val="bg2"/>
            </a:solidFill>
            <a:prstDash val="solid"/>
          </a:ln>
        </p:spPr>
      </p:sp>
      <p:sp>
        <p:nvSpPr>
          <p:cNvPr id="12" name="Shape 9"/>
          <p:cNvSpPr/>
          <p:nvPr/>
        </p:nvSpPr>
        <p:spPr>
          <a:xfrm>
            <a:off x="4718304" y="2971800"/>
            <a:ext cx="731520" cy="731520"/>
          </a:xfrm>
          <a:prstGeom prst="ellipse">
            <a:avLst/>
          </a:prstGeom>
          <a:solidFill>
            <a:schemeClr val="bg1"/>
          </a:solidFill>
          <a:ln w="12700">
            <a:solidFill>
              <a:schemeClr val="bg1"/>
            </a:solidFill>
            <a:prstDash val="solid"/>
          </a:ln>
        </p:spPr>
      </p:sp>
      <p:pic>
        <p:nvPicPr>
          <p:cNvPr id="13" name="Image 1" descr="preencoded.png">    </p:cNvPr>
          <p:cNvPicPr>
            <a:picLocks noChangeAspect="1"/>
          </p:cNvPicPr>
          <p:nvPr/>
        </p:nvPicPr>
        <p:blipFill>
          <a:blip r:embed="rId2"/>
          <a:stretch>
            <a:fillRect/>
          </a:stretch>
        </p:blipFill>
        <p:spPr>
          <a:xfrm>
            <a:off x="4908499" y="3161995"/>
            <a:ext cx="351130" cy="351130"/>
          </a:xfrm>
          <a:prstGeom prst="rect">
            <a:avLst/>
          </a:prstGeom>
        </p:spPr>
      </p:pic>
      <p:sp>
        <p:nvSpPr>
          <p:cNvPr id="14" name="Text 10"/>
          <p:cNvSpPr txBox="1"/>
          <p:nvPr/>
        </p:nvSpPr>
        <p:spPr>
          <a:xfrm>
            <a:off x="4718304" y="3886200"/>
            <a:ext cx="2743200" cy="411480"/>
          </a:xfrm>
          <a:prstGeom prst="rect">
            <a:avLst/>
          </a:prstGeom>
          <a:noFill/>
          <a:ln/>
        </p:spPr>
        <p:txBody>
          <a:bodyPr wrap="square" lIns="0" tIns="0" rIns="0" bIns="0" rtlCol="0" anchor="t"/>
          <a:lstStyle/>
          <a:p>
            <a:pPr indent="0" marL="0">
              <a:buNone/>
            </a:pPr>
            <a:r>
              <a:rPr lang="en-US" sz="2000" b="1" dirty="0">
                <a:solidFill>
                  <a:schemeClr val="tx1"/>
                </a:solidFill>
              </a:rPr>
              <a:t>2  AI menganalisis</a:t>
            </a:r>
            <a:endParaRPr lang="en-US" sz="2000" dirty="0"/>
          </a:p>
        </p:txBody>
      </p:sp>
      <p:sp>
        <p:nvSpPr>
          <p:cNvPr id="15" name="Text 11"/>
          <p:cNvSpPr txBox="1"/>
          <p:nvPr/>
        </p:nvSpPr>
        <p:spPr>
          <a:xfrm>
            <a:off x="4718304" y="4343400"/>
            <a:ext cx="2743200" cy="914400"/>
          </a:xfrm>
          <a:prstGeom prst="rect">
            <a:avLst/>
          </a:prstGeom>
          <a:noFill/>
          <a:ln/>
        </p:spPr>
        <p:txBody>
          <a:bodyPr wrap="square" lIns="0" tIns="0" rIns="0" bIns="0" rtlCol="0" anchor="t"/>
          <a:lstStyle/>
          <a:p>
            <a:pPr indent="0" marL="0">
              <a:buNone/>
            </a:pPr>
            <a:r>
              <a:rPr lang="en-US" sz="1500" dirty="0">
                <a:solidFill>
                  <a:schemeClr val="tx2"/>
                </a:solidFill>
              </a:rPr>
              <a:t>Menemukan konjungtiva, menolak foto buruk, menilai warnanya.</a:t>
            </a:r>
            <a:endParaRPr lang="en-US" sz="1500" dirty="0"/>
          </a:p>
        </p:txBody>
      </p:sp>
      <p:sp>
        <p:nvSpPr>
          <p:cNvPr id="16" name="Shape 12"/>
          <p:cNvSpPr/>
          <p:nvPr/>
        </p:nvSpPr>
        <p:spPr>
          <a:xfrm>
            <a:off x="7882128" y="3931920"/>
            <a:ext cx="274320" cy="274320"/>
          </a:xfrm>
          <a:prstGeom prst="rightArrow">
            <a:avLst/>
          </a:prstGeom>
          <a:solidFill>
            <a:schemeClr val="accent1"/>
          </a:solidFill>
          <a:ln w="12700">
            <a:solidFill>
              <a:schemeClr val="accent1"/>
            </a:solidFill>
            <a:prstDash val="solid"/>
          </a:ln>
        </p:spPr>
      </p:sp>
      <p:sp>
        <p:nvSpPr>
          <p:cNvPr id="17" name="Shape 13"/>
          <p:cNvSpPr/>
          <p:nvPr/>
        </p:nvSpPr>
        <p:spPr>
          <a:xfrm>
            <a:off x="8247888" y="2697480"/>
            <a:ext cx="3392424" cy="2743200"/>
          </a:xfrm>
          <a:prstGeom prst="roundRect">
            <a:avLst>
              <a:gd name="adj" fmla="val 4667"/>
            </a:avLst>
          </a:prstGeom>
          <a:solidFill>
            <a:srgbClr val="1F1A2E"/>
          </a:solidFill>
          <a:ln w="12700">
            <a:solidFill>
              <a:srgbClr val="1F1A2E"/>
            </a:solidFill>
            <a:prstDash val="solid"/>
          </a:ln>
        </p:spPr>
      </p:sp>
      <p:sp>
        <p:nvSpPr>
          <p:cNvPr id="18" name="Shape 14"/>
          <p:cNvSpPr/>
          <p:nvPr/>
        </p:nvSpPr>
        <p:spPr>
          <a:xfrm>
            <a:off x="8567928" y="2971800"/>
            <a:ext cx="731520" cy="731520"/>
          </a:xfrm>
          <a:prstGeom prst="ellipse">
            <a:avLst/>
          </a:prstGeom>
          <a:solidFill>
            <a:schemeClr val="accent1"/>
          </a:solidFill>
          <a:ln w="12700">
            <a:solidFill>
              <a:schemeClr val="accent1"/>
            </a:solidFill>
            <a:prstDash val="solid"/>
          </a:ln>
        </p:spPr>
      </p:sp>
      <p:pic>
        <p:nvPicPr>
          <p:cNvPr id="19" name="Image 2" descr="preencoded.png">    </p:cNvPr>
          <p:cNvPicPr>
            <a:picLocks noChangeAspect="1"/>
          </p:cNvPicPr>
          <p:nvPr/>
        </p:nvPicPr>
        <p:blipFill>
          <a:blip r:embed="rId3"/>
          <a:stretch>
            <a:fillRect/>
          </a:stretch>
        </p:blipFill>
        <p:spPr>
          <a:xfrm>
            <a:off x="8758123" y="3161995"/>
            <a:ext cx="351130" cy="351130"/>
          </a:xfrm>
          <a:prstGeom prst="rect">
            <a:avLst/>
          </a:prstGeom>
        </p:spPr>
      </p:pic>
      <p:sp>
        <p:nvSpPr>
          <p:cNvPr id="20" name="Text 15"/>
          <p:cNvSpPr txBox="1"/>
          <p:nvPr/>
        </p:nvSpPr>
        <p:spPr>
          <a:xfrm>
            <a:off x="8567928" y="3886200"/>
            <a:ext cx="2743200" cy="411480"/>
          </a:xfrm>
          <a:prstGeom prst="rect">
            <a:avLst/>
          </a:prstGeom>
          <a:noFill/>
          <a:ln/>
        </p:spPr>
        <p:txBody>
          <a:bodyPr wrap="square" lIns="0" tIns="0" rIns="0" bIns="0" rtlCol="0" anchor="t"/>
          <a:lstStyle/>
          <a:p>
            <a:pPr indent="0" marL="0">
              <a:buNone/>
            </a:pPr>
            <a:r>
              <a:rPr lang="en-US" sz="2000" b="1" dirty="0">
                <a:solidFill>
                  <a:schemeClr val="bg1"/>
                </a:solidFill>
              </a:rPr>
              <a:t>3  Hasil dan rujukan</a:t>
            </a:r>
            <a:endParaRPr lang="en-US" sz="2000" dirty="0"/>
          </a:p>
        </p:txBody>
      </p:sp>
      <p:sp>
        <p:nvSpPr>
          <p:cNvPr id="21" name="Text 16"/>
          <p:cNvSpPr txBox="1"/>
          <p:nvPr/>
        </p:nvSpPr>
        <p:spPr>
          <a:xfrm>
            <a:off x="8567928" y="4343400"/>
            <a:ext cx="2743200" cy="914400"/>
          </a:xfrm>
          <a:prstGeom prst="rect">
            <a:avLst/>
          </a:prstGeom>
          <a:noFill/>
          <a:ln/>
        </p:spPr>
        <p:txBody>
          <a:bodyPr wrap="square" lIns="0" tIns="0" rIns="0" bIns="0" rtlCol="0" anchor="t"/>
          <a:lstStyle/>
          <a:p>
            <a:pPr indent="0" marL="0">
              <a:buNone/>
            </a:pPr>
            <a:r>
              <a:rPr lang="en-US" sz="1500" dirty="0">
                <a:solidFill>
                  <a:schemeClr val="accent6"/>
                </a:solidFill>
              </a:rPr>
              <a:t>Tingkat risiko, perkiraan Hb, saran, dan surat rujukan PDF.</a:t>
            </a:r>
            <a:endParaRPr lang="en-US" sz="1500" dirty="0"/>
          </a:p>
        </p:txBody>
      </p:sp>
      <p:sp>
        <p:nvSpPr>
          <p:cNvPr id="22" name="Text 17"/>
          <p:cNvSpPr txBox="1"/>
          <p:nvPr/>
        </p:nvSpPr>
        <p:spPr>
          <a:xfrm>
            <a:off x="548640" y="5669280"/>
            <a:ext cx="11094415" cy="320040"/>
          </a:xfrm>
          <a:prstGeom prst="rect">
            <a:avLst/>
          </a:prstGeom>
          <a:noFill/>
          <a:ln/>
        </p:spPr>
        <p:txBody>
          <a:bodyPr wrap="square" lIns="0" tIns="0" rIns="0" bIns="0" rtlCol="0" anchor="t"/>
          <a:lstStyle/>
          <a:p>
            <a:pPr indent="0" marL="0">
              <a:buNone/>
            </a:pPr>
            <a:r>
              <a:rPr lang="en-US" sz="1400" i="1" dirty="0">
                <a:solidFill>
                  <a:schemeClr val="accent4"/>
                </a:solidFill>
              </a:rPr>
              <a:t>Posisi produk: penyaring untuk menentukan siapa yang perlu cek Hb, bukan pengganti tes laboratorium.</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nchor="t"/>
          <a:lstStyle/>
          <a:p>
            <a:pPr indent="0" marL="0">
              <a:buNone/>
            </a:pPr>
            <a:r>
              <a:rPr lang="en-US" sz="1200" b="1" spc="200" kern="0" dirty="0">
                <a:solidFill>
                  <a:schemeClr val="accent3"/>
                </a:solidFill>
              </a:rPr>
              <a:t>DEMO LANGSUNG</a:t>
            </a:r>
            <a:endParaRPr lang="en-US" sz="1200" dirty="0"/>
          </a:p>
        </p:txBody>
      </p:sp>
      <p:sp>
        <p:nvSpPr>
          <p:cNvPr id="3" name="Text 1"/>
          <p:cNvSpPr/>
          <p:nvPr>
            <p:ph idx="102" type="title" hasCustomPrompt="1"/>
          </p:nvPr>
        </p:nvSpPr>
        <p:spPr>
          <a:xfrm>
            <a:off x="548640" y="694944"/>
            <a:ext cx="11094415" cy="731520"/>
          </a:xfrm>
          <a:prstGeom prst="rect">
            <a:avLst/>
          </a:prstGeom>
          <a:noFill/>
          <a:ln/>
        </p:spPr>
        <p:txBody>
          <a:bodyPr wrap="square" lIns="0" tIns="0" rIns="0" bIns="0"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Dari foto ke hasil dalam sekitar satu detik</a:t>
            </a:r>
            <a:endParaRPr lang="en-US" sz="3400" dirty="0"/>
          </a:p>
        </p:txBody>
      </p:sp>
      <p:sp>
        <p:nvSpPr>
          <p:cNvPr id="4" name="Shape 2"/>
          <p:cNvSpPr/>
          <p:nvPr/>
        </p:nvSpPr>
        <p:spPr>
          <a:xfrm>
            <a:off x="9829800" y="384048"/>
            <a:ext cx="1810512" cy="411480"/>
          </a:xfrm>
          <a:prstGeom prst="roundRect">
            <a:avLst>
              <a:gd name="adj" fmla="val 48889"/>
            </a:avLst>
          </a:prstGeom>
          <a:solidFill>
            <a:schemeClr val="accent1"/>
          </a:solidFill>
          <a:ln w="12700">
            <a:solidFill>
              <a:schemeClr val="accent1"/>
            </a:solidFill>
            <a:prstDash val="solid"/>
          </a:ln>
        </p:spPr>
      </p:sp>
      <p:sp>
        <p:nvSpPr>
          <p:cNvPr id="5" name="Text 3"/>
          <p:cNvSpPr txBox="1"/>
          <p:nvPr/>
        </p:nvSpPr>
        <p:spPr>
          <a:xfrm>
            <a:off x="9829800" y="384048"/>
            <a:ext cx="1810512" cy="411480"/>
          </a:xfrm>
          <a:prstGeom prst="rect">
            <a:avLst/>
          </a:prstGeom>
          <a:noFill/>
          <a:ln/>
        </p:spPr>
        <p:txBody>
          <a:bodyPr wrap="square" lIns="0" tIns="0" rIns="0" bIns="0" rtlCol="0" anchor="ctr"/>
          <a:lstStyle/>
          <a:p>
            <a:pPr algn="ctr" indent="0" marL="0">
              <a:buNone/>
            </a:pPr>
            <a:r>
              <a:rPr lang="en-US" sz="1300" b="1" dirty="0">
                <a:solidFill>
                  <a:schemeClr val="bg1"/>
                </a:solidFill>
              </a:rPr>
              <a:t>● LIVE DI HP</a:t>
            </a:r>
            <a:endParaRPr lang="en-US" sz="1300" dirty="0"/>
          </a:p>
        </p:txBody>
      </p:sp>
      <p:sp>
        <p:nvSpPr>
          <p:cNvPr id="6" name="Shape 4"/>
          <p:cNvSpPr/>
          <p:nvPr/>
        </p:nvSpPr>
        <p:spPr>
          <a:xfrm>
            <a:off x="548640" y="1645920"/>
            <a:ext cx="3557016" cy="3794760"/>
          </a:xfrm>
          <a:prstGeom prst="roundRect">
            <a:avLst>
              <a:gd name="adj" fmla="val 3599"/>
            </a:avLst>
          </a:prstGeom>
          <a:solidFill>
            <a:schemeClr val="bg1"/>
          </a:solidFill>
          <a:ln w="12700">
            <a:solidFill>
              <a:schemeClr val="bg1"/>
            </a:solidFill>
            <a:prstDash val="solid"/>
          </a:ln>
        </p:spPr>
      </p:sp>
      <p:pic>
        <p:nvPicPr>
          <p:cNvPr id="7" name="Image 0" descr="/home/claude/anemia/doc/img/web_lingkari.png">    </p:cNvPr>
          <p:cNvPicPr>
            <a:picLocks noChangeAspect="1"/>
          </p:cNvPicPr>
          <p:nvPr/>
        </p:nvPicPr>
        <p:blipFill>
          <a:blip r:embed="rId1"/>
          <a:stretch>
            <a:fillRect/>
          </a:stretch>
        </p:blipFill>
        <p:spPr>
          <a:xfrm>
            <a:off x="685800" y="1949023"/>
            <a:ext cx="3282696" cy="3188554"/>
          </a:xfrm>
          <a:prstGeom prst="rect">
            <a:avLst/>
          </a:prstGeom>
        </p:spPr>
      </p:pic>
      <p:sp>
        <p:nvSpPr>
          <p:cNvPr id="8" name="Text 5"/>
          <p:cNvSpPr txBox="1"/>
          <p:nvPr/>
        </p:nvSpPr>
        <p:spPr>
          <a:xfrm>
            <a:off x="548640" y="5577840"/>
            <a:ext cx="3557016" cy="365760"/>
          </a:xfrm>
          <a:prstGeom prst="rect">
            <a:avLst/>
          </a:prstGeom>
          <a:noFill/>
          <a:ln/>
        </p:spPr>
        <p:txBody>
          <a:bodyPr wrap="square" lIns="0" tIns="0" rIns="0" bIns="0" rtlCol="0" anchor="t"/>
          <a:lstStyle/>
          <a:p>
            <a:pPr indent="0" marL="0">
              <a:buNone/>
            </a:pPr>
            <a:r>
              <a:rPr lang="en-US" sz="1500" dirty="0">
                <a:solidFill>
                  <a:schemeClr val="accent6"/>
                </a:solidFill>
              </a:rPr>
              <a:t>1  Area konjungtiva ditandai otomatis</a:t>
            </a:r>
            <a:endParaRPr lang="en-US" sz="1500" dirty="0"/>
          </a:p>
        </p:txBody>
      </p:sp>
      <p:sp>
        <p:nvSpPr>
          <p:cNvPr id="9" name="Shape 6"/>
          <p:cNvSpPr/>
          <p:nvPr/>
        </p:nvSpPr>
        <p:spPr>
          <a:xfrm>
            <a:off x="4315968" y="1645920"/>
            <a:ext cx="3557016" cy="3794760"/>
          </a:xfrm>
          <a:prstGeom prst="roundRect">
            <a:avLst>
              <a:gd name="adj" fmla="val 3599"/>
            </a:avLst>
          </a:prstGeom>
          <a:solidFill>
            <a:schemeClr val="bg1"/>
          </a:solidFill>
          <a:ln w="12700">
            <a:solidFill>
              <a:schemeClr val="bg1"/>
            </a:solidFill>
            <a:prstDash val="solid"/>
          </a:ln>
        </p:spPr>
      </p:sp>
      <p:pic>
        <p:nvPicPr>
          <p:cNvPr id="10" name="Image 1" descr="/home/claude/anemia/doc/img/web_hasil.png">    </p:cNvPr>
          <p:cNvPicPr>
            <a:picLocks noChangeAspect="1"/>
          </p:cNvPicPr>
          <p:nvPr/>
        </p:nvPicPr>
        <p:blipFill>
          <a:blip r:embed="rId2"/>
          <a:stretch>
            <a:fillRect/>
          </a:stretch>
        </p:blipFill>
        <p:spPr>
          <a:xfrm>
            <a:off x="4742879" y="1783080"/>
            <a:ext cx="2703195" cy="3520440"/>
          </a:xfrm>
          <a:prstGeom prst="rect">
            <a:avLst/>
          </a:prstGeom>
        </p:spPr>
      </p:pic>
      <p:sp>
        <p:nvSpPr>
          <p:cNvPr id="11" name="Text 7"/>
          <p:cNvSpPr txBox="1"/>
          <p:nvPr/>
        </p:nvSpPr>
        <p:spPr>
          <a:xfrm>
            <a:off x="4315968" y="5577840"/>
            <a:ext cx="3557016" cy="365760"/>
          </a:xfrm>
          <a:prstGeom prst="rect">
            <a:avLst/>
          </a:prstGeom>
          <a:noFill/>
          <a:ln/>
        </p:spPr>
        <p:txBody>
          <a:bodyPr wrap="square" lIns="0" tIns="0" rIns="0" bIns="0" rtlCol="0" anchor="t"/>
          <a:lstStyle/>
          <a:p>
            <a:pPr indent="0" marL="0">
              <a:buNone/>
            </a:pPr>
            <a:r>
              <a:rPr lang="en-US" sz="1500" dirty="0">
                <a:solidFill>
                  <a:schemeClr val="accent6"/>
                </a:solidFill>
              </a:rPr>
              <a:t>2  Risiko, perkiraan Hb, dan saran</a:t>
            </a:r>
            <a:endParaRPr lang="en-US" sz="1500" dirty="0"/>
          </a:p>
        </p:txBody>
      </p:sp>
      <p:sp>
        <p:nvSpPr>
          <p:cNvPr id="12" name="Shape 8"/>
          <p:cNvSpPr/>
          <p:nvPr/>
        </p:nvSpPr>
        <p:spPr>
          <a:xfrm>
            <a:off x="8083296" y="1645920"/>
            <a:ext cx="3557016" cy="3794760"/>
          </a:xfrm>
          <a:prstGeom prst="roundRect">
            <a:avLst>
              <a:gd name="adj" fmla="val 3599"/>
            </a:avLst>
          </a:prstGeom>
          <a:solidFill>
            <a:schemeClr val="bg1"/>
          </a:solidFill>
          <a:ln w="12700">
            <a:solidFill>
              <a:schemeClr val="bg1"/>
            </a:solidFill>
            <a:prstDash val="solid"/>
          </a:ln>
        </p:spPr>
      </p:sp>
      <p:pic>
        <p:nvPicPr>
          <p:cNvPr id="13" name="Image 2" descr="/home/claude/anemia/doc/img/web_hp.png">    </p:cNvPr>
          <p:cNvPicPr>
            <a:picLocks noChangeAspect="1"/>
          </p:cNvPicPr>
          <p:nvPr/>
        </p:nvPicPr>
        <p:blipFill>
          <a:blip r:embed="rId3"/>
          <a:stretch>
            <a:fillRect/>
          </a:stretch>
        </p:blipFill>
        <p:spPr>
          <a:xfrm>
            <a:off x="8474751" y="1783080"/>
            <a:ext cx="2774107" cy="3520440"/>
          </a:xfrm>
          <a:prstGeom prst="rect">
            <a:avLst/>
          </a:prstGeom>
        </p:spPr>
      </p:pic>
      <p:sp>
        <p:nvSpPr>
          <p:cNvPr id="14" name="Text 9"/>
          <p:cNvSpPr txBox="1"/>
          <p:nvPr/>
        </p:nvSpPr>
        <p:spPr>
          <a:xfrm>
            <a:off x="8083296" y="5577840"/>
            <a:ext cx="3557016" cy="365760"/>
          </a:xfrm>
          <a:prstGeom prst="rect">
            <a:avLst/>
          </a:prstGeom>
          <a:noFill/>
          <a:ln/>
        </p:spPr>
        <p:txBody>
          <a:bodyPr wrap="square" lIns="0" tIns="0" rIns="0" bIns="0" rtlCol="0" anchor="t"/>
          <a:lstStyle/>
          <a:p>
            <a:pPr indent="0" marL="0">
              <a:buNone/>
            </a:pPr>
            <a:r>
              <a:rPr lang="en-US" sz="1500" dirty="0">
                <a:solidFill>
                  <a:schemeClr val="accent6"/>
                </a:solidFill>
              </a:rPr>
              <a:t>3  Jalan di browser HP, tanpa instal</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nchor="t"/>
          <a:lstStyle/>
          <a:p>
            <a:pPr indent="0" marL="0">
              <a:buNone/>
            </a:pPr>
            <a:r>
              <a:rPr lang="en-US" sz="1200" b="1" spc="200" kern="0" dirty="0">
                <a:solidFill>
                  <a:schemeClr val="accent4"/>
                </a:solidFill>
              </a:rPr>
              <a:t>KENAPA SEKARANG</a:t>
            </a:r>
            <a:endParaRPr lang="en-US" sz="1200" dirty="0"/>
          </a:p>
        </p:txBody>
      </p:sp>
      <p:sp>
        <p:nvSpPr>
          <p:cNvPr id="3" name="Text 1"/>
          <p:cNvSpPr/>
          <p:nvPr>
            <p:ph idx="102" type="title" hasCustomPrompt="1"/>
          </p:nvPr>
        </p:nvSpPr>
        <p:spPr>
          <a:xfrm>
            <a:off x="548640" y="694944"/>
            <a:ext cx="11094415" cy="73152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Empat hal yang membuat waktunya tepat</a:t>
            </a:r>
            <a:endParaRPr lang="en-US" sz="3400" dirty="0"/>
          </a:p>
        </p:txBody>
      </p:sp>
      <p:sp>
        <p:nvSpPr>
          <p:cNvPr id="4" name="Shape 2"/>
          <p:cNvSpPr/>
          <p:nvPr/>
        </p:nvSpPr>
        <p:spPr>
          <a:xfrm>
            <a:off x="548640" y="1691640"/>
            <a:ext cx="5440680" cy="1965960"/>
          </a:xfrm>
          <a:prstGeom prst="roundRect">
            <a:avLst>
              <a:gd name="adj" fmla="val 6512"/>
            </a:avLst>
          </a:prstGeom>
          <a:solidFill>
            <a:schemeClr val="bg2"/>
          </a:solidFill>
          <a:ln w="12700">
            <a:solidFill>
              <a:schemeClr val="bg2"/>
            </a:solidFill>
            <a:prstDash val="solid"/>
          </a:ln>
        </p:spPr>
      </p:sp>
      <p:sp>
        <p:nvSpPr>
          <p:cNvPr id="5" name="Shape 3"/>
          <p:cNvSpPr/>
          <p:nvPr/>
        </p:nvSpPr>
        <p:spPr>
          <a:xfrm>
            <a:off x="868680" y="2011680"/>
            <a:ext cx="731520" cy="731520"/>
          </a:xfrm>
          <a:prstGeom prst="ellipse">
            <a:avLst/>
          </a:prstGeom>
          <a:solidFill>
            <a:schemeClr val="bg1"/>
          </a:solidFill>
          <a:ln w="12700">
            <a:solidFill>
              <a:schemeClr val="bg1"/>
            </a:solidFill>
            <a:prstDash val="solid"/>
          </a:ln>
        </p:spPr>
      </p:sp>
      <p:pic>
        <p:nvPicPr>
          <p:cNvPr id="6" name="Image 0" descr="preencoded.png">    </p:cNvPr>
          <p:cNvPicPr>
            <a:picLocks noChangeAspect="1"/>
          </p:cNvPicPr>
          <p:nvPr/>
        </p:nvPicPr>
        <p:blipFill>
          <a:blip r:embed="rId1"/>
          <a:stretch>
            <a:fillRect/>
          </a:stretch>
        </p:blipFill>
        <p:spPr>
          <a:xfrm>
            <a:off x="1058875" y="2201875"/>
            <a:ext cx="351130" cy="351130"/>
          </a:xfrm>
          <a:prstGeom prst="rect">
            <a:avLst/>
          </a:prstGeom>
        </p:spPr>
      </p:pic>
      <p:sp>
        <p:nvSpPr>
          <p:cNvPr id="7" name="Text 4"/>
          <p:cNvSpPr txBox="1"/>
          <p:nvPr/>
        </p:nvSpPr>
        <p:spPr>
          <a:xfrm>
            <a:off x="1828800" y="2039112"/>
            <a:ext cx="3886200" cy="640080"/>
          </a:xfrm>
          <a:prstGeom prst="rect">
            <a:avLst/>
          </a:prstGeom>
          <a:noFill/>
          <a:ln/>
        </p:spPr>
        <p:txBody>
          <a:bodyPr wrap="square" lIns="0" tIns="0" rIns="0" bIns="0" rtlCol="0" anchor="t"/>
          <a:lstStyle/>
          <a:p>
            <a:pPr indent="0" marL="0">
              <a:buNone/>
            </a:pPr>
            <a:r>
              <a:rPr lang="en-US" sz="1900" b="1" dirty="0">
                <a:solidFill>
                  <a:schemeClr val="tx1"/>
                </a:solidFill>
              </a:rPr>
              <a:t>Program skrining Hb sudah berjalan</a:t>
            </a:r>
            <a:endParaRPr lang="en-US" sz="1900" dirty="0"/>
          </a:p>
        </p:txBody>
      </p:sp>
      <p:sp>
        <p:nvSpPr>
          <p:cNvPr id="8" name="Text 5"/>
          <p:cNvSpPr txBox="1"/>
          <p:nvPr/>
        </p:nvSpPr>
        <p:spPr>
          <a:xfrm>
            <a:off x="1828800" y="2743200"/>
            <a:ext cx="3886200" cy="868680"/>
          </a:xfrm>
          <a:prstGeom prst="rect">
            <a:avLst/>
          </a:prstGeom>
          <a:noFill/>
          <a:ln/>
        </p:spPr>
        <p:txBody>
          <a:bodyPr wrap="square" lIns="0" tIns="0" rIns="0" bIns="0" rtlCol="0" anchor="t"/>
          <a:lstStyle/>
          <a:p>
            <a:pPr indent="0" marL="0">
              <a:buNone/>
            </a:pPr>
            <a:r>
              <a:rPr lang="en-US" sz="1500" dirty="0">
                <a:solidFill>
                  <a:schemeClr val="tx2"/>
                </a:solidFill>
              </a:rPr>
              <a:t>Aksi Bergizi Kemenkes: skrining Hb remaja putri kelas 7 dan 10 bersama puskesmas.</a:t>
            </a:r>
            <a:endParaRPr lang="en-US" sz="1500" dirty="0"/>
          </a:p>
        </p:txBody>
      </p:sp>
      <p:sp>
        <p:nvSpPr>
          <p:cNvPr id="9" name="Shape 6"/>
          <p:cNvSpPr/>
          <p:nvPr/>
        </p:nvSpPr>
        <p:spPr>
          <a:xfrm>
            <a:off x="6199632" y="1691640"/>
            <a:ext cx="5440680" cy="1965960"/>
          </a:xfrm>
          <a:prstGeom prst="roundRect">
            <a:avLst>
              <a:gd name="adj" fmla="val 6512"/>
            </a:avLst>
          </a:prstGeom>
          <a:solidFill>
            <a:schemeClr val="bg2"/>
          </a:solidFill>
          <a:ln w="12700">
            <a:solidFill>
              <a:schemeClr val="bg2"/>
            </a:solidFill>
            <a:prstDash val="solid"/>
          </a:ln>
        </p:spPr>
      </p:sp>
      <p:sp>
        <p:nvSpPr>
          <p:cNvPr id="10" name="Shape 7"/>
          <p:cNvSpPr/>
          <p:nvPr/>
        </p:nvSpPr>
        <p:spPr>
          <a:xfrm>
            <a:off x="6519672" y="2011680"/>
            <a:ext cx="731520" cy="731520"/>
          </a:xfrm>
          <a:prstGeom prst="ellipse">
            <a:avLst/>
          </a:prstGeom>
          <a:solidFill>
            <a:schemeClr val="bg1"/>
          </a:solidFill>
          <a:ln w="12700">
            <a:solidFill>
              <a:schemeClr val="bg1"/>
            </a:solidFill>
            <a:prstDash val="solid"/>
          </a:ln>
        </p:spPr>
      </p:sp>
      <p:pic>
        <p:nvPicPr>
          <p:cNvPr id="11" name="Image 1" descr="preencoded.png">    </p:cNvPr>
          <p:cNvPicPr>
            <a:picLocks noChangeAspect="1"/>
          </p:cNvPicPr>
          <p:nvPr/>
        </p:nvPicPr>
        <p:blipFill>
          <a:blip r:embed="rId2"/>
          <a:stretch>
            <a:fillRect/>
          </a:stretch>
        </p:blipFill>
        <p:spPr>
          <a:xfrm>
            <a:off x="6709867" y="2201875"/>
            <a:ext cx="351130" cy="351130"/>
          </a:xfrm>
          <a:prstGeom prst="rect">
            <a:avLst/>
          </a:prstGeom>
        </p:spPr>
      </p:pic>
      <p:sp>
        <p:nvSpPr>
          <p:cNvPr id="12" name="Text 8"/>
          <p:cNvSpPr txBox="1"/>
          <p:nvPr/>
        </p:nvSpPr>
        <p:spPr>
          <a:xfrm>
            <a:off x="7479792" y="2039112"/>
            <a:ext cx="3886200" cy="640080"/>
          </a:xfrm>
          <a:prstGeom prst="rect">
            <a:avLst/>
          </a:prstGeom>
          <a:noFill/>
          <a:ln/>
        </p:spPr>
        <p:txBody>
          <a:bodyPr wrap="square" lIns="0" tIns="0" rIns="0" bIns="0" rtlCol="0" anchor="t"/>
          <a:lstStyle/>
          <a:p>
            <a:pPr indent="0" marL="0">
              <a:buNone/>
            </a:pPr>
            <a:r>
              <a:rPr lang="en-US" sz="1900" b="1" dirty="0">
                <a:solidFill>
                  <a:schemeClr val="tx1"/>
                </a:solidFill>
              </a:rPr>
              <a:t>Posyandu sedang diperkuat</a:t>
            </a:r>
            <a:endParaRPr lang="en-US" sz="1900" dirty="0"/>
          </a:p>
        </p:txBody>
      </p:sp>
      <p:sp>
        <p:nvSpPr>
          <p:cNvPr id="13" name="Text 9"/>
          <p:cNvSpPr txBox="1"/>
          <p:nvPr/>
        </p:nvSpPr>
        <p:spPr>
          <a:xfrm>
            <a:off x="7479792" y="2743200"/>
            <a:ext cx="3886200" cy="868680"/>
          </a:xfrm>
          <a:prstGeom prst="rect">
            <a:avLst/>
          </a:prstGeom>
          <a:noFill/>
          <a:ln/>
        </p:spPr>
        <p:txBody>
          <a:bodyPr wrap="square" lIns="0" tIns="0" rIns="0" bIns="0" rtlCol="0" anchor="t"/>
          <a:lstStyle/>
          <a:p>
            <a:pPr indent="0" marL="0">
              <a:buNone/>
            </a:pPr>
            <a:r>
              <a:rPr lang="en-US" sz="1500" dirty="0">
                <a:solidFill>
                  <a:schemeClr val="tx2"/>
                </a:solidFill>
              </a:rPr>
              <a:t>Kemenkes melengkapi 303 ribu posyandu dengan alat ukur, tetapi belum ada alat Hb.</a:t>
            </a:r>
            <a:endParaRPr lang="en-US" sz="1500" dirty="0"/>
          </a:p>
        </p:txBody>
      </p:sp>
      <p:sp>
        <p:nvSpPr>
          <p:cNvPr id="14" name="Shape 10"/>
          <p:cNvSpPr/>
          <p:nvPr/>
        </p:nvSpPr>
        <p:spPr>
          <a:xfrm>
            <a:off x="548640" y="3840480"/>
            <a:ext cx="5440680" cy="1965960"/>
          </a:xfrm>
          <a:prstGeom prst="roundRect">
            <a:avLst>
              <a:gd name="adj" fmla="val 6512"/>
            </a:avLst>
          </a:prstGeom>
          <a:solidFill>
            <a:schemeClr val="bg2"/>
          </a:solidFill>
          <a:ln w="12700">
            <a:solidFill>
              <a:schemeClr val="bg2"/>
            </a:solidFill>
            <a:prstDash val="solid"/>
          </a:ln>
        </p:spPr>
      </p:sp>
      <p:sp>
        <p:nvSpPr>
          <p:cNvPr id="15" name="Shape 11"/>
          <p:cNvSpPr/>
          <p:nvPr/>
        </p:nvSpPr>
        <p:spPr>
          <a:xfrm>
            <a:off x="868680" y="4160520"/>
            <a:ext cx="731520" cy="731520"/>
          </a:xfrm>
          <a:prstGeom prst="ellipse">
            <a:avLst/>
          </a:prstGeom>
          <a:solidFill>
            <a:schemeClr val="bg1"/>
          </a:solidFill>
          <a:ln w="12700">
            <a:solidFill>
              <a:schemeClr val="bg1"/>
            </a:solidFill>
            <a:prstDash val="solid"/>
          </a:ln>
        </p:spPr>
      </p:sp>
      <p:pic>
        <p:nvPicPr>
          <p:cNvPr id="16" name="Image 2" descr="preencoded.png">    </p:cNvPr>
          <p:cNvPicPr>
            <a:picLocks noChangeAspect="1"/>
          </p:cNvPicPr>
          <p:nvPr/>
        </p:nvPicPr>
        <p:blipFill>
          <a:blip r:embed="rId3"/>
          <a:stretch>
            <a:fillRect/>
          </a:stretch>
        </p:blipFill>
        <p:spPr>
          <a:xfrm>
            <a:off x="1058875" y="4350715"/>
            <a:ext cx="351130" cy="351130"/>
          </a:xfrm>
          <a:prstGeom prst="rect">
            <a:avLst/>
          </a:prstGeom>
        </p:spPr>
      </p:pic>
      <p:sp>
        <p:nvSpPr>
          <p:cNvPr id="17" name="Text 12"/>
          <p:cNvSpPr txBox="1"/>
          <p:nvPr/>
        </p:nvSpPr>
        <p:spPr>
          <a:xfrm>
            <a:off x="1828800" y="4187952"/>
            <a:ext cx="3886200" cy="640080"/>
          </a:xfrm>
          <a:prstGeom prst="rect">
            <a:avLst/>
          </a:prstGeom>
          <a:noFill/>
          <a:ln/>
        </p:spPr>
        <p:txBody>
          <a:bodyPr wrap="square" lIns="0" tIns="0" rIns="0" bIns="0" rtlCol="0" anchor="t"/>
          <a:lstStyle/>
          <a:p>
            <a:pPr indent="0" marL="0">
              <a:buNone/>
            </a:pPr>
            <a:r>
              <a:rPr lang="en-US" sz="1900" b="1" dirty="0">
                <a:solidFill>
                  <a:schemeClr val="tx1"/>
                </a:solidFill>
              </a:rPr>
              <a:t>Jalur regulasi AI medis kini jelas</a:t>
            </a:r>
            <a:endParaRPr lang="en-US" sz="1900" dirty="0"/>
          </a:p>
        </p:txBody>
      </p:sp>
      <p:sp>
        <p:nvSpPr>
          <p:cNvPr id="18" name="Text 13"/>
          <p:cNvSpPr txBox="1"/>
          <p:nvPr/>
        </p:nvSpPr>
        <p:spPr>
          <a:xfrm>
            <a:off x="1828800" y="4892040"/>
            <a:ext cx="3886200" cy="868680"/>
          </a:xfrm>
          <a:prstGeom prst="rect">
            <a:avLst/>
          </a:prstGeom>
          <a:noFill/>
          <a:ln/>
        </p:spPr>
        <p:txBody>
          <a:bodyPr wrap="square" lIns="0" tIns="0" rIns="0" bIns="0" rtlCol="0" anchor="t"/>
          <a:lstStyle/>
          <a:p>
            <a:pPr indent="0" marL="0">
              <a:buNone/>
            </a:pPr>
            <a:r>
              <a:rPr lang="en-US" sz="1500" dirty="0">
                <a:solidFill>
                  <a:schemeClr val="tx2"/>
                </a:solidFill>
              </a:rPr>
              <a:t>KMK 951/2026: pedoman izin edar alat kesehatan berbasis perangkat lunak.</a:t>
            </a:r>
            <a:endParaRPr lang="en-US" sz="1500" dirty="0"/>
          </a:p>
        </p:txBody>
      </p:sp>
      <p:sp>
        <p:nvSpPr>
          <p:cNvPr id="19" name="Shape 14"/>
          <p:cNvSpPr/>
          <p:nvPr/>
        </p:nvSpPr>
        <p:spPr>
          <a:xfrm>
            <a:off x="6199632" y="3840480"/>
            <a:ext cx="5440680" cy="1965960"/>
          </a:xfrm>
          <a:prstGeom prst="roundRect">
            <a:avLst>
              <a:gd name="adj" fmla="val 6512"/>
            </a:avLst>
          </a:prstGeom>
          <a:solidFill>
            <a:schemeClr val="bg2"/>
          </a:solidFill>
          <a:ln w="12700">
            <a:solidFill>
              <a:schemeClr val="bg2"/>
            </a:solidFill>
            <a:prstDash val="solid"/>
          </a:ln>
        </p:spPr>
      </p:sp>
      <p:sp>
        <p:nvSpPr>
          <p:cNvPr id="20" name="Shape 15"/>
          <p:cNvSpPr/>
          <p:nvPr/>
        </p:nvSpPr>
        <p:spPr>
          <a:xfrm>
            <a:off x="6519672" y="4160520"/>
            <a:ext cx="731520" cy="731520"/>
          </a:xfrm>
          <a:prstGeom prst="ellipse">
            <a:avLst/>
          </a:prstGeom>
          <a:solidFill>
            <a:schemeClr val="bg1"/>
          </a:solidFill>
          <a:ln w="12700">
            <a:solidFill>
              <a:schemeClr val="bg1"/>
            </a:solidFill>
            <a:prstDash val="solid"/>
          </a:ln>
        </p:spPr>
      </p:sp>
      <p:pic>
        <p:nvPicPr>
          <p:cNvPr id="21" name="Image 3" descr="preencoded.png">    </p:cNvPr>
          <p:cNvPicPr>
            <a:picLocks noChangeAspect="1"/>
          </p:cNvPicPr>
          <p:nvPr/>
        </p:nvPicPr>
        <p:blipFill>
          <a:blip r:embed="rId4"/>
          <a:stretch>
            <a:fillRect/>
          </a:stretch>
        </p:blipFill>
        <p:spPr>
          <a:xfrm>
            <a:off x="6709867" y="4350715"/>
            <a:ext cx="351130" cy="351130"/>
          </a:xfrm>
          <a:prstGeom prst="rect">
            <a:avLst/>
          </a:prstGeom>
        </p:spPr>
      </p:pic>
      <p:sp>
        <p:nvSpPr>
          <p:cNvPr id="22" name="Text 16"/>
          <p:cNvSpPr txBox="1"/>
          <p:nvPr/>
        </p:nvSpPr>
        <p:spPr>
          <a:xfrm>
            <a:off x="7479792" y="4187952"/>
            <a:ext cx="3886200" cy="640080"/>
          </a:xfrm>
          <a:prstGeom prst="rect">
            <a:avLst/>
          </a:prstGeom>
          <a:noFill/>
          <a:ln/>
        </p:spPr>
        <p:txBody>
          <a:bodyPr wrap="square" lIns="0" tIns="0" rIns="0" bIns="0" rtlCol="0" anchor="t"/>
          <a:lstStyle/>
          <a:p>
            <a:pPr indent="0" marL="0">
              <a:buNone/>
            </a:pPr>
            <a:r>
              <a:rPr lang="en-US" sz="1900" b="1" dirty="0">
                <a:solidFill>
                  <a:schemeClr val="tx1"/>
                </a:solidFill>
              </a:rPr>
              <a:t>AI cukup ringan untuk CPU biasa</a:t>
            </a:r>
            <a:endParaRPr lang="en-US" sz="1900" dirty="0"/>
          </a:p>
        </p:txBody>
      </p:sp>
      <p:sp>
        <p:nvSpPr>
          <p:cNvPr id="23" name="Text 17"/>
          <p:cNvSpPr txBox="1"/>
          <p:nvPr/>
        </p:nvSpPr>
        <p:spPr>
          <a:xfrm>
            <a:off x="7479792" y="4892040"/>
            <a:ext cx="3886200" cy="868680"/>
          </a:xfrm>
          <a:prstGeom prst="rect">
            <a:avLst/>
          </a:prstGeom>
          <a:noFill/>
          <a:ln/>
        </p:spPr>
        <p:txBody>
          <a:bodyPr wrap="square" lIns="0" tIns="0" rIns="0" bIns="0" rtlCol="0" anchor="t"/>
          <a:lstStyle/>
          <a:p>
            <a:pPr indent="0" marL="0">
              <a:buNone/>
            </a:pPr>
            <a:r>
              <a:rPr lang="en-US" sz="1500" dirty="0">
                <a:solidFill>
                  <a:schemeClr val="tx2"/>
                </a:solidFill>
              </a:rPr>
              <a:t>Model kami memproses satu foto 0,2–1 detik tanpa GPU.</a:t>
            </a:r>
            <a:endParaRPr lang="en-US" sz="1500" dirty="0"/>
          </a:p>
        </p:txBody>
      </p:sp>
      <p:sp>
        <p:nvSpPr>
          <p:cNvPr id="24" name="Text 18"/>
          <p:cNvSpPr txBox="1"/>
          <p:nvPr/>
        </p:nvSpPr>
        <p:spPr>
          <a:xfrm>
            <a:off x="548640" y="6053328"/>
            <a:ext cx="11094415" cy="256032"/>
          </a:xfrm>
          <a:prstGeom prst="rect">
            <a:avLst/>
          </a:prstGeom>
          <a:noFill/>
          <a:ln/>
        </p:spPr>
        <p:txBody>
          <a:bodyPr wrap="square" lIns="0" tIns="0" rIns="0" bIns="0" rtlCol="0" anchor="t"/>
          <a:lstStyle/>
          <a:p>
            <a:pPr indent="0" marL="0">
              <a:buNone/>
            </a:pPr>
            <a:r>
              <a:rPr lang="en-US" sz="1000" i="1" dirty="0">
                <a:solidFill>
                  <a:schemeClr val="tx2"/>
                </a:solidFill>
              </a:rPr>
              <a:t>Sumber: Kemenkes, Aksi Bergizi (10 Okt 2022); Kemenkes (23 Des 2022); Kepmenkes HK.01.07/MENKES/951/2026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nchor="t"/>
          <a:lstStyle/>
          <a:p>
            <a:pPr indent="0" marL="0">
              <a:buNone/>
            </a:pPr>
            <a:r>
              <a:rPr lang="en-US" sz="1200" b="1" spc="200" kern="0" dirty="0">
                <a:solidFill>
                  <a:schemeClr val="accent4"/>
                </a:solidFill>
              </a:rPr>
              <a:t>CARA KERJA</a:t>
            </a:r>
            <a:endParaRPr lang="en-US" sz="1200" dirty="0"/>
          </a:p>
        </p:txBody>
      </p:sp>
      <p:sp>
        <p:nvSpPr>
          <p:cNvPr id="3" name="Text 1"/>
          <p:cNvSpPr/>
          <p:nvPr>
            <p:ph idx="102" type="title" hasCustomPrompt="1"/>
          </p:nvPr>
        </p:nvSpPr>
        <p:spPr>
          <a:xfrm>
            <a:off x="548640" y="694944"/>
            <a:ext cx="11094415" cy="73152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AI dua tahap yang bisa dijelaskan</a:t>
            </a:r>
            <a:endParaRPr lang="en-US" sz="3400" dirty="0"/>
          </a:p>
        </p:txBody>
      </p:sp>
      <p:sp>
        <p:nvSpPr>
          <p:cNvPr id="4" name="Shape 2"/>
          <p:cNvSpPr/>
          <p:nvPr/>
        </p:nvSpPr>
        <p:spPr>
          <a:xfrm>
            <a:off x="548640" y="1645920"/>
            <a:ext cx="11094415" cy="3611880"/>
          </a:xfrm>
          <a:prstGeom prst="roundRect">
            <a:avLst>
              <a:gd name="adj" fmla="val 3544"/>
            </a:avLst>
          </a:prstGeom>
          <a:solidFill>
            <a:schemeClr val="bg1"/>
          </a:solidFill>
          <a:ln w="12700">
            <a:solidFill>
              <a:schemeClr val="bg1"/>
            </a:solidFill>
            <a:prstDash val="solid"/>
          </a:ln>
          <a:effectLst>
            <a:outerShdw sx="100000" sy="100000" kx="0" ky="0" algn="bl" rotWithShape="0" blurRad="127000" dist="38100" dir="5400000">
              <a:srgbClr val="1F1A2E">
                <a:alpha val="10000"/>
              </a:srgbClr>
            </a:outerShdw>
          </a:effectLst>
        </p:spPr>
      </p:sp>
      <p:pic>
        <p:nvPicPr>
          <p:cNvPr id="5" name="Image 0" descr="/home/claude/anemia/doc/img/pipeline_v2.png">    </p:cNvPr>
          <p:cNvPicPr>
            <a:picLocks noChangeAspect="1"/>
          </p:cNvPicPr>
          <p:nvPr/>
        </p:nvPicPr>
        <p:blipFill>
          <a:blip r:embed="rId1"/>
          <a:stretch>
            <a:fillRect/>
          </a:stretch>
        </p:blipFill>
        <p:spPr>
          <a:xfrm>
            <a:off x="900393" y="1737360"/>
            <a:ext cx="10390909" cy="3429000"/>
          </a:xfrm>
          <a:prstGeom prst="rect">
            <a:avLst/>
          </a:prstGeom>
        </p:spPr>
      </p:pic>
      <p:sp>
        <p:nvSpPr>
          <p:cNvPr id="6" name="Text 3"/>
          <p:cNvSpPr txBox="1"/>
          <p:nvPr/>
        </p:nvSpPr>
        <p:spPr>
          <a:xfrm>
            <a:off x="548640" y="5440680"/>
            <a:ext cx="3520440" cy="685800"/>
          </a:xfrm>
          <a:prstGeom prst="rect">
            <a:avLst/>
          </a:prstGeom>
          <a:noFill/>
          <a:ln/>
        </p:spPr>
        <p:txBody>
          <a:bodyPr wrap="square" lIns="0" tIns="0" rIns="0" bIns="0" rtlCol="0" anchor="t"/>
          <a:lstStyle/>
          <a:p>
            <a:pPr indent="0" marL="0">
              <a:buNone/>
            </a:pPr>
            <a:r>
              <a:rPr lang="en-US" sz="1400" b="1" dirty="0">
                <a:solidFill>
                  <a:schemeClr val="tx1"/>
                </a:solidFill>
              </a:rPr>
              <a:t>Segmentasi U-Net </a:t>
            </a:r>
            <a:pPr indent="0" marL="0">
              <a:buNone/>
            </a:pPr>
            <a:r>
              <a:rPr lang="en-US" sz="1400" dirty="0">
                <a:solidFill>
                  <a:schemeClr val="tx2"/>
                </a:solidFill>
              </a:rPr>
              <a:t>memisahkan konjungtiva dari kulit, bulu mata, dan bola mata.</a:t>
            </a:r>
            <a:endParaRPr lang="en-US" sz="1400" dirty="0"/>
          </a:p>
        </p:txBody>
      </p:sp>
      <p:sp>
        <p:nvSpPr>
          <p:cNvPr id="7" name="Text 4"/>
          <p:cNvSpPr txBox="1"/>
          <p:nvPr/>
        </p:nvSpPr>
        <p:spPr>
          <a:xfrm>
            <a:off x="4315968" y="5440680"/>
            <a:ext cx="3520440" cy="685800"/>
          </a:xfrm>
          <a:prstGeom prst="rect">
            <a:avLst/>
          </a:prstGeom>
          <a:noFill/>
          <a:ln/>
        </p:spPr>
        <p:txBody>
          <a:bodyPr wrap="square" lIns="0" tIns="0" rIns="0" bIns="0" rtlCol="0" anchor="t"/>
          <a:lstStyle/>
          <a:p>
            <a:pPr indent="0" marL="0">
              <a:buNone/>
            </a:pPr>
            <a:r>
              <a:rPr lang="en-US" sz="1400" b="1" dirty="0">
                <a:solidFill>
                  <a:schemeClr val="tx1"/>
                </a:solidFill>
              </a:rPr>
              <a:t>Penjaga kualitas </a:t>
            </a:r>
            <a:pPr indent="0" marL="0">
              <a:buNone/>
            </a:pPr>
            <a:r>
              <a:rPr lang="en-US" sz="1400" dirty="0">
                <a:solidFill>
                  <a:schemeClr val="tx2"/>
                </a:solidFill>
              </a:rPr>
              <a:t>menolak foto buram, gelap, atau salah area dengan saran perbaikan.</a:t>
            </a:r>
            <a:endParaRPr lang="en-US" sz="1400" dirty="0"/>
          </a:p>
        </p:txBody>
      </p:sp>
      <p:sp>
        <p:nvSpPr>
          <p:cNvPr id="8" name="Text 5"/>
          <p:cNvSpPr txBox="1"/>
          <p:nvPr/>
        </p:nvSpPr>
        <p:spPr>
          <a:xfrm>
            <a:off x="8083296" y="5440680"/>
            <a:ext cx="3520440" cy="685800"/>
          </a:xfrm>
          <a:prstGeom prst="rect">
            <a:avLst/>
          </a:prstGeom>
          <a:noFill/>
          <a:ln/>
        </p:spPr>
        <p:txBody>
          <a:bodyPr wrap="square" lIns="0" tIns="0" rIns="0" bIns="0" rtlCol="0" anchor="t"/>
          <a:lstStyle/>
          <a:p>
            <a:pPr indent="0" marL="0">
              <a:buNone/>
            </a:pPr>
            <a:r>
              <a:rPr lang="en-US" sz="1400" b="1" dirty="0">
                <a:solidFill>
                  <a:schemeClr val="tx1"/>
                </a:solidFill>
              </a:rPr>
              <a:t>Ensemble 3 model </a:t>
            </a:r>
            <a:pPr indent="0" marL="0">
              <a:buNone/>
            </a:pPr>
            <a:r>
              <a:rPr lang="en-US" sz="1400" dirty="0">
                <a:solidFill>
                  <a:schemeClr val="tx2"/>
                </a:solidFill>
              </a:rPr>
              <a:t>memberi skor risiko dan perkiraan Hb dengan ambang WHO.</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nchor="t"/>
          <a:lstStyle/>
          <a:p>
            <a:pPr indent="0" marL="0">
              <a:buNone/>
            </a:pPr>
            <a:r>
              <a:rPr lang="en-US" sz="1200" b="1" spc="200" kern="0" dirty="0">
                <a:solidFill>
                  <a:schemeClr val="accent4"/>
                </a:solidFill>
              </a:rPr>
              <a:t>INOVASI</a:t>
            </a:r>
            <a:endParaRPr lang="en-US" sz="1200" dirty="0"/>
          </a:p>
        </p:txBody>
      </p:sp>
      <p:sp>
        <p:nvSpPr>
          <p:cNvPr id="3" name="Text 1"/>
          <p:cNvSpPr/>
          <p:nvPr>
            <p:ph idx="102" type="title" hasCustomPrompt="1"/>
          </p:nvPr>
        </p:nvSpPr>
        <p:spPr>
          <a:xfrm>
            <a:off x="548640" y="694944"/>
            <a:ext cx="11094415" cy="73152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Lima hal yang membuat AnemiaLens berbeda</a:t>
            </a:r>
            <a:endParaRPr lang="en-US" sz="3400" dirty="0"/>
          </a:p>
        </p:txBody>
      </p:sp>
      <p:sp>
        <p:nvSpPr>
          <p:cNvPr id="4" name="Shape 2"/>
          <p:cNvSpPr/>
          <p:nvPr/>
        </p:nvSpPr>
        <p:spPr>
          <a:xfrm>
            <a:off x="548640" y="1691640"/>
            <a:ext cx="3557016" cy="2103120"/>
          </a:xfrm>
          <a:prstGeom prst="roundRect">
            <a:avLst>
              <a:gd name="adj" fmla="val 6087"/>
            </a:avLst>
          </a:prstGeom>
          <a:solidFill>
            <a:schemeClr val="bg2"/>
          </a:solidFill>
          <a:ln w="12700">
            <a:solidFill>
              <a:schemeClr val="bg2"/>
            </a:solidFill>
            <a:prstDash val="solid"/>
          </a:ln>
        </p:spPr>
      </p:sp>
      <p:sp>
        <p:nvSpPr>
          <p:cNvPr id="5" name="Shape 3"/>
          <p:cNvSpPr/>
          <p:nvPr/>
        </p:nvSpPr>
        <p:spPr>
          <a:xfrm>
            <a:off x="822960" y="1965960"/>
            <a:ext cx="594360" cy="594360"/>
          </a:xfrm>
          <a:prstGeom prst="ellipse">
            <a:avLst/>
          </a:prstGeom>
          <a:solidFill>
            <a:schemeClr val="bg1"/>
          </a:solidFill>
          <a:ln w="12700">
            <a:solidFill>
              <a:schemeClr val="bg1"/>
            </a:solidFill>
            <a:prstDash val="solid"/>
          </a:ln>
        </p:spPr>
      </p:sp>
      <p:pic>
        <p:nvPicPr>
          <p:cNvPr id="6" name="Image 0" descr="preencoded.png">    </p:cNvPr>
          <p:cNvPicPr>
            <a:picLocks noChangeAspect="1"/>
          </p:cNvPicPr>
          <p:nvPr/>
        </p:nvPicPr>
        <p:blipFill>
          <a:blip r:embed="rId1"/>
          <a:stretch>
            <a:fillRect/>
          </a:stretch>
        </p:blipFill>
        <p:spPr>
          <a:xfrm>
            <a:off x="977494" y="2120494"/>
            <a:ext cx="285293" cy="285293"/>
          </a:xfrm>
          <a:prstGeom prst="rect">
            <a:avLst/>
          </a:prstGeom>
        </p:spPr>
      </p:pic>
      <p:sp>
        <p:nvSpPr>
          <p:cNvPr id="7" name="Text 4"/>
          <p:cNvSpPr txBox="1"/>
          <p:nvPr/>
        </p:nvSpPr>
        <p:spPr>
          <a:xfrm>
            <a:off x="1554480" y="2039112"/>
            <a:ext cx="2377440" cy="457200"/>
          </a:xfrm>
          <a:prstGeom prst="rect">
            <a:avLst/>
          </a:prstGeom>
          <a:noFill/>
          <a:ln/>
        </p:spPr>
        <p:txBody>
          <a:bodyPr wrap="square" lIns="0" tIns="0" rIns="0" bIns="0" rtlCol="0" anchor="ctr"/>
          <a:lstStyle/>
          <a:p>
            <a:pPr indent="0" marL="0">
              <a:buNone/>
            </a:pPr>
            <a:r>
              <a:rPr lang="en-US" sz="1800" b="1" dirty="0">
                <a:solidFill>
                  <a:schemeClr val="tx1"/>
                </a:solidFill>
              </a:rPr>
              <a:t>AI yang bisa dijelaskan</a:t>
            </a:r>
            <a:endParaRPr lang="en-US" sz="1800" dirty="0"/>
          </a:p>
        </p:txBody>
      </p:sp>
      <p:sp>
        <p:nvSpPr>
          <p:cNvPr id="8" name="Text 5"/>
          <p:cNvSpPr txBox="1"/>
          <p:nvPr/>
        </p:nvSpPr>
        <p:spPr>
          <a:xfrm>
            <a:off x="822960" y="2743200"/>
            <a:ext cx="3017520" cy="914400"/>
          </a:xfrm>
          <a:prstGeom prst="rect">
            <a:avLst/>
          </a:prstGeom>
          <a:noFill/>
          <a:ln/>
        </p:spPr>
        <p:txBody>
          <a:bodyPr wrap="square" lIns="0" tIns="0" rIns="0" bIns="0" rtlCol="0" anchor="t"/>
          <a:lstStyle/>
          <a:p>
            <a:pPr indent="0" marL="0">
              <a:buNone/>
            </a:pPr>
            <a:r>
              <a:rPr lang="en-US" sz="1400" dirty="0">
                <a:solidFill>
                  <a:schemeClr val="tx2"/>
                </a:solidFill>
              </a:rPr>
              <a:t>Area yang dinilai dan suara tiap model selalu ditampilkan.</a:t>
            </a:r>
            <a:endParaRPr lang="en-US" sz="1400" dirty="0"/>
          </a:p>
        </p:txBody>
      </p:sp>
      <p:sp>
        <p:nvSpPr>
          <p:cNvPr id="9" name="Shape 6"/>
          <p:cNvSpPr/>
          <p:nvPr/>
        </p:nvSpPr>
        <p:spPr>
          <a:xfrm>
            <a:off x="4315968" y="1691640"/>
            <a:ext cx="3557016" cy="2103120"/>
          </a:xfrm>
          <a:prstGeom prst="roundRect">
            <a:avLst>
              <a:gd name="adj" fmla="val 6087"/>
            </a:avLst>
          </a:prstGeom>
          <a:solidFill>
            <a:schemeClr val="bg2"/>
          </a:solidFill>
          <a:ln w="12700">
            <a:solidFill>
              <a:schemeClr val="bg2"/>
            </a:solidFill>
            <a:prstDash val="solid"/>
          </a:ln>
        </p:spPr>
      </p:sp>
      <p:sp>
        <p:nvSpPr>
          <p:cNvPr id="10" name="Shape 7"/>
          <p:cNvSpPr/>
          <p:nvPr/>
        </p:nvSpPr>
        <p:spPr>
          <a:xfrm>
            <a:off x="4590288" y="1965960"/>
            <a:ext cx="594360" cy="594360"/>
          </a:xfrm>
          <a:prstGeom prst="ellipse">
            <a:avLst/>
          </a:prstGeom>
          <a:solidFill>
            <a:schemeClr val="bg1"/>
          </a:solidFill>
          <a:ln w="12700">
            <a:solidFill>
              <a:schemeClr val="bg1"/>
            </a:solidFill>
            <a:prstDash val="solid"/>
          </a:ln>
        </p:spPr>
      </p:sp>
      <p:pic>
        <p:nvPicPr>
          <p:cNvPr id="11" name="Image 1" descr="preencoded.png">    </p:cNvPr>
          <p:cNvPicPr>
            <a:picLocks noChangeAspect="1"/>
          </p:cNvPicPr>
          <p:nvPr/>
        </p:nvPicPr>
        <p:blipFill>
          <a:blip r:embed="rId2"/>
          <a:stretch>
            <a:fillRect/>
          </a:stretch>
        </p:blipFill>
        <p:spPr>
          <a:xfrm>
            <a:off x="4744822" y="2120494"/>
            <a:ext cx="285293" cy="285293"/>
          </a:xfrm>
          <a:prstGeom prst="rect">
            <a:avLst/>
          </a:prstGeom>
        </p:spPr>
      </p:pic>
      <p:sp>
        <p:nvSpPr>
          <p:cNvPr id="12" name="Text 8"/>
          <p:cNvSpPr txBox="1"/>
          <p:nvPr/>
        </p:nvSpPr>
        <p:spPr>
          <a:xfrm>
            <a:off x="5321808" y="2039112"/>
            <a:ext cx="2377440" cy="457200"/>
          </a:xfrm>
          <a:prstGeom prst="rect">
            <a:avLst/>
          </a:prstGeom>
          <a:noFill/>
          <a:ln/>
        </p:spPr>
        <p:txBody>
          <a:bodyPr wrap="square" lIns="0" tIns="0" rIns="0" bIns="0" rtlCol="0" anchor="ctr"/>
          <a:lstStyle/>
          <a:p>
            <a:pPr indent="0" marL="0">
              <a:buNone/>
            </a:pPr>
            <a:r>
              <a:rPr lang="en-US" sz="1800" b="1" dirty="0">
                <a:solidFill>
                  <a:schemeClr val="tx1"/>
                </a:solidFill>
              </a:rPr>
              <a:t>Tahan foto HP</a:t>
            </a:r>
            <a:endParaRPr lang="en-US" sz="1800" dirty="0"/>
          </a:p>
        </p:txBody>
      </p:sp>
      <p:sp>
        <p:nvSpPr>
          <p:cNvPr id="13" name="Text 9"/>
          <p:cNvSpPr txBox="1"/>
          <p:nvPr/>
        </p:nvSpPr>
        <p:spPr>
          <a:xfrm>
            <a:off x="4590288" y="2743200"/>
            <a:ext cx="3017520" cy="914400"/>
          </a:xfrm>
          <a:prstGeom prst="rect">
            <a:avLst/>
          </a:prstGeom>
          <a:noFill/>
          <a:ln/>
        </p:spPr>
        <p:txBody>
          <a:bodyPr wrap="square" lIns="0" tIns="0" rIns="0" bIns="0" rtlCol="0" anchor="t"/>
          <a:lstStyle/>
          <a:p>
            <a:pPr indent="0" marL="0">
              <a:buNone/>
            </a:pPr>
            <a:r>
              <a:rPr lang="en-US" sz="1400" dirty="0">
                <a:solidFill>
                  <a:schemeClr val="tx2"/>
                </a:solidFill>
              </a:rPr>
              <a:t>Segmentasi dilatih ulang dengan simulasi foto HP dan konjungtiva pucat.</a:t>
            </a:r>
            <a:endParaRPr lang="en-US" sz="1400" dirty="0"/>
          </a:p>
        </p:txBody>
      </p:sp>
      <p:sp>
        <p:nvSpPr>
          <p:cNvPr id="14" name="Shape 10"/>
          <p:cNvSpPr/>
          <p:nvPr/>
        </p:nvSpPr>
        <p:spPr>
          <a:xfrm>
            <a:off x="8083296" y="1691640"/>
            <a:ext cx="3557016" cy="2103120"/>
          </a:xfrm>
          <a:prstGeom prst="roundRect">
            <a:avLst>
              <a:gd name="adj" fmla="val 6087"/>
            </a:avLst>
          </a:prstGeom>
          <a:solidFill>
            <a:schemeClr val="bg2"/>
          </a:solidFill>
          <a:ln w="12700">
            <a:solidFill>
              <a:schemeClr val="bg2"/>
            </a:solidFill>
            <a:prstDash val="solid"/>
          </a:ln>
        </p:spPr>
      </p:sp>
      <p:sp>
        <p:nvSpPr>
          <p:cNvPr id="15" name="Shape 11"/>
          <p:cNvSpPr/>
          <p:nvPr/>
        </p:nvSpPr>
        <p:spPr>
          <a:xfrm>
            <a:off x="8357616" y="1965960"/>
            <a:ext cx="594360" cy="594360"/>
          </a:xfrm>
          <a:prstGeom prst="ellipse">
            <a:avLst/>
          </a:prstGeom>
          <a:solidFill>
            <a:schemeClr val="bg1"/>
          </a:solidFill>
          <a:ln w="12700">
            <a:solidFill>
              <a:schemeClr val="bg1"/>
            </a:solidFill>
            <a:prstDash val="solid"/>
          </a:ln>
        </p:spPr>
      </p:sp>
      <p:pic>
        <p:nvPicPr>
          <p:cNvPr id="16" name="Image 2" descr="preencoded.png">    </p:cNvPr>
          <p:cNvPicPr>
            <a:picLocks noChangeAspect="1"/>
          </p:cNvPicPr>
          <p:nvPr/>
        </p:nvPicPr>
        <p:blipFill>
          <a:blip r:embed="rId3"/>
          <a:stretch>
            <a:fillRect/>
          </a:stretch>
        </p:blipFill>
        <p:spPr>
          <a:xfrm>
            <a:off x="8512150" y="2120494"/>
            <a:ext cx="285293" cy="285293"/>
          </a:xfrm>
          <a:prstGeom prst="rect">
            <a:avLst/>
          </a:prstGeom>
        </p:spPr>
      </p:pic>
      <p:sp>
        <p:nvSpPr>
          <p:cNvPr id="17" name="Text 12"/>
          <p:cNvSpPr txBox="1"/>
          <p:nvPr/>
        </p:nvSpPr>
        <p:spPr>
          <a:xfrm>
            <a:off x="9089136" y="2039112"/>
            <a:ext cx="2377440" cy="457200"/>
          </a:xfrm>
          <a:prstGeom prst="rect">
            <a:avLst/>
          </a:prstGeom>
          <a:noFill/>
          <a:ln/>
        </p:spPr>
        <p:txBody>
          <a:bodyPr wrap="square" lIns="0" tIns="0" rIns="0" bIns="0" rtlCol="0" anchor="ctr"/>
          <a:lstStyle/>
          <a:p>
            <a:pPr indent="0" marL="0">
              <a:buNone/>
            </a:pPr>
            <a:r>
              <a:rPr lang="en-US" sz="1800" b="1" dirty="0">
                <a:solidFill>
                  <a:schemeClr val="tx1"/>
                </a:solidFill>
              </a:rPr>
              <a:t>Berani menolak</a:t>
            </a:r>
            <a:endParaRPr lang="en-US" sz="1800" dirty="0"/>
          </a:p>
        </p:txBody>
      </p:sp>
      <p:sp>
        <p:nvSpPr>
          <p:cNvPr id="18" name="Text 13"/>
          <p:cNvSpPr txBox="1"/>
          <p:nvPr/>
        </p:nvSpPr>
        <p:spPr>
          <a:xfrm>
            <a:off x="8357616" y="2743200"/>
            <a:ext cx="3017520" cy="914400"/>
          </a:xfrm>
          <a:prstGeom prst="rect">
            <a:avLst/>
          </a:prstGeom>
          <a:noFill/>
          <a:ln/>
        </p:spPr>
        <p:txBody>
          <a:bodyPr wrap="square" lIns="0" tIns="0" rIns="0" bIns="0" rtlCol="0" anchor="t"/>
          <a:lstStyle/>
          <a:p>
            <a:pPr indent="0" marL="0">
              <a:buNone/>
            </a:pPr>
            <a:r>
              <a:rPr lang="en-US" sz="1400" dirty="0">
                <a:solidFill>
                  <a:schemeClr val="tx2"/>
                </a:solidFill>
              </a:rPr>
              <a:t>Foto buram atau salah area ditolak, disertai saran perbaikan.</a:t>
            </a:r>
            <a:endParaRPr lang="en-US" sz="1400" dirty="0"/>
          </a:p>
        </p:txBody>
      </p:sp>
      <p:sp>
        <p:nvSpPr>
          <p:cNvPr id="19" name="Shape 14"/>
          <p:cNvSpPr/>
          <p:nvPr/>
        </p:nvSpPr>
        <p:spPr>
          <a:xfrm>
            <a:off x="548640" y="4023360"/>
            <a:ext cx="3557016" cy="2103120"/>
          </a:xfrm>
          <a:prstGeom prst="roundRect">
            <a:avLst>
              <a:gd name="adj" fmla="val 6087"/>
            </a:avLst>
          </a:prstGeom>
          <a:solidFill>
            <a:schemeClr val="bg2"/>
          </a:solidFill>
          <a:ln w="12700">
            <a:solidFill>
              <a:schemeClr val="bg2"/>
            </a:solidFill>
            <a:prstDash val="solid"/>
          </a:ln>
        </p:spPr>
      </p:sp>
      <p:sp>
        <p:nvSpPr>
          <p:cNvPr id="20" name="Shape 15"/>
          <p:cNvSpPr/>
          <p:nvPr/>
        </p:nvSpPr>
        <p:spPr>
          <a:xfrm>
            <a:off x="822960" y="4297680"/>
            <a:ext cx="594360" cy="594360"/>
          </a:xfrm>
          <a:prstGeom prst="ellipse">
            <a:avLst/>
          </a:prstGeom>
          <a:solidFill>
            <a:schemeClr val="bg1"/>
          </a:solidFill>
          <a:ln w="12700">
            <a:solidFill>
              <a:schemeClr val="bg1"/>
            </a:solidFill>
            <a:prstDash val="solid"/>
          </a:ln>
        </p:spPr>
      </p:sp>
      <p:pic>
        <p:nvPicPr>
          <p:cNvPr id="21" name="Image 3" descr="preencoded.png">    </p:cNvPr>
          <p:cNvPicPr>
            <a:picLocks noChangeAspect="1"/>
          </p:cNvPicPr>
          <p:nvPr/>
        </p:nvPicPr>
        <p:blipFill>
          <a:blip r:embed="rId4"/>
          <a:stretch>
            <a:fillRect/>
          </a:stretch>
        </p:blipFill>
        <p:spPr>
          <a:xfrm>
            <a:off x="977494" y="4452214"/>
            <a:ext cx="285293" cy="285293"/>
          </a:xfrm>
          <a:prstGeom prst="rect">
            <a:avLst/>
          </a:prstGeom>
        </p:spPr>
      </p:pic>
      <p:sp>
        <p:nvSpPr>
          <p:cNvPr id="22" name="Text 16"/>
          <p:cNvSpPr txBox="1"/>
          <p:nvPr/>
        </p:nvSpPr>
        <p:spPr>
          <a:xfrm>
            <a:off x="1554480" y="4370832"/>
            <a:ext cx="2377440" cy="457200"/>
          </a:xfrm>
          <a:prstGeom prst="rect">
            <a:avLst/>
          </a:prstGeom>
          <a:noFill/>
          <a:ln/>
        </p:spPr>
        <p:txBody>
          <a:bodyPr wrap="square" lIns="0" tIns="0" rIns="0" bIns="0" rtlCol="0" anchor="ctr"/>
          <a:lstStyle/>
          <a:p>
            <a:pPr indent="0" marL="0">
              <a:buNone/>
            </a:pPr>
            <a:r>
              <a:rPr lang="en-US" sz="1800" b="1" dirty="0">
                <a:solidFill>
                  <a:schemeClr val="tx1"/>
                </a:solidFill>
              </a:rPr>
              <a:t>Koreksi manusia</a:t>
            </a:r>
            <a:endParaRPr lang="en-US" sz="1800" dirty="0"/>
          </a:p>
        </p:txBody>
      </p:sp>
      <p:sp>
        <p:nvSpPr>
          <p:cNvPr id="23" name="Text 17"/>
          <p:cNvSpPr txBox="1"/>
          <p:nvPr/>
        </p:nvSpPr>
        <p:spPr>
          <a:xfrm>
            <a:off x="822960" y="5074920"/>
            <a:ext cx="3017520" cy="914400"/>
          </a:xfrm>
          <a:prstGeom prst="rect">
            <a:avLst/>
          </a:prstGeom>
          <a:noFill/>
          <a:ln/>
        </p:spPr>
        <p:txBody>
          <a:bodyPr wrap="square" lIns="0" tIns="0" rIns="0" bIns="0" rtlCol="0" anchor="t"/>
          <a:lstStyle/>
          <a:p>
            <a:pPr indent="0" marL="0">
              <a:buNone/>
            </a:pPr>
            <a:r>
              <a:rPr lang="en-US" sz="1400" dirty="0">
                <a:solidFill>
                  <a:schemeClr val="tx2"/>
                </a:solidFill>
              </a:rPr>
              <a:t>Kader bisa melingkari ulang area dengan alat laso bila perlu.</a:t>
            </a:r>
            <a:endParaRPr lang="en-US" sz="1400" dirty="0"/>
          </a:p>
        </p:txBody>
      </p:sp>
      <p:sp>
        <p:nvSpPr>
          <p:cNvPr id="24" name="Shape 18"/>
          <p:cNvSpPr/>
          <p:nvPr/>
        </p:nvSpPr>
        <p:spPr>
          <a:xfrm>
            <a:off x="4315968" y="4023360"/>
            <a:ext cx="3557016" cy="2103120"/>
          </a:xfrm>
          <a:prstGeom prst="roundRect">
            <a:avLst>
              <a:gd name="adj" fmla="val 6087"/>
            </a:avLst>
          </a:prstGeom>
          <a:solidFill>
            <a:schemeClr val="bg2"/>
          </a:solidFill>
          <a:ln w="12700">
            <a:solidFill>
              <a:schemeClr val="bg2"/>
            </a:solidFill>
            <a:prstDash val="solid"/>
          </a:ln>
        </p:spPr>
      </p:sp>
      <p:sp>
        <p:nvSpPr>
          <p:cNvPr id="25" name="Shape 19"/>
          <p:cNvSpPr/>
          <p:nvPr/>
        </p:nvSpPr>
        <p:spPr>
          <a:xfrm>
            <a:off x="4590288" y="4297680"/>
            <a:ext cx="594360" cy="594360"/>
          </a:xfrm>
          <a:prstGeom prst="ellipse">
            <a:avLst/>
          </a:prstGeom>
          <a:solidFill>
            <a:schemeClr val="bg1"/>
          </a:solidFill>
          <a:ln w="12700">
            <a:solidFill>
              <a:schemeClr val="bg1"/>
            </a:solidFill>
            <a:prstDash val="solid"/>
          </a:ln>
        </p:spPr>
      </p:sp>
      <p:pic>
        <p:nvPicPr>
          <p:cNvPr id="26" name="Image 4" descr="preencoded.png">    </p:cNvPr>
          <p:cNvPicPr>
            <a:picLocks noChangeAspect="1"/>
          </p:cNvPicPr>
          <p:nvPr/>
        </p:nvPicPr>
        <p:blipFill>
          <a:blip r:embed="rId5"/>
          <a:stretch>
            <a:fillRect/>
          </a:stretch>
        </p:blipFill>
        <p:spPr>
          <a:xfrm>
            <a:off x="4744822" y="4452214"/>
            <a:ext cx="285293" cy="285293"/>
          </a:xfrm>
          <a:prstGeom prst="rect">
            <a:avLst/>
          </a:prstGeom>
        </p:spPr>
      </p:pic>
      <p:sp>
        <p:nvSpPr>
          <p:cNvPr id="27" name="Text 20"/>
          <p:cNvSpPr txBox="1"/>
          <p:nvPr/>
        </p:nvSpPr>
        <p:spPr>
          <a:xfrm>
            <a:off x="5321808" y="4370832"/>
            <a:ext cx="2377440" cy="457200"/>
          </a:xfrm>
          <a:prstGeom prst="rect">
            <a:avLst/>
          </a:prstGeom>
          <a:noFill/>
          <a:ln/>
        </p:spPr>
        <p:txBody>
          <a:bodyPr wrap="square" lIns="0" tIns="0" rIns="0" bIns="0" rtlCol="0" anchor="ctr"/>
          <a:lstStyle/>
          <a:p>
            <a:pPr indent="0" marL="0">
              <a:buNone/>
            </a:pPr>
            <a:r>
              <a:rPr lang="en-US" sz="1800" b="1" dirty="0">
                <a:solidFill>
                  <a:schemeClr val="tx1"/>
                </a:solidFill>
              </a:rPr>
              <a:t>Perkiraan Hb</a:t>
            </a:r>
            <a:endParaRPr lang="en-US" sz="1800" dirty="0"/>
          </a:p>
        </p:txBody>
      </p:sp>
      <p:sp>
        <p:nvSpPr>
          <p:cNvPr id="28" name="Text 21"/>
          <p:cNvSpPr txBox="1"/>
          <p:nvPr/>
        </p:nvSpPr>
        <p:spPr>
          <a:xfrm>
            <a:off x="4590288" y="5074920"/>
            <a:ext cx="3017520" cy="914400"/>
          </a:xfrm>
          <a:prstGeom prst="rect">
            <a:avLst/>
          </a:prstGeom>
          <a:noFill/>
          <a:ln/>
        </p:spPr>
        <p:txBody>
          <a:bodyPr wrap="square" lIns="0" tIns="0" rIns="0" bIns="0" rtlCol="0" anchor="t"/>
          <a:lstStyle/>
          <a:p>
            <a:pPr indent="0" marL="0">
              <a:buNone/>
            </a:pPr>
            <a:r>
              <a:rPr lang="en-US" sz="1400" dirty="0">
                <a:solidFill>
                  <a:schemeClr val="tx2"/>
                </a:solidFill>
              </a:rPr>
              <a:t>Bukan sekadar ya/tidak: angka Hb dan ambang WHO per kelompok.</a:t>
            </a:r>
            <a:endParaRPr lang="en-US" sz="1400" dirty="0"/>
          </a:p>
        </p:txBody>
      </p:sp>
      <p:sp>
        <p:nvSpPr>
          <p:cNvPr id="29" name="Shape 22"/>
          <p:cNvSpPr/>
          <p:nvPr/>
        </p:nvSpPr>
        <p:spPr>
          <a:xfrm>
            <a:off x="8083296" y="4023360"/>
            <a:ext cx="3557016" cy="2103120"/>
          </a:xfrm>
          <a:prstGeom prst="roundRect">
            <a:avLst>
              <a:gd name="adj" fmla="val 6087"/>
            </a:avLst>
          </a:prstGeom>
          <a:solidFill>
            <a:srgbClr val="1F1A2E"/>
          </a:solidFill>
          <a:ln w="12700">
            <a:solidFill>
              <a:srgbClr val="1F1A2E"/>
            </a:solidFill>
            <a:prstDash val="solid"/>
          </a:ln>
        </p:spPr>
      </p:sp>
      <p:sp>
        <p:nvSpPr>
          <p:cNvPr id="30" name="Shape 23"/>
          <p:cNvSpPr/>
          <p:nvPr/>
        </p:nvSpPr>
        <p:spPr>
          <a:xfrm>
            <a:off x="8357616" y="4297680"/>
            <a:ext cx="594360" cy="594360"/>
          </a:xfrm>
          <a:prstGeom prst="ellipse">
            <a:avLst/>
          </a:prstGeom>
          <a:solidFill>
            <a:schemeClr val="accent1"/>
          </a:solidFill>
          <a:ln w="12700">
            <a:solidFill>
              <a:schemeClr val="accent1"/>
            </a:solidFill>
            <a:prstDash val="solid"/>
          </a:ln>
        </p:spPr>
      </p:sp>
      <p:pic>
        <p:nvPicPr>
          <p:cNvPr id="31" name="Image 5" descr="preencoded.png">    </p:cNvPr>
          <p:cNvPicPr>
            <a:picLocks noChangeAspect="1"/>
          </p:cNvPicPr>
          <p:nvPr/>
        </p:nvPicPr>
        <p:blipFill>
          <a:blip r:embed="rId6"/>
          <a:stretch>
            <a:fillRect/>
          </a:stretch>
        </p:blipFill>
        <p:spPr>
          <a:xfrm>
            <a:off x="8512150" y="4452214"/>
            <a:ext cx="285293" cy="285293"/>
          </a:xfrm>
          <a:prstGeom prst="rect">
            <a:avLst/>
          </a:prstGeom>
        </p:spPr>
      </p:pic>
      <p:sp>
        <p:nvSpPr>
          <p:cNvPr id="32" name="Text 24"/>
          <p:cNvSpPr txBox="1"/>
          <p:nvPr/>
        </p:nvSpPr>
        <p:spPr>
          <a:xfrm>
            <a:off x="9089136" y="4370832"/>
            <a:ext cx="2377440" cy="457200"/>
          </a:xfrm>
          <a:prstGeom prst="rect">
            <a:avLst/>
          </a:prstGeom>
          <a:noFill/>
          <a:ln/>
        </p:spPr>
        <p:txBody>
          <a:bodyPr wrap="square" lIns="0" tIns="0" rIns="0" bIns="0" rtlCol="0" anchor="ctr"/>
          <a:lstStyle/>
          <a:p>
            <a:pPr indent="0" marL="0">
              <a:buNone/>
            </a:pPr>
            <a:r>
              <a:rPr lang="en-US" sz="1800" b="1" dirty="0">
                <a:solidFill>
                  <a:schemeClr val="bg1"/>
                </a:solidFill>
              </a:rPr>
              <a:t>Hasilnya</a:t>
            </a:r>
            <a:endParaRPr lang="en-US" sz="1800" dirty="0"/>
          </a:p>
        </p:txBody>
      </p:sp>
      <p:sp>
        <p:nvSpPr>
          <p:cNvPr id="33" name="Text 25"/>
          <p:cNvSpPr txBox="1"/>
          <p:nvPr/>
        </p:nvSpPr>
        <p:spPr>
          <a:xfrm>
            <a:off x="8357616" y="5074920"/>
            <a:ext cx="3017520" cy="914400"/>
          </a:xfrm>
          <a:prstGeom prst="rect">
            <a:avLst/>
          </a:prstGeom>
          <a:noFill/>
          <a:ln/>
        </p:spPr>
        <p:txBody>
          <a:bodyPr wrap="square" lIns="0" tIns="0" rIns="0" bIns="0" rtlCol="0" anchor="t"/>
          <a:lstStyle/>
          <a:p>
            <a:pPr indent="0" marL="0">
              <a:buNone/>
            </a:pPr>
            <a:r>
              <a:rPr lang="en-US" sz="1400" dirty="0">
                <a:solidFill>
                  <a:schemeClr val="accent6"/>
                </a:solidFill>
              </a:rPr>
              <a:t>Skrining yang bisa dipercaya kader dan jalan di HP murah.</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nchor="t"/>
          <a:lstStyle/>
          <a:p>
            <a:pPr indent="0" marL="0">
              <a:buNone/>
            </a:pPr>
            <a:r>
              <a:rPr lang="en-US" sz="1200" b="1" spc="200" kern="0" dirty="0">
                <a:solidFill>
                  <a:schemeClr val="accent4"/>
                </a:solidFill>
              </a:rPr>
              <a:t>IMPLEMENTASI TEKNIS</a:t>
            </a:r>
            <a:endParaRPr lang="en-US" sz="1200" dirty="0"/>
          </a:p>
        </p:txBody>
      </p:sp>
      <p:sp>
        <p:nvSpPr>
          <p:cNvPr id="3" name="Text 1"/>
          <p:cNvSpPr/>
          <p:nvPr>
            <p:ph idx="102" type="title" hasCustomPrompt="1"/>
          </p:nvPr>
        </p:nvSpPr>
        <p:spPr>
          <a:xfrm>
            <a:off x="548640" y="694944"/>
            <a:ext cx="11094415" cy="73152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Web ringan di depan, AI Python di belakang</a:t>
            </a:r>
            <a:endParaRPr lang="en-US" sz="3400" dirty="0"/>
          </a:p>
        </p:txBody>
      </p:sp>
      <p:sp>
        <p:nvSpPr>
          <p:cNvPr id="4" name="Shape 2"/>
          <p:cNvSpPr/>
          <p:nvPr/>
        </p:nvSpPr>
        <p:spPr>
          <a:xfrm>
            <a:off x="548640" y="1645920"/>
            <a:ext cx="5577840" cy="4526280"/>
          </a:xfrm>
          <a:prstGeom prst="roundRect">
            <a:avLst>
              <a:gd name="adj" fmla="val 2828"/>
            </a:avLst>
          </a:prstGeom>
          <a:solidFill>
            <a:schemeClr val="bg1"/>
          </a:solidFill>
          <a:ln w="12700">
            <a:solidFill>
              <a:schemeClr val="bg1"/>
            </a:solidFill>
            <a:prstDash val="solid"/>
          </a:ln>
          <a:effectLst>
            <a:outerShdw sx="100000" sy="100000" kx="0" ky="0" algn="bl" rotWithShape="0" blurRad="127000" dist="38100" dir="5400000">
              <a:srgbClr val="1F1A2E">
                <a:alpha val="10000"/>
              </a:srgbClr>
            </a:outerShdw>
          </a:effectLst>
        </p:spPr>
      </p:sp>
      <p:pic>
        <p:nvPicPr>
          <p:cNvPr id="5" name="Image 0" descr="/home/claude/anemia/doc/img/arsitektur.png">    </p:cNvPr>
          <p:cNvPicPr>
            <a:picLocks noChangeAspect="1"/>
          </p:cNvPicPr>
          <p:nvPr/>
        </p:nvPicPr>
        <p:blipFill>
          <a:blip r:embed="rId1"/>
          <a:stretch>
            <a:fillRect/>
          </a:stretch>
        </p:blipFill>
        <p:spPr>
          <a:xfrm>
            <a:off x="685800" y="1746613"/>
            <a:ext cx="5303520" cy="4324894"/>
          </a:xfrm>
          <a:prstGeom prst="rect">
            <a:avLst/>
          </a:prstGeom>
        </p:spPr>
      </p:pic>
      <p:sp>
        <p:nvSpPr>
          <p:cNvPr id="6" name="Shape 3"/>
          <p:cNvSpPr/>
          <p:nvPr/>
        </p:nvSpPr>
        <p:spPr>
          <a:xfrm>
            <a:off x="6355080" y="1645920"/>
            <a:ext cx="5285232" cy="1033272"/>
          </a:xfrm>
          <a:prstGeom prst="roundRect">
            <a:avLst>
              <a:gd name="adj" fmla="val 12389"/>
            </a:avLst>
          </a:prstGeom>
          <a:solidFill>
            <a:schemeClr val="bg2"/>
          </a:solidFill>
          <a:ln w="12700">
            <a:solidFill>
              <a:schemeClr val="bg2"/>
            </a:solidFill>
            <a:prstDash val="solid"/>
          </a:ln>
        </p:spPr>
      </p:sp>
      <p:sp>
        <p:nvSpPr>
          <p:cNvPr id="7" name="Text 4"/>
          <p:cNvSpPr txBox="1"/>
          <p:nvPr/>
        </p:nvSpPr>
        <p:spPr>
          <a:xfrm>
            <a:off x="6583680" y="1773936"/>
            <a:ext cx="4846320" cy="256032"/>
          </a:xfrm>
          <a:prstGeom prst="rect">
            <a:avLst/>
          </a:prstGeom>
          <a:noFill/>
          <a:ln/>
        </p:spPr>
        <p:txBody>
          <a:bodyPr wrap="square" lIns="0" tIns="0" rIns="0" bIns="0" rtlCol="0" anchor="t"/>
          <a:lstStyle/>
          <a:p>
            <a:pPr indent="0" marL="0">
              <a:buNone/>
            </a:pPr>
            <a:r>
              <a:rPr lang="en-US" sz="1100" b="1" spc="100" kern="0" dirty="0">
                <a:solidFill>
                  <a:schemeClr val="accent2"/>
                </a:solidFill>
              </a:rPr>
              <a:t>FRONT END</a:t>
            </a:r>
            <a:endParaRPr lang="en-US" sz="1100" dirty="0"/>
          </a:p>
        </p:txBody>
      </p:sp>
      <p:sp>
        <p:nvSpPr>
          <p:cNvPr id="8" name="Text 5"/>
          <p:cNvSpPr txBox="1"/>
          <p:nvPr/>
        </p:nvSpPr>
        <p:spPr>
          <a:xfrm>
            <a:off x="6583680" y="2057400"/>
            <a:ext cx="4846320" cy="548640"/>
          </a:xfrm>
          <a:prstGeom prst="rect">
            <a:avLst/>
          </a:prstGeom>
          <a:noFill/>
          <a:ln/>
        </p:spPr>
        <p:txBody>
          <a:bodyPr wrap="square" lIns="0" tIns="0" rIns="0" bIns="0" rtlCol="0" anchor="t"/>
          <a:lstStyle/>
          <a:p>
            <a:pPr indent="0" marL="0">
              <a:buNone/>
            </a:pPr>
            <a:r>
              <a:rPr lang="en-US" sz="1400" dirty="0">
                <a:solidFill>
                  <a:schemeClr val="tx1"/>
                </a:solidFill>
              </a:rPr>
              <a:t>HTML, CSS, JavaScript murni · kamera dan alat laso (Pointer Events + SVG) · responsif HP</a:t>
            </a:r>
            <a:endParaRPr lang="en-US" sz="1400" dirty="0"/>
          </a:p>
        </p:txBody>
      </p:sp>
      <p:sp>
        <p:nvSpPr>
          <p:cNvPr id="9" name="Shape 6"/>
          <p:cNvSpPr/>
          <p:nvPr/>
        </p:nvSpPr>
        <p:spPr>
          <a:xfrm>
            <a:off x="6355080" y="2807208"/>
            <a:ext cx="5285232" cy="1033272"/>
          </a:xfrm>
          <a:prstGeom prst="roundRect">
            <a:avLst>
              <a:gd name="adj" fmla="val 12389"/>
            </a:avLst>
          </a:prstGeom>
          <a:solidFill>
            <a:schemeClr val="bg2"/>
          </a:solidFill>
          <a:ln w="12700">
            <a:solidFill>
              <a:schemeClr val="bg2"/>
            </a:solidFill>
            <a:prstDash val="solid"/>
          </a:ln>
        </p:spPr>
      </p:sp>
      <p:sp>
        <p:nvSpPr>
          <p:cNvPr id="10" name="Text 7"/>
          <p:cNvSpPr txBox="1"/>
          <p:nvPr/>
        </p:nvSpPr>
        <p:spPr>
          <a:xfrm>
            <a:off x="6583680" y="2935224"/>
            <a:ext cx="4846320" cy="256032"/>
          </a:xfrm>
          <a:prstGeom prst="rect">
            <a:avLst/>
          </a:prstGeom>
          <a:noFill/>
          <a:ln/>
        </p:spPr>
        <p:txBody>
          <a:bodyPr wrap="square" lIns="0" tIns="0" rIns="0" bIns="0" rtlCol="0" anchor="t"/>
          <a:lstStyle/>
          <a:p>
            <a:pPr indent="0" marL="0">
              <a:buNone/>
            </a:pPr>
            <a:r>
              <a:rPr lang="en-US" sz="1100" b="1" spc="100" kern="0" dirty="0">
                <a:solidFill>
                  <a:schemeClr val="accent2"/>
                </a:solidFill>
              </a:rPr>
              <a:t>BACK END</a:t>
            </a:r>
            <a:endParaRPr lang="en-US" sz="1100" dirty="0"/>
          </a:p>
        </p:txBody>
      </p:sp>
      <p:sp>
        <p:nvSpPr>
          <p:cNvPr id="11" name="Text 8"/>
          <p:cNvSpPr txBox="1"/>
          <p:nvPr/>
        </p:nvSpPr>
        <p:spPr>
          <a:xfrm>
            <a:off x="6583680" y="3218688"/>
            <a:ext cx="4846320" cy="548640"/>
          </a:xfrm>
          <a:prstGeom prst="rect">
            <a:avLst/>
          </a:prstGeom>
          <a:noFill/>
          <a:ln/>
        </p:spPr>
        <p:txBody>
          <a:bodyPr wrap="square" lIns="0" tIns="0" rIns="0" bIns="0" rtlCol="0" anchor="t"/>
          <a:lstStyle/>
          <a:p>
            <a:pPr indent="0" marL="0">
              <a:buNone/>
            </a:pPr>
            <a:r>
              <a:rPr lang="en-US" sz="1400" dirty="0">
                <a:solidFill>
                  <a:schemeClr val="tx1"/>
                </a:solidFill>
              </a:rPr>
              <a:t>Python FastAPI · OpenCV · pengaman ROI (Mahalanobis) · cek kualitas foto</a:t>
            </a:r>
            <a:endParaRPr lang="en-US" sz="1400" dirty="0"/>
          </a:p>
        </p:txBody>
      </p:sp>
      <p:sp>
        <p:nvSpPr>
          <p:cNvPr id="12" name="Shape 9"/>
          <p:cNvSpPr/>
          <p:nvPr/>
        </p:nvSpPr>
        <p:spPr>
          <a:xfrm>
            <a:off x="6355080" y="3968496"/>
            <a:ext cx="5285232" cy="1033272"/>
          </a:xfrm>
          <a:prstGeom prst="roundRect">
            <a:avLst>
              <a:gd name="adj" fmla="val 12389"/>
            </a:avLst>
          </a:prstGeom>
          <a:solidFill>
            <a:schemeClr val="bg2"/>
          </a:solidFill>
          <a:ln w="12700">
            <a:solidFill>
              <a:schemeClr val="bg2"/>
            </a:solidFill>
            <a:prstDash val="solid"/>
          </a:ln>
        </p:spPr>
      </p:sp>
      <p:sp>
        <p:nvSpPr>
          <p:cNvPr id="13" name="Text 10"/>
          <p:cNvSpPr txBox="1"/>
          <p:nvPr/>
        </p:nvSpPr>
        <p:spPr>
          <a:xfrm>
            <a:off x="6583680" y="4096512"/>
            <a:ext cx="4846320" cy="256032"/>
          </a:xfrm>
          <a:prstGeom prst="rect">
            <a:avLst/>
          </a:prstGeom>
          <a:noFill/>
          <a:ln/>
        </p:spPr>
        <p:txBody>
          <a:bodyPr wrap="square" lIns="0" tIns="0" rIns="0" bIns="0" rtlCol="0" anchor="t"/>
          <a:lstStyle/>
          <a:p>
            <a:pPr indent="0" marL="0">
              <a:buNone/>
            </a:pPr>
            <a:r>
              <a:rPr lang="en-US" sz="1100" b="1" spc="100" kern="0" dirty="0">
                <a:solidFill>
                  <a:schemeClr val="accent2"/>
                </a:solidFill>
              </a:rPr>
              <a:t>MODEL AI</a:t>
            </a:r>
            <a:endParaRPr lang="en-US" sz="1100" dirty="0"/>
          </a:p>
        </p:txBody>
      </p:sp>
      <p:sp>
        <p:nvSpPr>
          <p:cNvPr id="14" name="Text 11"/>
          <p:cNvSpPr txBox="1"/>
          <p:nvPr/>
        </p:nvSpPr>
        <p:spPr>
          <a:xfrm>
            <a:off x="6583680" y="4379976"/>
            <a:ext cx="4846320" cy="548640"/>
          </a:xfrm>
          <a:prstGeom prst="rect">
            <a:avLst/>
          </a:prstGeom>
          <a:noFill/>
          <a:ln/>
        </p:spPr>
        <p:txBody>
          <a:bodyPr wrap="square" lIns="0" tIns="0" rIns="0" bIns="0" rtlCol="0" anchor="t"/>
          <a:lstStyle/>
          <a:p>
            <a:pPr indent="0" marL="0">
              <a:buNone/>
            </a:pPr>
            <a:r>
              <a:rPr lang="en-US" sz="1400" dirty="0">
                <a:solidFill>
                  <a:schemeClr val="tx1"/>
                </a:solidFill>
              </a:rPr>
              <a:t>U-Net ResNet-34 (PyTorch) · regresi logistik + Ridge · Random Forest · EfficientNet-B0</a:t>
            </a:r>
            <a:endParaRPr lang="en-US" sz="1400" dirty="0"/>
          </a:p>
        </p:txBody>
      </p:sp>
      <p:sp>
        <p:nvSpPr>
          <p:cNvPr id="15" name="Shape 12"/>
          <p:cNvSpPr/>
          <p:nvPr/>
        </p:nvSpPr>
        <p:spPr>
          <a:xfrm>
            <a:off x="6355080" y="5129784"/>
            <a:ext cx="5285232" cy="1033272"/>
          </a:xfrm>
          <a:prstGeom prst="roundRect">
            <a:avLst>
              <a:gd name="adj" fmla="val 12389"/>
            </a:avLst>
          </a:prstGeom>
          <a:solidFill>
            <a:srgbClr val="1F1A2E"/>
          </a:solidFill>
          <a:ln w="12700">
            <a:solidFill>
              <a:srgbClr val="1F1A2E"/>
            </a:solidFill>
            <a:prstDash val="solid"/>
          </a:ln>
        </p:spPr>
      </p:sp>
      <p:sp>
        <p:nvSpPr>
          <p:cNvPr id="16" name="Text 13"/>
          <p:cNvSpPr txBox="1"/>
          <p:nvPr/>
        </p:nvSpPr>
        <p:spPr>
          <a:xfrm>
            <a:off x="6583680" y="5257800"/>
            <a:ext cx="4846320" cy="256032"/>
          </a:xfrm>
          <a:prstGeom prst="rect">
            <a:avLst/>
          </a:prstGeom>
          <a:noFill/>
          <a:ln/>
        </p:spPr>
        <p:txBody>
          <a:bodyPr wrap="square" lIns="0" tIns="0" rIns="0" bIns="0" rtlCol="0" anchor="t"/>
          <a:lstStyle/>
          <a:p>
            <a:pPr indent="0" marL="0">
              <a:buNone/>
            </a:pPr>
            <a:r>
              <a:rPr lang="en-US" sz="1100" b="1" spc="100" kern="0" dirty="0">
                <a:solidFill>
                  <a:schemeClr val="accent3"/>
                </a:solidFill>
              </a:rPr>
              <a:t>KINERJA</a:t>
            </a:r>
            <a:endParaRPr lang="en-US" sz="1100" dirty="0"/>
          </a:p>
        </p:txBody>
      </p:sp>
      <p:sp>
        <p:nvSpPr>
          <p:cNvPr id="17" name="Text 14"/>
          <p:cNvSpPr txBox="1"/>
          <p:nvPr/>
        </p:nvSpPr>
        <p:spPr>
          <a:xfrm>
            <a:off x="6583680" y="5541264"/>
            <a:ext cx="4846320" cy="548640"/>
          </a:xfrm>
          <a:prstGeom prst="rect">
            <a:avLst/>
          </a:prstGeom>
          <a:noFill/>
          <a:ln/>
        </p:spPr>
        <p:txBody>
          <a:bodyPr wrap="square" lIns="0" tIns="0" rIns="0" bIns="0" rtlCol="0" anchor="t"/>
          <a:lstStyle/>
          <a:p>
            <a:pPr indent="0" marL="0">
              <a:buNone/>
            </a:pPr>
            <a:r>
              <a:rPr lang="en-US" sz="1400" dirty="0">
                <a:solidFill>
                  <a:schemeClr val="bg1"/>
                </a:solidFill>
              </a:rPr>
              <a:t>0,2–1 detik per foto di CPU laptop, tanpa GPU · foto tidak disimpan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nchor="t"/>
          <a:lstStyle/>
          <a:p>
            <a:pPr indent="0" marL="0">
              <a:buNone/>
            </a:pPr>
            <a:r>
              <a:rPr lang="en-US" sz="1200" b="1" spc="200" kern="0" dirty="0">
                <a:solidFill>
                  <a:schemeClr val="accent3"/>
                </a:solidFill>
              </a:rPr>
              <a:t>VALIDASI</a:t>
            </a:r>
            <a:endParaRPr lang="en-US" sz="1200" dirty="0"/>
          </a:p>
        </p:txBody>
      </p:sp>
      <p:sp>
        <p:nvSpPr>
          <p:cNvPr id="3" name="Text 1"/>
          <p:cNvSpPr/>
          <p:nvPr>
            <p:ph idx="102" type="title" hasCustomPrompt="1"/>
          </p:nvPr>
        </p:nvSpPr>
        <p:spPr>
          <a:xfrm>
            <a:off x="548640" y="694944"/>
            <a:ext cx="11094415" cy="731520"/>
          </a:xfrm>
          <a:prstGeom prst="rect">
            <a:avLst/>
          </a:prstGeom>
          <a:noFill/>
          <a:ln/>
        </p:spPr>
        <p:txBody>
          <a:bodyPr wrap="square" lIns="0" tIns="0" rIns="0" bIns="0"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Diuji jujur: per pasien, lintas tiga negara</a:t>
            </a:r>
            <a:endParaRPr lang="en-US" sz="3400" dirty="0"/>
          </a:p>
        </p:txBody>
      </p:sp>
      <p:sp>
        <p:nvSpPr>
          <p:cNvPr id="4" name="Shape 2"/>
          <p:cNvSpPr/>
          <p:nvPr/>
        </p:nvSpPr>
        <p:spPr>
          <a:xfrm>
            <a:off x="548640" y="1645920"/>
            <a:ext cx="2697480" cy="1554480"/>
          </a:xfrm>
          <a:prstGeom prst="roundRect">
            <a:avLst>
              <a:gd name="adj" fmla="val 8235"/>
            </a:avLst>
          </a:prstGeom>
          <a:solidFill>
            <a:schemeClr val="accent5"/>
          </a:solidFill>
          <a:ln w="12700">
            <a:solidFill>
              <a:schemeClr val="accent5"/>
            </a:solidFill>
            <a:prstDash val="solid"/>
          </a:ln>
        </p:spPr>
      </p:sp>
      <p:sp>
        <p:nvSpPr>
          <p:cNvPr id="5" name="Text 3"/>
          <p:cNvSpPr txBox="1"/>
          <p:nvPr/>
        </p:nvSpPr>
        <p:spPr>
          <a:xfrm>
            <a:off x="777240" y="1783080"/>
            <a:ext cx="2286000" cy="777240"/>
          </a:xfrm>
          <a:prstGeom prst="rect">
            <a:avLst/>
          </a:prstGeom>
          <a:noFill/>
          <a:ln/>
        </p:spPr>
        <p:txBody>
          <a:bodyPr wrap="square" lIns="0" tIns="0" rIns="0" bIns="0" rtlCol="0" anchor="t"/>
          <a:lstStyle/>
          <a:p>
            <a:pPr indent="0" marL="0">
              <a:buNone/>
            </a:pPr>
            <a:r>
              <a:rPr lang="en-US" sz="4400" b="1" dirty="0">
                <a:solidFill>
                  <a:schemeClr val="accent3"/>
                </a:solidFill>
                <a:latin typeface="Cambria" pitchFamily="34" charset="0"/>
                <a:ea typeface="Cambria" pitchFamily="34" charset="-122"/>
                <a:cs typeface="Cambria" pitchFamily="34" charset="-120"/>
              </a:rPr>
              <a:t>0,84</a:t>
            </a:r>
            <a:endParaRPr lang="en-US" sz="4400" dirty="0"/>
          </a:p>
        </p:txBody>
      </p:sp>
      <p:sp>
        <p:nvSpPr>
          <p:cNvPr id="6" name="Text 4"/>
          <p:cNvSpPr txBox="1"/>
          <p:nvPr/>
        </p:nvSpPr>
        <p:spPr>
          <a:xfrm>
            <a:off x="777240" y="2606040"/>
            <a:ext cx="2286000" cy="502920"/>
          </a:xfrm>
          <a:prstGeom prst="rect">
            <a:avLst/>
          </a:prstGeom>
          <a:noFill/>
          <a:ln/>
        </p:spPr>
        <p:txBody>
          <a:bodyPr wrap="square" lIns="0" tIns="0" rIns="0" bIns="0" rtlCol="0" anchor="t"/>
          <a:lstStyle/>
          <a:p>
            <a:pPr indent="0" marL="0">
              <a:buNone/>
            </a:pPr>
            <a:r>
              <a:rPr lang="en-US" sz="1300" dirty="0">
                <a:solidFill>
                  <a:schemeClr val="accent6"/>
                </a:solidFill>
              </a:rPr>
              <a:t>AUC (CI 0,81–0,87)</a:t>
            </a:r>
            <a:endParaRPr lang="en-US" sz="1300" dirty="0"/>
          </a:p>
        </p:txBody>
      </p:sp>
      <p:sp>
        <p:nvSpPr>
          <p:cNvPr id="7" name="Shape 5"/>
          <p:cNvSpPr/>
          <p:nvPr/>
        </p:nvSpPr>
        <p:spPr>
          <a:xfrm>
            <a:off x="3429000" y="1645920"/>
            <a:ext cx="2697480" cy="1554480"/>
          </a:xfrm>
          <a:prstGeom prst="roundRect">
            <a:avLst>
              <a:gd name="adj" fmla="val 8235"/>
            </a:avLst>
          </a:prstGeom>
          <a:solidFill>
            <a:schemeClr val="accent5"/>
          </a:solidFill>
          <a:ln w="12700">
            <a:solidFill>
              <a:schemeClr val="accent5"/>
            </a:solidFill>
            <a:prstDash val="solid"/>
          </a:ln>
        </p:spPr>
      </p:sp>
      <p:sp>
        <p:nvSpPr>
          <p:cNvPr id="8" name="Text 6"/>
          <p:cNvSpPr txBox="1"/>
          <p:nvPr/>
        </p:nvSpPr>
        <p:spPr>
          <a:xfrm>
            <a:off x="3657600" y="1783080"/>
            <a:ext cx="2286000" cy="777240"/>
          </a:xfrm>
          <a:prstGeom prst="rect">
            <a:avLst/>
          </a:prstGeom>
          <a:noFill/>
          <a:ln/>
        </p:spPr>
        <p:txBody>
          <a:bodyPr wrap="square" lIns="0" tIns="0" rIns="0" bIns="0" rtlCol="0" anchor="t"/>
          <a:lstStyle/>
          <a:p>
            <a:pPr indent="0" marL="0">
              <a:buNone/>
            </a:pPr>
            <a:r>
              <a:rPr lang="en-US" sz="4400" b="1" dirty="0">
                <a:solidFill>
                  <a:schemeClr val="accent3"/>
                </a:solidFill>
                <a:latin typeface="Cambria" pitchFamily="34" charset="0"/>
                <a:ea typeface="Cambria" pitchFamily="34" charset="-122"/>
                <a:cs typeface="Cambria" pitchFamily="34" charset="-120"/>
              </a:rPr>
              <a:t>86%</a:t>
            </a:r>
            <a:endParaRPr lang="en-US" sz="4400" dirty="0"/>
          </a:p>
        </p:txBody>
      </p:sp>
      <p:sp>
        <p:nvSpPr>
          <p:cNvPr id="9" name="Text 7"/>
          <p:cNvSpPr txBox="1"/>
          <p:nvPr/>
        </p:nvSpPr>
        <p:spPr>
          <a:xfrm>
            <a:off x="3657600" y="2606040"/>
            <a:ext cx="2286000" cy="502920"/>
          </a:xfrm>
          <a:prstGeom prst="rect">
            <a:avLst/>
          </a:prstGeom>
          <a:noFill/>
          <a:ln/>
        </p:spPr>
        <p:txBody>
          <a:bodyPr wrap="square" lIns="0" tIns="0" rIns="0" bIns="0" rtlCol="0" anchor="t"/>
          <a:lstStyle/>
          <a:p>
            <a:pPr indent="0" marL="0">
              <a:buNone/>
            </a:pPr>
            <a:r>
              <a:rPr lang="en-US" sz="1300" dirty="0">
                <a:solidFill>
                  <a:schemeClr val="accent6"/>
                </a:solidFill>
              </a:rPr>
              <a:t>sensitivitas: kasus anemia tertangkap</a:t>
            </a:r>
            <a:endParaRPr lang="en-US" sz="1300" dirty="0"/>
          </a:p>
        </p:txBody>
      </p:sp>
      <p:sp>
        <p:nvSpPr>
          <p:cNvPr id="10" name="Shape 8"/>
          <p:cNvSpPr/>
          <p:nvPr/>
        </p:nvSpPr>
        <p:spPr>
          <a:xfrm>
            <a:off x="548640" y="3383280"/>
            <a:ext cx="2697480" cy="1554480"/>
          </a:xfrm>
          <a:prstGeom prst="roundRect">
            <a:avLst>
              <a:gd name="adj" fmla="val 8235"/>
            </a:avLst>
          </a:prstGeom>
          <a:solidFill>
            <a:schemeClr val="accent5"/>
          </a:solidFill>
          <a:ln w="12700">
            <a:solidFill>
              <a:schemeClr val="accent5"/>
            </a:solidFill>
            <a:prstDash val="solid"/>
          </a:ln>
        </p:spPr>
      </p:sp>
      <p:sp>
        <p:nvSpPr>
          <p:cNvPr id="11" name="Text 9"/>
          <p:cNvSpPr txBox="1"/>
          <p:nvPr/>
        </p:nvSpPr>
        <p:spPr>
          <a:xfrm>
            <a:off x="777240" y="3520440"/>
            <a:ext cx="2286000" cy="77724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1,41</a:t>
            </a:r>
            <a:endParaRPr lang="en-US" sz="4400" dirty="0"/>
          </a:p>
        </p:txBody>
      </p:sp>
      <p:sp>
        <p:nvSpPr>
          <p:cNvPr id="12" name="Text 10"/>
          <p:cNvSpPr txBox="1"/>
          <p:nvPr/>
        </p:nvSpPr>
        <p:spPr>
          <a:xfrm>
            <a:off x="777240" y="4343400"/>
            <a:ext cx="2286000" cy="502920"/>
          </a:xfrm>
          <a:prstGeom prst="rect">
            <a:avLst/>
          </a:prstGeom>
          <a:noFill/>
          <a:ln/>
        </p:spPr>
        <p:txBody>
          <a:bodyPr wrap="square" lIns="0" tIns="0" rIns="0" bIns="0" rtlCol="0" anchor="t"/>
          <a:lstStyle/>
          <a:p>
            <a:pPr indent="0" marL="0">
              <a:buNone/>
            </a:pPr>
            <a:r>
              <a:rPr lang="en-US" sz="1300" dirty="0">
                <a:solidFill>
                  <a:schemeClr val="accent6"/>
                </a:solidFill>
              </a:rPr>
              <a:t>MAE perkiraan Hb (g/dL)</a:t>
            </a:r>
            <a:endParaRPr lang="en-US" sz="1300" dirty="0"/>
          </a:p>
        </p:txBody>
      </p:sp>
      <p:sp>
        <p:nvSpPr>
          <p:cNvPr id="13" name="Shape 11"/>
          <p:cNvSpPr/>
          <p:nvPr/>
        </p:nvSpPr>
        <p:spPr>
          <a:xfrm>
            <a:off x="3429000" y="3383280"/>
            <a:ext cx="2697480" cy="1554480"/>
          </a:xfrm>
          <a:prstGeom prst="roundRect">
            <a:avLst>
              <a:gd name="adj" fmla="val 8235"/>
            </a:avLst>
          </a:prstGeom>
          <a:solidFill>
            <a:schemeClr val="accent5"/>
          </a:solidFill>
          <a:ln w="12700">
            <a:solidFill>
              <a:schemeClr val="accent5"/>
            </a:solidFill>
            <a:prstDash val="solid"/>
          </a:ln>
        </p:spPr>
      </p:sp>
      <p:sp>
        <p:nvSpPr>
          <p:cNvPr id="14" name="Text 12"/>
          <p:cNvSpPr txBox="1"/>
          <p:nvPr/>
        </p:nvSpPr>
        <p:spPr>
          <a:xfrm>
            <a:off x="3657600" y="3520440"/>
            <a:ext cx="2286000" cy="77724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624</a:t>
            </a:r>
            <a:endParaRPr lang="en-US" sz="4400" dirty="0"/>
          </a:p>
        </p:txBody>
      </p:sp>
      <p:sp>
        <p:nvSpPr>
          <p:cNvPr id="15" name="Text 13"/>
          <p:cNvSpPr txBox="1"/>
          <p:nvPr/>
        </p:nvSpPr>
        <p:spPr>
          <a:xfrm>
            <a:off x="3657600" y="4343400"/>
            <a:ext cx="2286000" cy="502920"/>
          </a:xfrm>
          <a:prstGeom prst="rect">
            <a:avLst/>
          </a:prstGeom>
          <a:noFill/>
          <a:ln/>
        </p:spPr>
        <p:txBody>
          <a:bodyPr wrap="square" lIns="0" tIns="0" rIns="0" bIns="0" rtlCol="0" anchor="t"/>
          <a:lstStyle/>
          <a:p>
            <a:pPr indent="0" marL="0">
              <a:buNone/>
            </a:pPr>
            <a:r>
              <a:rPr lang="en-US" sz="1300" dirty="0">
                <a:solidFill>
                  <a:schemeClr val="accent6"/>
                </a:solidFill>
              </a:rPr>
              <a:t>pasien dari Italia, Ghana, India</a:t>
            </a:r>
            <a:endParaRPr lang="en-US" sz="1300" dirty="0"/>
          </a:p>
        </p:txBody>
      </p:sp>
      <p:sp>
        <p:nvSpPr>
          <p:cNvPr id="16" name="Text 14"/>
          <p:cNvSpPr txBox="1"/>
          <p:nvPr/>
        </p:nvSpPr>
        <p:spPr>
          <a:xfrm>
            <a:off x="548640" y="5166360"/>
            <a:ext cx="5577840" cy="822960"/>
          </a:xfrm>
          <a:prstGeom prst="rect">
            <a:avLst/>
          </a:prstGeom>
          <a:noFill/>
          <a:ln/>
        </p:spPr>
        <p:txBody>
          <a:bodyPr wrap="square" lIns="0" tIns="0" rIns="0" bIns="0" rtlCol="0" anchor="t"/>
          <a:lstStyle/>
          <a:p>
            <a:pPr indent="0" marL="0">
              <a:buNone/>
            </a:pPr>
            <a:r>
              <a:rPr lang="en-US" sz="1400" b="1" dirty="0">
                <a:solidFill>
                  <a:schemeClr val="bg1"/>
                </a:solidFill>
              </a:rPr>
              <a:t>303 gambar duplikat </a:t>
            </a:r>
            <a:pPr indent="0" marL="0">
              <a:buNone/>
            </a:pPr>
            <a:r>
              <a:rPr lang="en-US" sz="1400" dirty="0">
                <a:solidFill>
                  <a:schemeClr val="accent6"/>
                </a:solidFill>
              </a:rPr>
              <a:t>di dataset publik kami temukan dan buang agar skor tidak bocor. AUC per sumber: Italia 0,93 · Ghana 0,79 · India 0,71.</a:t>
            </a:r>
            <a:endParaRPr lang="en-US" sz="1400" dirty="0"/>
          </a:p>
        </p:txBody>
      </p:sp>
      <p:sp>
        <p:nvSpPr>
          <p:cNvPr id="17" name="Shape 15"/>
          <p:cNvSpPr/>
          <p:nvPr/>
        </p:nvSpPr>
        <p:spPr>
          <a:xfrm>
            <a:off x="6355080" y="1645920"/>
            <a:ext cx="5285232" cy="2194560"/>
          </a:xfrm>
          <a:prstGeom prst="roundRect">
            <a:avLst>
              <a:gd name="adj" fmla="val 5833"/>
            </a:avLst>
          </a:prstGeom>
          <a:solidFill>
            <a:schemeClr val="bg1"/>
          </a:solidFill>
          <a:ln w="12700">
            <a:solidFill>
              <a:schemeClr val="bg1"/>
            </a:solidFill>
            <a:prstDash val="solid"/>
          </a:ln>
        </p:spPr>
      </p:sp>
      <p:pic>
        <p:nvPicPr>
          <p:cNvPr id="18" name="Image 0" descr="/home/claude/anemia/pptx/seg_top.png">    </p:cNvPr>
          <p:cNvPicPr>
            <a:picLocks noChangeAspect="1"/>
          </p:cNvPicPr>
          <p:nvPr/>
        </p:nvPicPr>
        <p:blipFill>
          <a:blip r:embed="rId1"/>
          <a:stretch>
            <a:fillRect/>
          </a:stretch>
        </p:blipFill>
        <p:spPr>
          <a:xfrm>
            <a:off x="6446520" y="1807769"/>
            <a:ext cx="5102352" cy="1870862"/>
          </a:xfrm>
          <a:prstGeom prst="rect">
            <a:avLst/>
          </a:prstGeom>
        </p:spPr>
      </p:pic>
      <p:sp>
        <p:nvSpPr>
          <p:cNvPr id="19" name="Text 16"/>
          <p:cNvSpPr txBox="1"/>
          <p:nvPr/>
        </p:nvSpPr>
        <p:spPr>
          <a:xfrm>
            <a:off x="6355080" y="4069080"/>
            <a:ext cx="5285232" cy="274320"/>
          </a:xfrm>
          <a:prstGeom prst="rect">
            <a:avLst/>
          </a:prstGeom>
          <a:noFill/>
          <a:ln/>
        </p:spPr>
        <p:txBody>
          <a:bodyPr wrap="square" lIns="0" tIns="0" rIns="0" bIns="0" rtlCol="0" anchor="t"/>
          <a:lstStyle/>
          <a:p>
            <a:pPr indent="0" marL="0">
              <a:buNone/>
            </a:pPr>
            <a:r>
              <a:rPr lang="en-US" sz="1200" b="1" spc="100" kern="0" dirty="0">
                <a:solidFill>
                  <a:schemeClr val="accent3"/>
                </a:solidFill>
              </a:rPr>
              <a:t>SEGMENTASI V1 → V2</a:t>
            </a:r>
            <a:endParaRPr lang="en-US" sz="1200" dirty="0"/>
          </a:p>
        </p:txBody>
      </p:sp>
      <p:sp>
        <p:nvSpPr>
          <p:cNvPr id="20" name="Text 17"/>
          <p:cNvSpPr txBox="1"/>
          <p:nvPr/>
        </p:nvSpPr>
        <p:spPr>
          <a:xfrm>
            <a:off x="6355080" y="4389120"/>
            <a:ext cx="5285232" cy="64008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0,55 → 0,89</a:t>
            </a:r>
            <a:endParaRPr lang="en-US" sz="1500" dirty="0"/>
          </a:p>
        </p:txBody>
      </p:sp>
      <p:sp>
        <p:nvSpPr>
          <p:cNvPr id="21" name="Text 18"/>
          <p:cNvSpPr txBox="1"/>
          <p:nvPr/>
        </p:nvSpPr>
        <p:spPr>
          <a:xfrm>
            <a:off x="6355080" y="5120640"/>
            <a:ext cx="5285232" cy="731520"/>
          </a:xfrm>
          <a:prstGeom prst="rect">
            <a:avLst/>
          </a:prstGeom>
          <a:noFill/>
          <a:ln/>
        </p:spPr>
        <p:txBody>
          <a:bodyPr wrap="square" lIns="0" tIns="0" rIns="0" bIns="0" rtlCol="0" anchor="t"/>
          <a:lstStyle/>
          <a:p>
            <a:pPr indent="0" marL="0">
              <a:buNone/>
            </a:pPr>
            <a:r>
              <a:rPr lang="en-US" sz="1400" dirty="0">
                <a:solidFill>
                  <a:schemeClr val="accent6"/>
                </a:solidFill>
              </a:rPr>
              <a:t>Dice pada simulasi foto HP. Validasi resmi v2: 0,83 pada foto asli dan 0,87 pada simulasi foto HP.</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nchor="t"/>
          <a:lstStyle/>
          <a:p>
            <a:pPr indent="0" marL="0">
              <a:buNone/>
            </a:pPr>
            <a:r>
              <a:rPr lang="en-US" sz="1200" b="1" spc="200" kern="0" dirty="0">
                <a:solidFill>
                  <a:schemeClr val="accent4"/>
                </a:solidFill>
              </a:rPr>
              <a:t>DESAIN DAN FUNGSIONALITAS</a:t>
            </a:r>
            <a:endParaRPr lang="en-US" sz="1200" dirty="0"/>
          </a:p>
        </p:txBody>
      </p:sp>
      <p:sp>
        <p:nvSpPr>
          <p:cNvPr id="3" name="Text 1"/>
          <p:cNvSpPr/>
          <p:nvPr>
            <p:ph idx="102" type="title" hasCustomPrompt="1"/>
          </p:nvPr>
        </p:nvSpPr>
        <p:spPr>
          <a:xfrm>
            <a:off x="548640" y="694944"/>
            <a:ext cx="11094415" cy="73152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Dirancang untuk kader, bukan untuk dokter</a:t>
            </a:r>
            <a:endParaRPr lang="en-US" sz="3400" dirty="0"/>
          </a:p>
        </p:txBody>
      </p:sp>
      <p:sp>
        <p:nvSpPr>
          <p:cNvPr id="4" name="Shape 2"/>
          <p:cNvSpPr/>
          <p:nvPr/>
        </p:nvSpPr>
        <p:spPr>
          <a:xfrm>
            <a:off x="548640" y="1691640"/>
            <a:ext cx="603504" cy="603504"/>
          </a:xfrm>
          <a:prstGeom prst="ellipse">
            <a:avLst/>
          </a:prstGeom>
          <a:solidFill>
            <a:schemeClr val="bg2"/>
          </a:solidFill>
          <a:ln w="12700">
            <a:solidFill>
              <a:schemeClr val="bg2"/>
            </a:solidFill>
            <a:prstDash val="solid"/>
          </a:ln>
        </p:spPr>
      </p:sp>
      <p:pic>
        <p:nvPicPr>
          <p:cNvPr id="5" name="Image 0" descr="preencoded.png">    </p:cNvPr>
          <p:cNvPicPr>
            <a:picLocks noChangeAspect="1"/>
          </p:cNvPicPr>
          <p:nvPr/>
        </p:nvPicPr>
        <p:blipFill>
          <a:blip r:embed="rId1"/>
          <a:stretch>
            <a:fillRect/>
          </a:stretch>
        </p:blipFill>
        <p:spPr>
          <a:xfrm>
            <a:off x="705551" y="1848551"/>
            <a:ext cx="289682" cy="289682"/>
          </a:xfrm>
          <a:prstGeom prst="rect">
            <a:avLst/>
          </a:prstGeom>
        </p:spPr>
      </p:pic>
      <p:sp>
        <p:nvSpPr>
          <p:cNvPr id="6" name="Text 3"/>
          <p:cNvSpPr txBox="1"/>
          <p:nvPr/>
        </p:nvSpPr>
        <p:spPr>
          <a:xfrm>
            <a:off x="1353312" y="1673352"/>
            <a:ext cx="5120640" cy="777240"/>
          </a:xfrm>
          <a:prstGeom prst="rect">
            <a:avLst/>
          </a:prstGeom>
          <a:noFill/>
          <a:ln/>
        </p:spPr>
        <p:txBody>
          <a:bodyPr wrap="square" lIns="0" tIns="0" rIns="0" bIns="0" rtlCol="0" anchor="t"/>
          <a:lstStyle/>
          <a:p>
            <a:pPr indent="0" marL="0">
              <a:buNone/>
            </a:pPr>
            <a:r>
              <a:rPr lang="en-US" sz="1700" b="1" dirty="0">
                <a:solidFill>
                  <a:schemeClr val="tx1"/>
                </a:solidFill>
              </a:rPr>
              <a:t>Mobile-first</a:t>
            </a:r>
            <a:endParaRPr lang="en-US" sz="1700" dirty="0"/>
          </a:p>
          <a:p>
            <a:pPr indent="0" marL="0">
              <a:buNone/>
            </a:pPr>
            <a:r>
              <a:rPr lang="en-US" sz="1400" dirty="0">
                <a:solidFill>
                  <a:schemeClr val="tx2"/>
                </a:solidFill>
              </a:rPr>
              <a:t>tombol besar, satu tugas per layar, bahasa sehari-hari</a:t>
            </a:r>
            <a:endParaRPr lang="en-US" sz="1700" dirty="0"/>
          </a:p>
        </p:txBody>
      </p:sp>
      <p:sp>
        <p:nvSpPr>
          <p:cNvPr id="7" name="Shape 4"/>
          <p:cNvSpPr/>
          <p:nvPr/>
        </p:nvSpPr>
        <p:spPr>
          <a:xfrm>
            <a:off x="548640" y="2578608"/>
            <a:ext cx="603504" cy="603504"/>
          </a:xfrm>
          <a:prstGeom prst="ellipse">
            <a:avLst/>
          </a:prstGeom>
          <a:solidFill>
            <a:schemeClr val="bg2"/>
          </a:solidFill>
          <a:ln w="12700">
            <a:solidFill>
              <a:schemeClr val="bg2"/>
            </a:solidFill>
            <a:prstDash val="solid"/>
          </a:ln>
        </p:spPr>
      </p:sp>
      <p:pic>
        <p:nvPicPr>
          <p:cNvPr id="8" name="Image 1" descr="preencoded.png">    </p:cNvPr>
          <p:cNvPicPr>
            <a:picLocks noChangeAspect="1"/>
          </p:cNvPicPr>
          <p:nvPr/>
        </p:nvPicPr>
        <p:blipFill>
          <a:blip r:embed="rId2"/>
          <a:stretch>
            <a:fillRect/>
          </a:stretch>
        </p:blipFill>
        <p:spPr>
          <a:xfrm>
            <a:off x="705551" y="2735519"/>
            <a:ext cx="289682" cy="289682"/>
          </a:xfrm>
          <a:prstGeom prst="rect">
            <a:avLst/>
          </a:prstGeom>
        </p:spPr>
      </p:pic>
      <p:sp>
        <p:nvSpPr>
          <p:cNvPr id="9" name="Text 5"/>
          <p:cNvSpPr txBox="1"/>
          <p:nvPr/>
        </p:nvSpPr>
        <p:spPr>
          <a:xfrm>
            <a:off x="1353312" y="2560320"/>
            <a:ext cx="5120640" cy="777240"/>
          </a:xfrm>
          <a:prstGeom prst="rect">
            <a:avLst/>
          </a:prstGeom>
          <a:noFill/>
          <a:ln/>
        </p:spPr>
        <p:txBody>
          <a:bodyPr wrap="square" lIns="0" tIns="0" rIns="0" bIns="0" rtlCol="0" anchor="t"/>
          <a:lstStyle/>
          <a:p>
            <a:pPr indent="0" marL="0">
              <a:buNone/>
            </a:pPr>
            <a:r>
              <a:rPr lang="en-US" sz="1700" b="1" dirty="0">
                <a:solidFill>
                  <a:schemeClr val="tx1"/>
                </a:solidFill>
              </a:rPr>
              <a:t>Menolak dengan saran</a:t>
            </a:r>
            <a:endParaRPr lang="en-US" sz="1700" dirty="0"/>
          </a:p>
          <a:p>
            <a:pPr indent="0" marL="0">
              <a:buNone/>
            </a:pPr>
            <a:r>
              <a:rPr lang="en-US" sz="1400" dirty="0">
                <a:solidFill>
                  <a:schemeClr val="tx2"/>
                </a:solidFill>
              </a:rPr>
              <a:t>foto buruk ditolak beserta cara memperbaikinya</a:t>
            </a:r>
            <a:endParaRPr lang="en-US" sz="1700" dirty="0"/>
          </a:p>
        </p:txBody>
      </p:sp>
      <p:sp>
        <p:nvSpPr>
          <p:cNvPr id="10" name="Shape 6"/>
          <p:cNvSpPr/>
          <p:nvPr/>
        </p:nvSpPr>
        <p:spPr>
          <a:xfrm>
            <a:off x="548640" y="3465576"/>
            <a:ext cx="603504" cy="603504"/>
          </a:xfrm>
          <a:prstGeom prst="ellipse">
            <a:avLst/>
          </a:prstGeom>
          <a:solidFill>
            <a:schemeClr val="bg2"/>
          </a:solidFill>
          <a:ln w="12700">
            <a:solidFill>
              <a:schemeClr val="bg2"/>
            </a:solidFill>
            <a:prstDash val="solid"/>
          </a:ln>
        </p:spPr>
      </p:sp>
      <p:pic>
        <p:nvPicPr>
          <p:cNvPr id="11" name="Image 2" descr="preencoded.png">    </p:cNvPr>
          <p:cNvPicPr>
            <a:picLocks noChangeAspect="1"/>
          </p:cNvPicPr>
          <p:nvPr/>
        </p:nvPicPr>
        <p:blipFill>
          <a:blip r:embed="rId3"/>
          <a:stretch>
            <a:fillRect/>
          </a:stretch>
        </p:blipFill>
        <p:spPr>
          <a:xfrm>
            <a:off x="705551" y="3622487"/>
            <a:ext cx="289682" cy="289682"/>
          </a:xfrm>
          <a:prstGeom prst="rect">
            <a:avLst/>
          </a:prstGeom>
        </p:spPr>
      </p:pic>
      <p:sp>
        <p:nvSpPr>
          <p:cNvPr id="12" name="Text 7"/>
          <p:cNvSpPr txBox="1"/>
          <p:nvPr/>
        </p:nvSpPr>
        <p:spPr>
          <a:xfrm>
            <a:off x="1353312" y="3447288"/>
            <a:ext cx="5120640" cy="777240"/>
          </a:xfrm>
          <a:prstGeom prst="rect">
            <a:avLst/>
          </a:prstGeom>
          <a:noFill/>
          <a:ln/>
        </p:spPr>
        <p:txBody>
          <a:bodyPr wrap="square" lIns="0" tIns="0" rIns="0" bIns="0" rtlCol="0" anchor="t"/>
          <a:lstStyle/>
          <a:p>
            <a:pPr indent="0" marL="0">
              <a:buNone/>
            </a:pPr>
            <a:r>
              <a:rPr lang="en-US" sz="1700" b="1" dirty="0">
                <a:solidFill>
                  <a:schemeClr val="tx1"/>
                </a:solidFill>
              </a:rPr>
              <a:t>Transparan</a:t>
            </a:r>
            <a:endParaRPr lang="en-US" sz="1700" dirty="0"/>
          </a:p>
          <a:p>
            <a:pPr indent="0" marL="0">
              <a:buNone/>
            </a:pPr>
            <a:r>
              <a:rPr lang="en-US" sz="1400" dirty="0">
                <a:solidFill>
                  <a:schemeClr val="tx2"/>
                </a:solidFill>
              </a:rPr>
              <a:t>area yang dinilai dan suara tiap model selalu terlihat</a:t>
            </a:r>
            <a:endParaRPr lang="en-US" sz="1700" dirty="0"/>
          </a:p>
        </p:txBody>
      </p:sp>
      <p:sp>
        <p:nvSpPr>
          <p:cNvPr id="13" name="Shape 8"/>
          <p:cNvSpPr/>
          <p:nvPr/>
        </p:nvSpPr>
        <p:spPr>
          <a:xfrm>
            <a:off x="548640" y="4352544"/>
            <a:ext cx="603504" cy="603504"/>
          </a:xfrm>
          <a:prstGeom prst="ellipse">
            <a:avLst/>
          </a:prstGeom>
          <a:solidFill>
            <a:schemeClr val="bg2"/>
          </a:solidFill>
          <a:ln w="12700">
            <a:solidFill>
              <a:schemeClr val="bg2"/>
            </a:solidFill>
            <a:prstDash val="solid"/>
          </a:ln>
        </p:spPr>
      </p:sp>
      <p:pic>
        <p:nvPicPr>
          <p:cNvPr id="14" name="Image 3" descr="preencoded.png">    </p:cNvPr>
          <p:cNvPicPr>
            <a:picLocks noChangeAspect="1"/>
          </p:cNvPicPr>
          <p:nvPr/>
        </p:nvPicPr>
        <p:blipFill>
          <a:blip r:embed="rId4"/>
          <a:stretch>
            <a:fillRect/>
          </a:stretch>
        </p:blipFill>
        <p:spPr>
          <a:xfrm>
            <a:off x="705551" y="4509455"/>
            <a:ext cx="289682" cy="289682"/>
          </a:xfrm>
          <a:prstGeom prst="rect">
            <a:avLst/>
          </a:prstGeom>
        </p:spPr>
      </p:pic>
      <p:sp>
        <p:nvSpPr>
          <p:cNvPr id="15" name="Text 9"/>
          <p:cNvSpPr txBox="1"/>
          <p:nvPr/>
        </p:nvSpPr>
        <p:spPr>
          <a:xfrm>
            <a:off x="1353312" y="4334256"/>
            <a:ext cx="5120640" cy="777240"/>
          </a:xfrm>
          <a:prstGeom prst="rect">
            <a:avLst/>
          </a:prstGeom>
          <a:noFill/>
          <a:ln/>
        </p:spPr>
        <p:txBody>
          <a:bodyPr wrap="square" lIns="0" tIns="0" rIns="0" bIns="0" rtlCol="0" anchor="t"/>
          <a:lstStyle/>
          <a:p>
            <a:pPr indent="0" marL="0">
              <a:buNone/>
            </a:pPr>
            <a:r>
              <a:rPr lang="en-US" sz="1700" b="1" dirty="0">
                <a:solidFill>
                  <a:schemeClr val="tx1"/>
                </a:solidFill>
              </a:rPr>
              <a:t>Siap rujuk</a:t>
            </a:r>
            <a:endParaRPr lang="en-US" sz="1700" dirty="0"/>
          </a:p>
          <a:p>
            <a:pPr indent="0" marL="0">
              <a:buNone/>
            </a:pPr>
            <a:r>
              <a:rPr lang="en-US" sz="1400" dirty="0">
                <a:solidFill>
                  <a:schemeClr val="tx2"/>
                </a:solidFill>
              </a:rPr>
              <a:t>surat rujukan PDF untuk dibawa ke puskesmas</a:t>
            </a:r>
            <a:endParaRPr lang="en-US" sz="1700" dirty="0"/>
          </a:p>
        </p:txBody>
      </p:sp>
      <p:sp>
        <p:nvSpPr>
          <p:cNvPr id="16" name="Shape 10"/>
          <p:cNvSpPr/>
          <p:nvPr/>
        </p:nvSpPr>
        <p:spPr>
          <a:xfrm>
            <a:off x="548640" y="5239512"/>
            <a:ext cx="603504" cy="603504"/>
          </a:xfrm>
          <a:prstGeom prst="ellipse">
            <a:avLst/>
          </a:prstGeom>
          <a:solidFill>
            <a:schemeClr val="bg2"/>
          </a:solidFill>
          <a:ln w="12700">
            <a:solidFill>
              <a:schemeClr val="bg2"/>
            </a:solidFill>
            <a:prstDash val="solid"/>
          </a:ln>
        </p:spPr>
      </p:sp>
      <p:pic>
        <p:nvPicPr>
          <p:cNvPr id="17" name="Image 4" descr="preencoded.png">    </p:cNvPr>
          <p:cNvPicPr>
            <a:picLocks noChangeAspect="1"/>
          </p:cNvPicPr>
          <p:nvPr/>
        </p:nvPicPr>
        <p:blipFill>
          <a:blip r:embed="rId5"/>
          <a:stretch>
            <a:fillRect/>
          </a:stretch>
        </p:blipFill>
        <p:spPr>
          <a:xfrm>
            <a:off x="705551" y="5396423"/>
            <a:ext cx="289682" cy="289682"/>
          </a:xfrm>
          <a:prstGeom prst="rect">
            <a:avLst/>
          </a:prstGeom>
        </p:spPr>
      </p:pic>
      <p:sp>
        <p:nvSpPr>
          <p:cNvPr id="18" name="Text 11"/>
          <p:cNvSpPr txBox="1"/>
          <p:nvPr/>
        </p:nvSpPr>
        <p:spPr>
          <a:xfrm>
            <a:off x="1353312" y="5221224"/>
            <a:ext cx="5120640" cy="777240"/>
          </a:xfrm>
          <a:prstGeom prst="rect">
            <a:avLst/>
          </a:prstGeom>
          <a:noFill/>
          <a:ln/>
        </p:spPr>
        <p:txBody>
          <a:bodyPr wrap="square" lIns="0" tIns="0" rIns="0" bIns="0" rtlCol="0" anchor="t"/>
          <a:lstStyle/>
          <a:p>
            <a:pPr indent="0" marL="0">
              <a:buNone/>
            </a:pPr>
            <a:r>
              <a:rPr lang="en-US" sz="1700" b="1" dirty="0">
                <a:solidFill>
                  <a:schemeClr val="tx1"/>
                </a:solidFill>
              </a:rPr>
              <a:t>Privasi</a:t>
            </a:r>
            <a:endParaRPr lang="en-US" sz="1700" dirty="0"/>
          </a:p>
          <a:p>
            <a:pPr indent="0" marL="0">
              <a:buNone/>
            </a:pPr>
            <a:r>
              <a:rPr lang="en-US" sz="1400" dirty="0">
                <a:solidFill>
                  <a:schemeClr val="tx2"/>
                </a:solidFill>
              </a:rPr>
              <a:t>foto tidak disimpan di server</a:t>
            </a:r>
            <a:endParaRPr lang="en-US" sz="1700" dirty="0"/>
          </a:p>
        </p:txBody>
      </p:sp>
      <p:sp>
        <p:nvSpPr>
          <p:cNvPr id="19" name="Shape 12"/>
          <p:cNvSpPr/>
          <p:nvPr/>
        </p:nvSpPr>
        <p:spPr>
          <a:xfrm>
            <a:off x="6675120" y="1645920"/>
            <a:ext cx="4965192" cy="4526280"/>
          </a:xfrm>
          <a:prstGeom prst="roundRect">
            <a:avLst>
              <a:gd name="adj" fmla="val 2828"/>
            </a:avLst>
          </a:prstGeom>
          <a:solidFill>
            <a:schemeClr val="bg2"/>
          </a:solidFill>
          <a:ln w="12700">
            <a:solidFill>
              <a:schemeClr val="bg2"/>
            </a:solidFill>
            <a:prstDash val="solid"/>
          </a:ln>
        </p:spPr>
      </p:sp>
      <p:pic>
        <p:nvPicPr>
          <p:cNvPr id="20" name="Image 5" descr="/home/claude/anemia/doc/img/web_ditolak.png">    </p:cNvPr>
          <p:cNvPicPr>
            <a:picLocks noChangeAspect="1"/>
          </p:cNvPicPr>
          <p:nvPr/>
        </p:nvPicPr>
        <p:blipFill>
          <a:blip r:embed="rId6"/>
          <a:stretch>
            <a:fillRect/>
          </a:stretch>
        </p:blipFill>
        <p:spPr>
          <a:xfrm>
            <a:off x="7031736" y="1783080"/>
            <a:ext cx="4251960" cy="42519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nchor="t"/>
          <a:lstStyle/>
          <a:p>
            <a:pPr indent="0" marL="0">
              <a:buNone/>
            </a:pPr>
            <a:r>
              <a:rPr lang="en-US" sz="1200" b="1" spc="200" kern="0" dirty="0">
                <a:solidFill>
                  <a:schemeClr val="accent4"/>
                </a:solidFill>
              </a:rPr>
              <a:t>LANSKAP KOMPETITOR</a:t>
            </a:r>
            <a:endParaRPr lang="en-US" sz="1200" dirty="0"/>
          </a:p>
        </p:txBody>
      </p:sp>
      <p:sp>
        <p:nvSpPr>
          <p:cNvPr id="3" name="Text 1"/>
          <p:cNvSpPr/>
          <p:nvPr>
            <p:ph idx="102" type="title" hasCustomPrompt="1"/>
          </p:nvPr>
        </p:nvSpPr>
        <p:spPr>
          <a:xfrm>
            <a:off x="548640" y="694944"/>
            <a:ext cx="11094415" cy="73152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Satu-satunya yang cukup dengan HP yang sudah ada</a:t>
            </a:r>
            <a:endParaRPr lang="en-US" sz="3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651760"/>
                <a:gridCol w="1463040"/>
                <a:gridCol w="1828800"/>
                <a:gridCol w="1463040"/>
                <a:gridCol w="1828800"/>
                <a:gridCol w="1856232"/>
              </a:tblGrid>
              <a:tr h="621792">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Solusi</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1F1A2E"/>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Tanpa jarum</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1F1A2E"/>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Tanpa alat tambahan</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1F1A2E"/>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Biaya per tes</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1F1A2E"/>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Objektif</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1F1A2E"/>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Siap untuk desa</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1F1A2E"/>
                    </a:solidFill>
                  </a:tcPr>
                </a:tc>
              </a:tr>
              <a:tr h="621792">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Hemoglobinometer (strip)</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7F1EE"/>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Tidak</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7F1EE"/>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Tidak</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7F1EE"/>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 Rp7.100</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7F1EE"/>
                    </a:solidFill>
                  </a:tcPr>
                </a:tc>
                <a:tc>
                  <a:txBody>
                    <a:bodyPr/>
                    <a:lstStyle/>
                    <a:p>
                      <a:pPr indent="0" marL="0">
                        <a:buNone/>
                      </a:pPr>
                      <a:r>
                        <a:rPr lang="en-US" sz="1400" dirty="0">
                          <a:solidFill>
                            <a:schemeClr val="accent2"/>
                          </a:solidFill>
                          <a:latin typeface="Calibri" pitchFamily="34" charset="0"/>
                          <a:ea typeface="Calibri" pitchFamily="34" charset="-122"/>
                          <a:cs typeface="Calibri" pitchFamily="34" charset="-120"/>
                        </a:rPr>
                        <a:t>Ya</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7F1EE"/>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Terbatas</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7F1EE"/>
                    </a:solidFill>
                  </a:tcPr>
                </a:tc>
              </a:tr>
              <a:tr h="621792">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Oksimetri Hb non-invasif</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FFFFF"/>
                    </a:solidFill>
                  </a:tcPr>
                </a:tc>
                <a:tc>
                  <a:txBody>
                    <a:bodyPr/>
                    <a:lstStyle/>
                    <a:p>
                      <a:pPr indent="0" marL="0">
                        <a:buNone/>
                      </a:pPr>
                      <a:r>
                        <a:rPr lang="en-US" sz="1400" dirty="0">
                          <a:solidFill>
                            <a:schemeClr val="accent2"/>
                          </a:solidFill>
                          <a:latin typeface="Calibri" pitchFamily="34" charset="0"/>
                          <a:ea typeface="Calibri" pitchFamily="34" charset="-122"/>
                          <a:cs typeface="Calibri" pitchFamily="34" charset="-120"/>
                        </a:rPr>
                        <a:t>Ya</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FFFFF"/>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Tidak, alat mahal</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FFFFF"/>
                    </a:solidFill>
                  </a:tcPr>
                </a:tc>
                <a:tc>
                  <a:txBody>
                    <a:bodyPr/>
                    <a:lstStyle/>
                    <a:p>
                      <a:pPr indent="0" marL="0">
                        <a:buNone/>
                      </a:pPr>
                      <a:r>
                        <a:rPr lang="en-US" sz="1400" dirty="0">
                          <a:solidFill>
                            <a:schemeClr val="accent2"/>
                          </a:solidFill>
                          <a:latin typeface="Calibri" pitchFamily="34" charset="0"/>
                          <a:ea typeface="Calibri" pitchFamily="34" charset="-122"/>
                          <a:cs typeface="Calibri" pitchFamily="34" charset="-120"/>
                        </a:rPr>
                        <a:t>Rendah</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FFFFF"/>
                    </a:solidFill>
                  </a:tcPr>
                </a:tc>
                <a:tc>
                  <a:txBody>
                    <a:bodyPr/>
                    <a:lstStyle/>
                    <a:p>
                      <a:pPr indent="0" marL="0">
                        <a:buNone/>
                      </a:pPr>
                      <a:r>
                        <a:rPr lang="en-US" sz="1400" dirty="0">
                          <a:solidFill>
                            <a:schemeClr val="accent2"/>
                          </a:solidFill>
                          <a:latin typeface="Calibri" pitchFamily="34" charset="0"/>
                          <a:ea typeface="Calibri" pitchFamily="34" charset="-122"/>
                          <a:cs typeface="Calibri" pitchFamily="34" charset="-120"/>
                        </a:rPr>
                        <a:t>Ya</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FFFFF"/>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Jarang</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Aplikasi foto kuku</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7F1EE"/>
                    </a:solidFill>
                  </a:tcPr>
                </a:tc>
                <a:tc>
                  <a:txBody>
                    <a:bodyPr/>
                    <a:lstStyle/>
                    <a:p>
                      <a:pPr indent="0" marL="0">
                        <a:buNone/>
                      </a:pPr>
                      <a:r>
                        <a:rPr lang="en-US" sz="1400" dirty="0">
                          <a:solidFill>
                            <a:schemeClr val="accent2"/>
                          </a:solidFill>
                          <a:latin typeface="Calibri" pitchFamily="34" charset="0"/>
                          <a:ea typeface="Calibri" pitchFamily="34" charset="-122"/>
                          <a:cs typeface="Calibri" pitchFamily="34" charset="-120"/>
                        </a:rPr>
                        <a:t>Ya</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7F1EE"/>
                    </a:solidFill>
                  </a:tcPr>
                </a:tc>
                <a:tc>
                  <a:txBody>
                    <a:bodyPr/>
                    <a:lstStyle/>
                    <a:p>
                      <a:pPr indent="0" marL="0">
                        <a:buNone/>
                      </a:pPr>
                      <a:r>
                        <a:rPr lang="en-US" sz="1400" dirty="0">
                          <a:solidFill>
                            <a:schemeClr val="accent2"/>
                          </a:solidFill>
                          <a:latin typeface="Calibri" pitchFamily="34" charset="0"/>
                          <a:ea typeface="Calibri" pitchFamily="34" charset="-122"/>
                          <a:cs typeface="Calibri" pitchFamily="34" charset="-120"/>
                        </a:rPr>
                        <a:t>Ya</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7F1EE"/>
                    </a:solidFill>
                  </a:tcPr>
                </a:tc>
                <a:tc>
                  <a:txBody>
                    <a:bodyPr/>
                    <a:lstStyle/>
                    <a:p>
                      <a:pPr indent="0" marL="0">
                        <a:buNone/>
                      </a:pPr>
                      <a:r>
                        <a:rPr lang="en-US" sz="1400" dirty="0">
                          <a:solidFill>
                            <a:schemeClr val="accent2"/>
                          </a:solidFill>
                          <a:latin typeface="Calibri" pitchFamily="34" charset="0"/>
                          <a:ea typeface="Calibri" pitchFamily="34" charset="-122"/>
                          <a:cs typeface="Calibri" pitchFamily="34" charset="-120"/>
                        </a:rPr>
                        <a:t>Rendah</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7F1EE"/>
                    </a:solidFill>
                  </a:tcPr>
                </a:tc>
                <a:tc>
                  <a:txBody>
                    <a:bodyPr/>
                    <a:lstStyle/>
                    <a:p>
                      <a:pPr indent="0" marL="0">
                        <a:buNone/>
                      </a:pPr>
                      <a:r>
                        <a:rPr lang="en-US" sz="1400" dirty="0">
                          <a:solidFill>
                            <a:schemeClr val="accent2"/>
                          </a:solidFill>
                          <a:latin typeface="Calibri" pitchFamily="34" charset="0"/>
                          <a:ea typeface="Calibri" pitchFamily="34" charset="-122"/>
                          <a:cs typeface="Calibri" pitchFamily="34" charset="-120"/>
                        </a:rPr>
                        <a:t>Ya</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7F1EE"/>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Belum umum di Indonesia</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7F1EE"/>
                    </a:solidFill>
                  </a:tcPr>
                </a:tc>
              </a:tr>
              <a:tr h="621792">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Lihat mata (visual kader)</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FFFFF"/>
                    </a:solidFill>
                  </a:tcPr>
                </a:tc>
                <a:tc>
                  <a:txBody>
                    <a:bodyPr/>
                    <a:lstStyle/>
                    <a:p>
                      <a:pPr indent="0" marL="0">
                        <a:buNone/>
                      </a:pPr>
                      <a:r>
                        <a:rPr lang="en-US" sz="1400" dirty="0">
                          <a:solidFill>
                            <a:schemeClr val="accent2"/>
                          </a:solidFill>
                          <a:latin typeface="Calibri" pitchFamily="34" charset="0"/>
                          <a:ea typeface="Calibri" pitchFamily="34" charset="-122"/>
                          <a:cs typeface="Calibri" pitchFamily="34" charset="-120"/>
                        </a:rPr>
                        <a:t>Ya</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FFFFF"/>
                    </a:solidFill>
                  </a:tcPr>
                </a:tc>
                <a:tc>
                  <a:txBody>
                    <a:bodyPr/>
                    <a:lstStyle/>
                    <a:p>
                      <a:pPr indent="0" marL="0">
                        <a:buNone/>
                      </a:pPr>
                      <a:r>
                        <a:rPr lang="en-US" sz="1400" dirty="0">
                          <a:solidFill>
                            <a:schemeClr val="accent2"/>
                          </a:solidFill>
                          <a:latin typeface="Calibri" pitchFamily="34" charset="0"/>
                          <a:ea typeface="Calibri" pitchFamily="34" charset="-122"/>
                          <a:cs typeface="Calibri" pitchFamily="34" charset="-120"/>
                        </a:rPr>
                        <a:t>Ya</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FFFFF"/>
                    </a:solidFill>
                  </a:tcPr>
                </a:tc>
                <a:tc>
                  <a:txBody>
                    <a:bodyPr/>
                    <a:lstStyle/>
                    <a:p>
                      <a:pPr indent="0" marL="0">
                        <a:buNone/>
                      </a:pPr>
                      <a:r>
                        <a:rPr lang="en-US" sz="1400" dirty="0">
                          <a:solidFill>
                            <a:schemeClr val="accent2"/>
                          </a:solidFill>
                          <a:latin typeface="Calibri" pitchFamily="34" charset="0"/>
                          <a:ea typeface="Calibri" pitchFamily="34" charset="-122"/>
                          <a:cs typeface="Calibri" pitchFamily="34" charset="-120"/>
                        </a:rPr>
                        <a:t>Rp0</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FFFFF"/>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Tidak, subjektif</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FFFFF"/>
                    </a:solidFill>
                  </a:tcPr>
                </a:tc>
                <a:tc>
                  <a:txBody>
                    <a:bodyPr/>
                    <a:lstStyle/>
                    <a:p>
                      <a:pPr indent="0" marL="0">
                        <a:buNone/>
                      </a:pPr>
                      <a:r>
                        <a:rPr lang="en-US" sz="1400" dirty="0">
                          <a:solidFill>
                            <a:schemeClr val="accent2"/>
                          </a:solidFill>
                          <a:latin typeface="Calibri" pitchFamily="34" charset="0"/>
                          <a:ea typeface="Calibri" pitchFamily="34" charset="-122"/>
                          <a:cs typeface="Calibri" pitchFamily="34" charset="-120"/>
                        </a:rPr>
                        <a:t>Ya</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chemeClr val="accent4"/>
                          </a:solidFill>
                          <a:latin typeface="Calibri" pitchFamily="34" charset="0"/>
                          <a:ea typeface="Calibri" pitchFamily="34" charset="-122"/>
                          <a:cs typeface="Calibri" pitchFamily="34" charset="-120"/>
                        </a:rPr>
                        <a:t>AnemiaLens</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DECEE"/>
                    </a:solidFill>
                  </a:tcPr>
                </a:tc>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Ya</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DECEE"/>
                    </a:solidFill>
                  </a:tcPr>
                </a:tc>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Ya, HP biasa</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DECEE"/>
                    </a:solidFill>
                  </a:tcPr>
                </a:tc>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 Rp0</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DECEE"/>
                    </a:solidFill>
                  </a:tcPr>
                </a:tc>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Ya, area ditampilkan</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DECEE"/>
                    </a:solidFill>
                  </a:tcPr>
                </a:tc>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Ya, lewat browser</a:t>
                      </a:r>
                      <a:endParaRPr lang="en-US" sz="1400" dirty="0">
                        <a:latin typeface="Calibri" charset="0"/>
                        <a:ea typeface="Calibri" charset="0"/>
                        <a:cs typeface="Calibri" charset="0"/>
                      </a:endParaRPr>
                    </a:p>
                  </a:txBody>
                  <a:tcPr marL="109728" marR="109728"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DECEE"/>
                    </a:solidFill>
                  </a:tcPr>
                </a:tc>
              </a:tr>
            </a:tbl>
          </a:graphicData>
        </a:graphic>
      </p:graphicFrame>
      <p:sp>
        <p:nvSpPr>
          <p:cNvPr id="5" name="Text 2"/>
          <p:cNvSpPr txBox="1"/>
          <p:nvPr/>
        </p:nvSpPr>
        <p:spPr>
          <a:xfrm>
            <a:off x="548640" y="6053328"/>
            <a:ext cx="11094415" cy="256032"/>
          </a:xfrm>
          <a:prstGeom prst="rect">
            <a:avLst/>
          </a:prstGeom>
          <a:noFill/>
          <a:ln/>
        </p:spPr>
        <p:txBody>
          <a:bodyPr wrap="square" lIns="0" tIns="0" rIns="0" bIns="0" rtlCol="0" anchor="t"/>
          <a:lstStyle/>
          <a:p>
            <a:pPr indent="0" marL="0">
              <a:buNone/>
            </a:pPr>
            <a:r>
              <a:rPr lang="en-US" sz="1000" i="1" dirty="0">
                <a:solidFill>
                  <a:schemeClr val="tx2"/>
                </a:solidFill>
              </a:rPr>
              <a:t>Harga strip: Easy Touch Hb 25 strip Rp178.251 (Medicastore). Contoh aplikasi foto kuku: Sanguina AnemoCheck.</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nchor="t"/>
          <a:lstStyle/>
          <a:p>
            <a:pPr indent="0" marL="0">
              <a:buNone/>
            </a:pPr>
            <a:r>
              <a:rPr lang="en-US" sz="1200" b="1" spc="200" kern="0" dirty="0">
                <a:solidFill>
                  <a:schemeClr val="accent4"/>
                </a:solidFill>
              </a:rPr>
              <a:t>UKURAN PASAR</a:t>
            </a:r>
            <a:endParaRPr lang="en-US" sz="1200" dirty="0"/>
          </a:p>
        </p:txBody>
      </p:sp>
      <p:sp>
        <p:nvSpPr>
          <p:cNvPr id="3" name="Text 1"/>
          <p:cNvSpPr/>
          <p:nvPr>
            <p:ph idx="102" type="title" hasCustomPrompt="1"/>
          </p:nvPr>
        </p:nvSpPr>
        <p:spPr>
          <a:xfrm>
            <a:off x="548640" y="694944"/>
            <a:ext cx="11094415" cy="73152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Pasar yang bisa dijangkau lewat jalur yang sudah ada</a:t>
            </a:r>
            <a:endParaRPr lang="en-US" sz="3400" dirty="0"/>
          </a:p>
        </p:txBody>
      </p:sp>
      <p:sp>
        <p:nvSpPr>
          <p:cNvPr id="4" name="Shape 2"/>
          <p:cNvSpPr/>
          <p:nvPr/>
        </p:nvSpPr>
        <p:spPr>
          <a:xfrm>
            <a:off x="822960" y="1600200"/>
            <a:ext cx="4526280" cy="4526280"/>
          </a:xfrm>
          <a:prstGeom prst="ellipse">
            <a:avLst/>
          </a:prstGeom>
          <a:solidFill>
            <a:schemeClr val="bg2"/>
          </a:solidFill>
          <a:ln w="12700">
            <a:solidFill>
              <a:schemeClr val="bg2"/>
            </a:solidFill>
            <a:prstDash val="solid"/>
          </a:ln>
        </p:spPr>
      </p:sp>
      <p:sp>
        <p:nvSpPr>
          <p:cNvPr id="5" name="Shape 3"/>
          <p:cNvSpPr/>
          <p:nvPr/>
        </p:nvSpPr>
        <p:spPr>
          <a:xfrm>
            <a:off x="1600200" y="2743200"/>
            <a:ext cx="2971800" cy="2971800"/>
          </a:xfrm>
          <a:prstGeom prst="ellipse">
            <a:avLst/>
          </a:prstGeom>
          <a:solidFill>
            <a:srgbClr val="F6C9CF"/>
          </a:solidFill>
          <a:ln w="12700">
            <a:solidFill>
              <a:srgbClr val="F6C9CF"/>
            </a:solidFill>
            <a:prstDash val="solid"/>
          </a:ln>
        </p:spPr>
      </p:sp>
      <p:sp>
        <p:nvSpPr>
          <p:cNvPr id="6" name="Shape 4"/>
          <p:cNvSpPr/>
          <p:nvPr/>
        </p:nvSpPr>
        <p:spPr>
          <a:xfrm>
            <a:off x="2313432" y="3959352"/>
            <a:ext cx="1554480" cy="1554480"/>
          </a:xfrm>
          <a:prstGeom prst="ellipse">
            <a:avLst/>
          </a:prstGeom>
          <a:solidFill>
            <a:schemeClr val="accent1"/>
          </a:solidFill>
          <a:ln w="12700">
            <a:solidFill>
              <a:schemeClr val="accent1"/>
            </a:solidFill>
            <a:prstDash val="solid"/>
          </a:ln>
        </p:spPr>
      </p:sp>
      <p:sp>
        <p:nvSpPr>
          <p:cNvPr id="7" name="Text 5"/>
          <p:cNvSpPr txBox="1"/>
          <p:nvPr/>
        </p:nvSpPr>
        <p:spPr>
          <a:xfrm>
            <a:off x="2194560" y="1920240"/>
            <a:ext cx="1828800" cy="365760"/>
          </a:xfrm>
          <a:prstGeom prst="rect">
            <a:avLst/>
          </a:prstGeom>
          <a:noFill/>
          <a:ln/>
        </p:spPr>
        <p:txBody>
          <a:bodyPr wrap="square" lIns="0" tIns="0" rIns="0" bIns="0" rtlCol="0" anchor="t"/>
          <a:lstStyle/>
          <a:p>
            <a:pPr algn="ctr" indent="0" marL="0">
              <a:buNone/>
            </a:pPr>
            <a:r>
              <a:rPr lang="en-US" sz="1800" b="1" dirty="0">
                <a:solidFill>
                  <a:schemeClr val="tx1"/>
                </a:solidFill>
              </a:rPr>
              <a:t>TAM</a:t>
            </a:r>
            <a:endParaRPr lang="en-US" sz="1800" dirty="0"/>
          </a:p>
        </p:txBody>
      </p:sp>
      <p:sp>
        <p:nvSpPr>
          <p:cNvPr id="8" name="Text 6"/>
          <p:cNvSpPr txBox="1"/>
          <p:nvPr/>
        </p:nvSpPr>
        <p:spPr>
          <a:xfrm>
            <a:off x="2194560" y="3063240"/>
            <a:ext cx="1828800" cy="365760"/>
          </a:xfrm>
          <a:prstGeom prst="rect">
            <a:avLst/>
          </a:prstGeom>
          <a:noFill/>
          <a:ln/>
        </p:spPr>
        <p:txBody>
          <a:bodyPr wrap="square" lIns="0" tIns="0" rIns="0" bIns="0" rtlCol="0" anchor="t"/>
          <a:lstStyle/>
          <a:p>
            <a:pPr algn="ctr" indent="0" marL="0">
              <a:buNone/>
            </a:pPr>
            <a:r>
              <a:rPr lang="en-US" sz="1800" b="1" dirty="0">
                <a:solidFill>
                  <a:schemeClr val="accent4"/>
                </a:solidFill>
              </a:rPr>
              <a:t>SAM</a:t>
            </a:r>
            <a:endParaRPr lang="en-US" sz="1800" dirty="0"/>
          </a:p>
        </p:txBody>
      </p:sp>
      <p:sp>
        <p:nvSpPr>
          <p:cNvPr id="9" name="Text 7"/>
          <p:cNvSpPr txBox="1"/>
          <p:nvPr/>
        </p:nvSpPr>
        <p:spPr>
          <a:xfrm>
            <a:off x="2194560" y="4526280"/>
            <a:ext cx="1828800" cy="365760"/>
          </a:xfrm>
          <a:prstGeom prst="rect">
            <a:avLst/>
          </a:prstGeom>
          <a:noFill/>
          <a:ln/>
        </p:spPr>
        <p:txBody>
          <a:bodyPr wrap="square" lIns="0" tIns="0" rIns="0" bIns="0" rtlCol="0" anchor="t"/>
          <a:lstStyle/>
          <a:p>
            <a:pPr algn="ctr" indent="0" marL="0">
              <a:buNone/>
            </a:pPr>
            <a:r>
              <a:rPr lang="en-US" sz="1800" b="1" dirty="0">
                <a:solidFill>
                  <a:schemeClr val="bg1"/>
                </a:solidFill>
              </a:rPr>
              <a:t>SOM</a:t>
            </a:r>
            <a:endParaRPr lang="en-US" sz="1800" dirty="0"/>
          </a:p>
        </p:txBody>
      </p:sp>
      <p:sp>
        <p:nvSpPr>
          <p:cNvPr id="10" name="Text 8"/>
          <p:cNvSpPr txBox="1"/>
          <p:nvPr/>
        </p:nvSpPr>
        <p:spPr>
          <a:xfrm>
            <a:off x="5852160" y="1691640"/>
            <a:ext cx="5788152" cy="384048"/>
          </a:xfrm>
          <a:prstGeom prst="rect">
            <a:avLst/>
          </a:prstGeom>
          <a:noFill/>
          <a:ln/>
        </p:spPr>
        <p:txBody>
          <a:bodyPr wrap="square" lIns="0" tIns="0" rIns="0" bIns="0" rtlCol="0" anchor="t"/>
          <a:lstStyle/>
          <a:p>
            <a:pPr indent="0" marL="0">
              <a:buNone/>
            </a:pPr>
            <a:r>
              <a:rPr lang="en-US" sz="1900" b="1" dirty="0">
                <a:solidFill>
                  <a:schemeClr val="tx1"/>
                </a:solidFill>
              </a:rPr>
              <a:t>TAM · Rp15,5 miliar per tahun</a:t>
            </a:r>
            <a:endParaRPr lang="en-US" sz="1900" dirty="0"/>
          </a:p>
        </p:txBody>
      </p:sp>
      <p:sp>
        <p:nvSpPr>
          <p:cNvPr id="11" name="Text 9"/>
          <p:cNvSpPr txBox="1"/>
          <p:nvPr/>
        </p:nvSpPr>
        <p:spPr>
          <a:xfrm>
            <a:off x="5852160" y="2103120"/>
            <a:ext cx="5788152" cy="822960"/>
          </a:xfrm>
          <a:prstGeom prst="rect">
            <a:avLst/>
          </a:prstGeom>
          <a:noFill/>
          <a:ln/>
        </p:spPr>
        <p:txBody>
          <a:bodyPr wrap="square" lIns="0" tIns="0" rIns="0" bIns="0" rtlCol="0" anchor="t"/>
          <a:lstStyle/>
          <a:p>
            <a:pPr indent="0" marL="0">
              <a:buNone/>
            </a:pPr>
            <a:r>
              <a:rPr lang="en-US" sz="1400" dirty="0">
                <a:solidFill>
                  <a:schemeClr val="tx2"/>
                </a:solidFill>
              </a:rPr>
              <a:t>10.321 puskesmas di Indonesia × lisensi Rp1,5 juta per tahun. Penerima manfaat: ±4 juta ibu hamil per tahun ditambah remaja putri sekolah.</a:t>
            </a:r>
            <a:endParaRPr lang="en-US" sz="1400" dirty="0"/>
          </a:p>
        </p:txBody>
      </p:sp>
      <p:sp>
        <p:nvSpPr>
          <p:cNvPr id="12" name="Text 10"/>
          <p:cNvSpPr txBox="1"/>
          <p:nvPr/>
        </p:nvSpPr>
        <p:spPr>
          <a:xfrm>
            <a:off x="5852160" y="3063240"/>
            <a:ext cx="5788152" cy="384048"/>
          </a:xfrm>
          <a:prstGeom prst="rect">
            <a:avLst/>
          </a:prstGeom>
          <a:noFill/>
          <a:ln/>
        </p:spPr>
        <p:txBody>
          <a:bodyPr wrap="square" lIns="0" tIns="0" rIns="0" bIns="0" rtlCol="0" anchor="t"/>
          <a:lstStyle/>
          <a:p>
            <a:pPr indent="0" marL="0">
              <a:buNone/>
            </a:pPr>
            <a:r>
              <a:rPr lang="en-US" sz="1900" b="1" dirty="0">
                <a:solidFill>
                  <a:schemeClr val="tx1"/>
                </a:solidFill>
              </a:rPr>
              <a:t>SAM · Rp4,6 miliar per tahun</a:t>
            </a:r>
            <a:endParaRPr lang="en-US" sz="1900" dirty="0"/>
          </a:p>
        </p:txBody>
      </p:sp>
      <p:sp>
        <p:nvSpPr>
          <p:cNvPr id="13" name="Text 11"/>
          <p:cNvSpPr txBox="1"/>
          <p:nvPr/>
        </p:nvSpPr>
        <p:spPr>
          <a:xfrm>
            <a:off x="5852160" y="3474720"/>
            <a:ext cx="5788152" cy="822960"/>
          </a:xfrm>
          <a:prstGeom prst="rect">
            <a:avLst/>
          </a:prstGeom>
          <a:noFill/>
          <a:ln/>
        </p:spPr>
        <p:txBody>
          <a:bodyPr wrap="square" lIns="0" tIns="0" rIns="0" bIns="0" rtlCol="0" anchor="t"/>
          <a:lstStyle/>
          <a:p>
            <a:pPr indent="0" marL="0">
              <a:buNone/>
            </a:pPr>
            <a:r>
              <a:rPr lang="en-US" sz="1400" dirty="0">
                <a:solidFill>
                  <a:schemeClr val="tx2"/>
                </a:solidFill>
              </a:rPr>
              <a:t>±3.100 puskesmas di wilayah kepulauan dan pedalaman (asumsi 30%), sesuai subtema.</a:t>
            </a:r>
            <a:endParaRPr lang="en-US" sz="1400" dirty="0"/>
          </a:p>
        </p:txBody>
      </p:sp>
      <p:sp>
        <p:nvSpPr>
          <p:cNvPr id="14" name="Text 12"/>
          <p:cNvSpPr txBox="1"/>
          <p:nvPr/>
        </p:nvSpPr>
        <p:spPr>
          <a:xfrm>
            <a:off x="5852160" y="4434840"/>
            <a:ext cx="5788152" cy="384048"/>
          </a:xfrm>
          <a:prstGeom prst="rect">
            <a:avLst/>
          </a:prstGeom>
          <a:noFill/>
          <a:ln/>
        </p:spPr>
        <p:txBody>
          <a:bodyPr wrap="square" lIns="0" tIns="0" rIns="0" bIns="0" rtlCol="0" anchor="t"/>
          <a:lstStyle/>
          <a:p>
            <a:pPr indent="0" marL="0">
              <a:buNone/>
            </a:pPr>
            <a:r>
              <a:rPr lang="en-US" sz="1900" b="1" dirty="0">
                <a:solidFill>
                  <a:schemeClr val="accent4"/>
                </a:solidFill>
              </a:rPr>
              <a:t>SOM 3 tahun · Rp375 juta per tahun</a:t>
            </a:r>
            <a:endParaRPr lang="en-US" sz="1900" dirty="0"/>
          </a:p>
        </p:txBody>
      </p:sp>
      <p:sp>
        <p:nvSpPr>
          <p:cNvPr id="15" name="Text 13"/>
          <p:cNvSpPr txBox="1"/>
          <p:nvPr/>
        </p:nvSpPr>
        <p:spPr>
          <a:xfrm>
            <a:off x="5852160" y="4846320"/>
            <a:ext cx="5788152" cy="822960"/>
          </a:xfrm>
          <a:prstGeom prst="rect">
            <a:avLst/>
          </a:prstGeom>
          <a:noFill/>
          <a:ln/>
        </p:spPr>
        <p:txBody>
          <a:bodyPr wrap="square" lIns="0" tIns="0" rIns="0" bIns="0" rtlCol="0" anchor="t"/>
          <a:lstStyle/>
          <a:p>
            <a:pPr indent="0" marL="0">
              <a:buNone/>
            </a:pPr>
            <a:r>
              <a:rPr lang="en-US" sz="1400" dirty="0">
                <a:solidFill>
                  <a:schemeClr val="tx2"/>
                </a:solidFill>
              </a:rPr>
              <a:t>250 puskesmas di ±10 kabupaten mitra pada 2029, belum termasuk pendapatan API dan CSR.</a:t>
            </a:r>
            <a:endParaRPr lang="en-US" sz="1400" dirty="0"/>
          </a:p>
        </p:txBody>
      </p:sp>
      <p:sp>
        <p:nvSpPr>
          <p:cNvPr id="16" name="Text 14"/>
          <p:cNvSpPr txBox="1"/>
          <p:nvPr/>
        </p:nvSpPr>
        <p:spPr>
          <a:xfrm>
            <a:off x="548640" y="6053328"/>
            <a:ext cx="11094415" cy="256032"/>
          </a:xfrm>
          <a:prstGeom prst="rect">
            <a:avLst/>
          </a:prstGeom>
          <a:noFill/>
          <a:ln/>
        </p:spPr>
        <p:txBody>
          <a:bodyPr wrap="square" lIns="0" tIns="0" rIns="0" bIns="0" rtlCol="0" anchor="t"/>
          <a:lstStyle/>
          <a:p>
            <a:pPr indent="0" marL="0">
              <a:buNone/>
            </a:pPr>
            <a:r>
              <a:rPr lang="en-US" sz="1000" i="1" dirty="0">
                <a:solidFill>
                  <a:schemeClr val="tx2"/>
                </a:solidFill>
              </a:rPr>
              <a:t>Jumlah puskesmas: Kemenkes (2022). ±4 juta sasaran ibu hamil: Kemenkes via CNN Indonesia (2021). Harga lisensi dan persentase SAM adalah asumsi tim.</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nchor="t"/>
          <a:lstStyle/>
          <a:p>
            <a:pPr indent="0" marL="0">
              <a:buNone/>
            </a:pPr>
            <a:r>
              <a:rPr lang="en-US" sz="1200" b="1" spc="200" kern="0" dirty="0">
                <a:solidFill>
                  <a:schemeClr val="accent4"/>
                </a:solidFill>
              </a:rPr>
              <a:t>BUSINESS MODEL CANVAS</a:t>
            </a:r>
            <a:endParaRPr lang="en-US" sz="1200" dirty="0"/>
          </a:p>
        </p:txBody>
      </p:sp>
      <p:sp>
        <p:nvSpPr>
          <p:cNvPr id="3" name="Text 1"/>
          <p:cNvSpPr/>
          <p:nvPr>
            <p:ph idx="102" type="title" hasCustomPrompt="1"/>
          </p:nvPr>
        </p:nvSpPr>
        <p:spPr>
          <a:xfrm>
            <a:off x="548640" y="694944"/>
            <a:ext cx="11094415" cy="73152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Model bisnis dalam satu kanvas</a:t>
            </a:r>
            <a:endParaRPr lang="en-US" sz="3400" dirty="0"/>
          </a:p>
        </p:txBody>
      </p:sp>
      <p:sp>
        <p:nvSpPr>
          <p:cNvPr id="4" name="Shape 2"/>
          <p:cNvSpPr/>
          <p:nvPr/>
        </p:nvSpPr>
        <p:spPr>
          <a:xfrm>
            <a:off x="548640" y="1554480"/>
            <a:ext cx="2145731" cy="3246120"/>
          </a:xfrm>
          <a:prstGeom prst="roundRect">
            <a:avLst>
              <a:gd name="adj" fmla="val 3409"/>
            </a:avLst>
          </a:prstGeom>
          <a:solidFill>
            <a:schemeClr val="bg2"/>
          </a:solidFill>
          <a:ln w="12700">
            <a:solidFill>
              <a:schemeClr val="bg2"/>
            </a:solidFill>
            <a:prstDash val="solid"/>
          </a:ln>
        </p:spPr>
      </p:sp>
      <p:sp>
        <p:nvSpPr>
          <p:cNvPr id="5" name="Text 3"/>
          <p:cNvSpPr txBox="1"/>
          <p:nvPr/>
        </p:nvSpPr>
        <p:spPr>
          <a:xfrm>
            <a:off x="676656" y="1645920"/>
            <a:ext cx="1889699" cy="256032"/>
          </a:xfrm>
          <a:prstGeom prst="rect">
            <a:avLst/>
          </a:prstGeom>
          <a:noFill/>
          <a:ln/>
        </p:spPr>
        <p:txBody>
          <a:bodyPr wrap="square" lIns="0" tIns="0" rIns="0" bIns="0" rtlCol="0" anchor="t"/>
          <a:lstStyle/>
          <a:p>
            <a:pPr indent="0" marL="0">
              <a:buNone/>
            </a:pPr>
            <a:r>
              <a:rPr lang="en-US" sz="1100" b="1" spc="100" kern="0" dirty="0">
                <a:solidFill>
                  <a:schemeClr val="accent4"/>
                </a:solidFill>
              </a:rPr>
              <a:t>MITRA KUNCI</a:t>
            </a:r>
            <a:endParaRPr lang="en-US" sz="1100" dirty="0"/>
          </a:p>
        </p:txBody>
      </p:sp>
      <p:sp>
        <p:nvSpPr>
          <p:cNvPr id="6" name="Text 4"/>
          <p:cNvSpPr txBox="1"/>
          <p:nvPr/>
        </p:nvSpPr>
        <p:spPr>
          <a:xfrm>
            <a:off x="658368" y="1938528"/>
            <a:ext cx="1926275" cy="2788920"/>
          </a:xfrm>
          <a:prstGeom prst="rect">
            <a:avLst/>
          </a:prstGeom>
          <a:noFill/>
          <a:ln/>
        </p:spPr>
        <p:txBody>
          <a:bodyPr wrap="square" lIns="0" tIns="0" rIns="0" bIns="0" rtlCol="0" anchor="t"/>
          <a:lstStyle/>
          <a:p>
            <a:pPr marL="127000" indent="-127000">
              <a:spcAft>
                <a:spcPts val="400"/>
              </a:spcAft>
              <a:buSzPct val="100000"/>
              <a:buChar char="•"/>
            </a:pPr>
            <a:r>
              <a:rPr lang="en-US" sz="1300" dirty="0">
                <a:solidFill>
                  <a:schemeClr val="tx1"/>
                </a:solidFill>
              </a:rPr>
              <a:t>Dinas kesehatan &amp; puskesmas</a:t>
            </a:r>
            <a:endParaRPr lang="en-US" sz="1300" dirty="0"/>
          </a:p>
          <a:p>
            <a:pPr marL="127000" indent="-127000">
              <a:spcAft>
                <a:spcPts val="400"/>
              </a:spcAft>
              <a:buSzPct val="100000"/>
              <a:buChar char="•"/>
            </a:pPr>
            <a:r>
              <a:rPr lang="en-US" sz="1300" dirty="0">
                <a:solidFill>
                  <a:schemeClr val="tx1"/>
                </a:solidFill>
              </a:rPr>
              <a:t>Kader posyandu &amp; bidan desa</a:t>
            </a:r>
            <a:endParaRPr lang="en-US" sz="1300" dirty="0"/>
          </a:p>
          <a:p>
            <a:pPr marL="127000" indent="-127000">
              <a:spcAft>
                <a:spcPts val="400"/>
              </a:spcAft>
              <a:buSzPct val="100000"/>
              <a:buChar char="•"/>
            </a:pPr>
            <a:r>
              <a:rPr lang="en-US" sz="1300" dirty="0">
                <a:solidFill>
                  <a:schemeClr val="tx1"/>
                </a:solidFill>
              </a:rPr>
              <a:t>Fakultas kedokteran untuk validasi klinis</a:t>
            </a:r>
            <a:endParaRPr lang="en-US" sz="1300" dirty="0"/>
          </a:p>
          <a:p>
            <a:pPr marL="127000" indent="-127000">
              <a:spcAft>
                <a:spcPts val="400"/>
              </a:spcAft>
              <a:buSzPct val="100000"/>
              <a:buChar char="•"/>
            </a:pPr>
            <a:r>
              <a:rPr lang="en-US" sz="1300" dirty="0">
                <a:solidFill>
                  <a:schemeClr val="tx1"/>
                </a:solidFill>
              </a:rPr>
              <a:t>Mitra CSR &amp; NGO gizi</a:t>
            </a:r>
            <a:endParaRPr lang="en-US" sz="1300" dirty="0"/>
          </a:p>
        </p:txBody>
      </p:sp>
      <p:sp>
        <p:nvSpPr>
          <p:cNvPr id="7" name="Shape 5"/>
          <p:cNvSpPr/>
          <p:nvPr/>
        </p:nvSpPr>
        <p:spPr>
          <a:xfrm>
            <a:off x="2785811" y="1554480"/>
            <a:ext cx="2145731" cy="1577340"/>
          </a:xfrm>
          <a:prstGeom prst="roundRect">
            <a:avLst>
              <a:gd name="adj" fmla="val 4638"/>
            </a:avLst>
          </a:prstGeom>
          <a:solidFill>
            <a:schemeClr val="bg2"/>
          </a:solidFill>
          <a:ln w="12700">
            <a:solidFill>
              <a:schemeClr val="bg2"/>
            </a:solidFill>
            <a:prstDash val="solid"/>
          </a:ln>
        </p:spPr>
      </p:sp>
      <p:sp>
        <p:nvSpPr>
          <p:cNvPr id="8" name="Text 6"/>
          <p:cNvSpPr txBox="1"/>
          <p:nvPr/>
        </p:nvSpPr>
        <p:spPr>
          <a:xfrm>
            <a:off x="2913827" y="1645920"/>
            <a:ext cx="1889699" cy="256032"/>
          </a:xfrm>
          <a:prstGeom prst="rect">
            <a:avLst/>
          </a:prstGeom>
          <a:noFill/>
          <a:ln/>
        </p:spPr>
        <p:txBody>
          <a:bodyPr wrap="square" lIns="0" tIns="0" rIns="0" bIns="0" rtlCol="0" anchor="t"/>
          <a:lstStyle/>
          <a:p>
            <a:pPr indent="0" marL="0">
              <a:buNone/>
            </a:pPr>
            <a:r>
              <a:rPr lang="en-US" sz="1100" b="1" spc="100" kern="0" dirty="0">
                <a:solidFill>
                  <a:schemeClr val="accent4"/>
                </a:solidFill>
              </a:rPr>
              <a:t>AKTIVITAS KUNCI</a:t>
            </a:r>
            <a:endParaRPr lang="en-US" sz="1100" dirty="0"/>
          </a:p>
        </p:txBody>
      </p:sp>
      <p:sp>
        <p:nvSpPr>
          <p:cNvPr id="9" name="Text 7"/>
          <p:cNvSpPr txBox="1"/>
          <p:nvPr/>
        </p:nvSpPr>
        <p:spPr>
          <a:xfrm>
            <a:off x="2895539" y="1938528"/>
            <a:ext cx="1926275" cy="1120140"/>
          </a:xfrm>
          <a:prstGeom prst="rect">
            <a:avLst/>
          </a:prstGeom>
          <a:noFill/>
          <a:ln/>
        </p:spPr>
        <p:txBody>
          <a:bodyPr wrap="square" lIns="0" tIns="0" rIns="0" bIns="0" rtlCol="0" anchor="t"/>
          <a:lstStyle/>
          <a:p>
            <a:pPr marL="127000" indent="-127000">
              <a:spcAft>
                <a:spcPts val="400"/>
              </a:spcAft>
              <a:buSzPct val="100000"/>
              <a:buChar char="•"/>
            </a:pPr>
            <a:r>
              <a:rPr lang="en-US" sz="1300" dirty="0">
                <a:solidFill>
                  <a:schemeClr val="tx1"/>
                </a:solidFill>
              </a:rPr>
              <a:t>Validasi &amp; latih ulang model</a:t>
            </a:r>
            <a:endParaRPr lang="en-US" sz="1300" dirty="0"/>
          </a:p>
          <a:p>
            <a:pPr marL="127000" indent="-127000">
              <a:spcAft>
                <a:spcPts val="400"/>
              </a:spcAft>
              <a:buSzPct val="100000"/>
              <a:buChar char="•"/>
            </a:pPr>
            <a:r>
              <a:rPr lang="en-US" sz="1300" dirty="0">
                <a:solidFill>
                  <a:schemeClr val="tx1"/>
                </a:solidFill>
              </a:rPr>
              <a:t>Pelatihan kader</a:t>
            </a:r>
            <a:endParaRPr lang="en-US" sz="1300" dirty="0"/>
          </a:p>
          <a:p>
            <a:pPr marL="127000" indent="-127000">
              <a:spcAft>
                <a:spcPts val="400"/>
              </a:spcAft>
              <a:buSzPct val="100000"/>
              <a:buChar char="•"/>
            </a:pPr>
            <a:r>
              <a:rPr lang="en-US" sz="1300" dirty="0">
                <a:solidFill>
                  <a:schemeClr val="tx1"/>
                </a:solidFill>
              </a:rPr>
              <a:t>Pengurusan izin edar</a:t>
            </a:r>
            <a:endParaRPr lang="en-US" sz="1300" dirty="0"/>
          </a:p>
        </p:txBody>
      </p:sp>
      <p:sp>
        <p:nvSpPr>
          <p:cNvPr id="10" name="Shape 8"/>
          <p:cNvSpPr/>
          <p:nvPr/>
        </p:nvSpPr>
        <p:spPr>
          <a:xfrm>
            <a:off x="2785811" y="3223260"/>
            <a:ext cx="2145731" cy="1577340"/>
          </a:xfrm>
          <a:prstGeom prst="roundRect">
            <a:avLst>
              <a:gd name="adj" fmla="val 4638"/>
            </a:avLst>
          </a:prstGeom>
          <a:solidFill>
            <a:schemeClr val="bg2"/>
          </a:solidFill>
          <a:ln w="12700">
            <a:solidFill>
              <a:schemeClr val="bg2"/>
            </a:solidFill>
            <a:prstDash val="solid"/>
          </a:ln>
        </p:spPr>
      </p:sp>
      <p:sp>
        <p:nvSpPr>
          <p:cNvPr id="11" name="Text 9"/>
          <p:cNvSpPr txBox="1"/>
          <p:nvPr/>
        </p:nvSpPr>
        <p:spPr>
          <a:xfrm>
            <a:off x="2913827" y="3314700"/>
            <a:ext cx="1889699" cy="256032"/>
          </a:xfrm>
          <a:prstGeom prst="rect">
            <a:avLst/>
          </a:prstGeom>
          <a:noFill/>
          <a:ln/>
        </p:spPr>
        <p:txBody>
          <a:bodyPr wrap="square" lIns="0" tIns="0" rIns="0" bIns="0" rtlCol="0" anchor="t"/>
          <a:lstStyle/>
          <a:p>
            <a:pPr indent="0" marL="0">
              <a:buNone/>
            </a:pPr>
            <a:r>
              <a:rPr lang="en-US" sz="1100" b="1" spc="100" kern="0" dirty="0">
                <a:solidFill>
                  <a:schemeClr val="accent4"/>
                </a:solidFill>
              </a:rPr>
              <a:t>SUMBER DAYA KUNCI</a:t>
            </a:r>
            <a:endParaRPr lang="en-US" sz="1100" dirty="0"/>
          </a:p>
        </p:txBody>
      </p:sp>
      <p:sp>
        <p:nvSpPr>
          <p:cNvPr id="12" name="Text 10"/>
          <p:cNvSpPr txBox="1"/>
          <p:nvPr/>
        </p:nvSpPr>
        <p:spPr>
          <a:xfrm>
            <a:off x="2895539" y="3607308"/>
            <a:ext cx="1926275" cy="1120140"/>
          </a:xfrm>
          <a:prstGeom prst="rect">
            <a:avLst/>
          </a:prstGeom>
          <a:noFill/>
          <a:ln/>
        </p:spPr>
        <p:txBody>
          <a:bodyPr wrap="square" lIns="0" tIns="0" rIns="0" bIns="0" rtlCol="0" anchor="t"/>
          <a:lstStyle/>
          <a:p>
            <a:pPr marL="127000" indent="-127000">
              <a:spcAft>
                <a:spcPts val="400"/>
              </a:spcAft>
              <a:buSzPct val="100000"/>
              <a:buChar char="•"/>
            </a:pPr>
            <a:r>
              <a:rPr lang="en-US" sz="1300" dirty="0">
                <a:solidFill>
                  <a:schemeClr val="tx1"/>
                </a:solidFill>
              </a:rPr>
              <a:t>Model AI terlatih (624 pasien)</a:t>
            </a:r>
            <a:endParaRPr lang="en-US" sz="1300" dirty="0"/>
          </a:p>
          <a:p>
            <a:pPr marL="127000" indent="-127000">
              <a:spcAft>
                <a:spcPts val="400"/>
              </a:spcAft>
              <a:buSzPct val="100000"/>
              <a:buChar char="•"/>
            </a:pPr>
            <a:r>
              <a:rPr lang="en-US" sz="1300" dirty="0">
                <a:solidFill>
                  <a:schemeClr val="tx1"/>
                </a:solidFill>
              </a:rPr>
              <a:t>Tim AI + kesehatan</a:t>
            </a:r>
            <a:endParaRPr lang="en-US" sz="1300" dirty="0"/>
          </a:p>
          <a:p>
            <a:pPr marL="127000" indent="-127000">
              <a:spcAft>
                <a:spcPts val="400"/>
              </a:spcAft>
              <a:buSzPct val="100000"/>
              <a:buChar char="•"/>
            </a:pPr>
            <a:r>
              <a:rPr lang="en-US" sz="1300" dirty="0">
                <a:solidFill>
                  <a:schemeClr val="tx1"/>
                </a:solidFill>
              </a:rPr>
              <a:t>Server CPU murah</a:t>
            </a:r>
            <a:endParaRPr lang="en-US" sz="1300" dirty="0"/>
          </a:p>
        </p:txBody>
      </p:sp>
      <p:sp>
        <p:nvSpPr>
          <p:cNvPr id="13" name="Shape 11"/>
          <p:cNvSpPr/>
          <p:nvPr/>
        </p:nvSpPr>
        <p:spPr>
          <a:xfrm>
            <a:off x="5022982" y="1554480"/>
            <a:ext cx="2145731" cy="3246120"/>
          </a:xfrm>
          <a:prstGeom prst="roundRect">
            <a:avLst>
              <a:gd name="adj" fmla="val 3409"/>
            </a:avLst>
          </a:prstGeom>
          <a:solidFill>
            <a:srgbClr val="1F1A2E"/>
          </a:solidFill>
          <a:ln w="12700">
            <a:solidFill>
              <a:srgbClr val="1F1A2E"/>
            </a:solidFill>
            <a:prstDash val="solid"/>
          </a:ln>
        </p:spPr>
      </p:sp>
      <p:sp>
        <p:nvSpPr>
          <p:cNvPr id="14" name="Text 12"/>
          <p:cNvSpPr txBox="1"/>
          <p:nvPr/>
        </p:nvSpPr>
        <p:spPr>
          <a:xfrm>
            <a:off x="5150998" y="1645920"/>
            <a:ext cx="1889699" cy="256032"/>
          </a:xfrm>
          <a:prstGeom prst="rect">
            <a:avLst/>
          </a:prstGeom>
          <a:noFill/>
          <a:ln/>
        </p:spPr>
        <p:txBody>
          <a:bodyPr wrap="square" lIns="0" tIns="0" rIns="0" bIns="0" rtlCol="0" anchor="t"/>
          <a:lstStyle/>
          <a:p>
            <a:pPr indent="0" marL="0">
              <a:buNone/>
            </a:pPr>
            <a:r>
              <a:rPr lang="en-US" sz="1100" b="1" spc="100" kern="0" dirty="0">
                <a:solidFill>
                  <a:schemeClr val="accent3"/>
                </a:solidFill>
              </a:rPr>
              <a:t>PROPOSISI NILAI</a:t>
            </a:r>
            <a:endParaRPr lang="en-US" sz="1100" dirty="0"/>
          </a:p>
        </p:txBody>
      </p:sp>
      <p:sp>
        <p:nvSpPr>
          <p:cNvPr id="15" name="Text 13"/>
          <p:cNvSpPr txBox="1"/>
          <p:nvPr/>
        </p:nvSpPr>
        <p:spPr>
          <a:xfrm>
            <a:off x="5132710" y="1938528"/>
            <a:ext cx="1926275" cy="2788920"/>
          </a:xfrm>
          <a:prstGeom prst="rect">
            <a:avLst/>
          </a:prstGeom>
          <a:noFill/>
          <a:ln/>
        </p:spPr>
        <p:txBody>
          <a:bodyPr wrap="square" lIns="0" tIns="0" rIns="0" bIns="0" rtlCol="0" anchor="t"/>
          <a:lstStyle/>
          <a:p>
            <a:pPr marL="127000" indent="-127000">
              <a:spcAft>
                <a:spcPts val="400"/>
              </a:spcAft>
              <a:buSzPct val="100000"/>
              <a:buChar char="•"/>
            </a:pPr>
            <a:r>
              <a:rPr lang="en-US" sz="1300" dirty="0">
                <a:solidFill>
                  <a:schemeClr val="bg1"/>
                </a:solidFill>
              </a:rPr>
              <a:t>Skrining anemia tanpa jarum dari foto mata</a:t>
            </a:r>
            <a:endParaRPr lang="en-US" sz="1300" dirty="0"/>
          </a:p>
          <a:p>
            <a:pPr marL="127000" indent="-127000">
              <a:spcAft>
                <a:spcPts val="400"/>
              </a:spcAft>
              <a:buSzPct val="100000"/>
              <a:buChar char="•"/>
            </a:pPr>
            <a:r>
              <a:rPr lang="en-US" sz="1300" dirty="0">
                <a:solidFill>
                  <a:schemeClr val="bg1"/>
                </a:solidFill>
              </a:rPr>
              <a:t>Cukup HP yang sudah ada</a:t>
            </a:r>
            <a:endParaRPr lang="en-US" sz="1300" dirty="0"/>
          </a:p>
          <a:p>
            <a:pPr marL="127000" indent="-127000">
              <a:spcAft>
                <a:spcPts val="400"/>
              </a:spcAft>
              <a:buSzPct val="100000"/>
              <a:buChar char="•"/>
            </a:pPr>
            <a:r>
              <a:rPr lang="en-US" sz="1300" dirty="0">
                <a:solidFill>
                  <a:schemeClr val="bg1"/>
                </a:solidFill>
              </a:rPr>
              <a:t>Biaya per tes ≈ Rp0</a:t>
            </a:r>
            <a:endParaRPr lang="en-US" sz="1300" dirty="0"/>
          </a:p>
          <a:p>
            <a:pPr marL="127000" indent="-127000">
              <a:spcAft>
                <a:spcPts val="400"/>
              </a:spcAft>
              <a:buSzPct val="100000"/>
              <a:buChar char="•"/>
            </a:pPr>
            <a:r>
              <a:rPr lang="en-US" sz="1300" dirty="0">
                <a:solidFill>
                  <a:schemeClr val="bg1"/>
                </a:solidFill>
              </a:rPr>
              <a:t>Rujukan lebih tepat sasaran</a:t>
            </a:r>
            <a:endParaRPr lang="en-US" sz="1300" dirty="0"/>
          </a:p>
          <a:p>
            <a:pPr marL="127000" indent="-127000">
              <a:spcAft>
                <a:spcPts val="400"/>
              </a:spcAft>
              <a:buSzPct val="100000"/>
              <a:buChar char="•"/>
            </a:pPr>
            <a:r>
              <a:rPr lang="en-US" sz="1300" dirty="0">
                <a:solidFill>
                  <a:schemeClr val="bg1"/>
                </a:solidFill>
              </a:rPr>
              <a:t>Data skrining per wilayah</a:t>
            </a:r>
            <a:endParaRPr lang="en-US" sz="1300" dirty="0"/>
          </a:p>
        </p:txBody>
      </p:sp>
      <p:sp>
        <p:nvSpPr>
          <p:cNvPr id="16" name="Shape 14"/>
          <p:cNvSpPr/>
          <p:nvPr/>
        </p:nvSpPr>
        <p:spPr>
          <a:xfrm>
            <a:off x="7260153" y="1554480"/>
            <a:ext cx="2145731" cy="1577340"/>
          </a:xfrm>
          <a:prstGeom prst="roundRect">
            <a:avLst>
              <a:gd name="adj" fmla="val 4638"/>
            </a:avLst>
          </a:prstGeom>
          <a:solidFill>
            <a:schemeClr val="bg2"/>
          </a:solidFill>
          <a:ln w="12700">
            <a:solidFill>
              <a:schemeClr val="bg2"/>
            </a:solidFill>
            <a:prstDash val="solid"/>
          </a:ln>
        </p:spPr>
      </p:sp>
      <p:sp>
        <p:nvSpPr>
          <p:cNvPr id="17" name="Text 15"/>
          <p:cNvSpPr txBox="1"/>
          <p:nvPr/>
        </p:nvSpPr>
        <p:spPr>
          <a:xfrm>
            <a:off x="7388169" y="1645920"/>
            <a:ext cx="1889699" cy="256032"/>
          </a:xfrm>
          <a:prstGeom prst="rect">
            <a:avLst/>
          </a:prstGeom>
          <a:noFill/>
          <a:ln/>
        </p:spPr>
        <p:txBody>
          <a:bodyPr wrap="square" lIns="0" tIns="0" rIns="0" bIns="0" rtlCol="0" anchor="t"/>
          <a:lstStyle/>
          <a:p>
            <a:pPr indent="0" marL="0">
              <a:buNone/>
            </a:pPr>
            <a:r>
              <a:rPr lang="en-US" sz="1100" b="1" spc="100" kern="0" dirty="0">
                <a:solidFill>
                  <a:schemeClr val="accent4"/>
                </a:solidFill>
              </a:rPr>
              <a:t>HUBUNGAN PELANGGAN</a:t>
            </a:r>
            <a:endParaRPr lang="en-US" sz="1100" dirty="0"/>
          </a:p>
        </p:txBody>
      </p:sp>
      <p:sp>
        <p:nvSpPr>
          <p:cNvPr id="18" name="Text 16"/>
          <p:cNvSpPr txBox="1"/>
          <p:nvPr/>
        </p:nvSpPr>
        <p:spPr>
          <a:xfrm>
            <a:off x="7369881" y="1938528"/>
            <a:ext cx="1926275" cy="1120140"/>
          </a:xfrm>
          <a:prstGeom prst="rect">
            <a:avLst/>
          </a:prstGeom>
          <a:noFill/>
          <a:ln/>
        </p:spPr>
        <p:txBody>
          <a:bodyPr wrap="square" lIns="0" tIns="0" rIns="0" bIns="0" rtlCol="0" anchor="t"/>
          <a:lstStyle/>
          <a:p>
            <a:pPr marL="127000" indent="-127000">
              <a:spcAft>
                <a:spcPts val="400"/>
              </a:spcAft>
              <a:buSzPct val="100000"/>
              <a:buChar char="•"/>
            </a:pPr>
            <a:r>
              <a:rPr lang="en-US" sz="1300" dirty="0">
                <a:solidFill>
                  <a:schemeClr val="tx1"/>
                </a:solidFill>
              </a:rPr>
              <a:t>Pendampingan kader</a:t>
            </a:r>
            <a:endParaRPr lang="en-US" sz="1300" dirty="0"/>
          </a:p>
          <a:p>
            <a:pPr marL="127000" indent="-127000">
              <a:spcAft>
                <a:spcPts val="400"/>
              </a:spcAft>
              <a:buSzPct val="100000"/>
              <a:buChar char="•"/>
            </a:pPr>
            <a:r>
              <a:rPr lang="en-US" sz="1300" dirty="0">
                <a:solidFill>
                  <a:schemeClr val="tx1"/>
                </a:solidFill>
              </a:rPr>
              <a:t>Dasbor &amp; laporan rutin</a:t>
            </a:r>
            <a:endParaRPr lang="en-US" sz="1300" dirty="0"/>
          </a:p>
          <a:p>
            <a:pPr marL="127000" indent="-127000">
              <a:spcAft>
                <a:spcPts val="400"/>
              </a:spcAft>
              <a:buSzPct val="100000"/>
              <a:buChar char="•"/>
            </a:pPr>
            <a:r>
              <a:rPr lang="en-US" sz="1300" dirty="0">
                <a:solidFill>
                  <a:schemeClr val="tx1"/>
                </a:solidFill>
              </a:rPr>
              <a:t>Komunitas kader</a:t>
            </a:r>
            <a:endParaRPr lang="en-US" sz="1300" dirty="0"/>
          </a:p>
        </p:txBody>
      </p:sp>
      <p:sp>
        <p:nvSpPr>
          <p:cNvPr id="19" name="Shape 17"/>
          <p:cNvSpPr/>
          <p:nvPr/>
        </p:nvSpPr>
        <p:spPr>
          <a:xfrm>
            <a:off x="7260153" y="3223260"/>
            <a:ext cx="2145731" cy="1577340"/>
          </a:xfrm>
          <a:prstGeom prst="roundRect">
            <a:avLst>
              <a:gd name="adj" fmla="val 4638"/>
            </a:avLst>
          </a:prstGeom>
          <a:solidFill>
            <a:schemeClr val="bg2"/>
          </a:solidFill>
          <a:ln w="12700">
            <a:solidFill>
              <a:schemeClr val="bg2"/>
            </a:solidFill>
            <a:prstDash val="solid"/>
          </a:ln>
        </p:spPr>
      </p:sp>
      <p:sp>
        <p:nvSpPr>
          <p:cNvPr id="20" name="Text 18"/>
          <p:cNvSpPr txBox="1"/>
          <p:nvPr/>
        </p:nvSpPr>
        <p:spPr>
          <a:xfrm>
            <a:off x="7388169" y="3314700"/>
            <a:ext cx="1889699" cy="256032"/>
          </a:xfrm>
          <a:prstGeom prst="rect">
            <a:avLst/>
          </a:prstGeom>
          <a:noFill/>
          <a:ln/>
        </p:spPr>
        <p:txBody>
          <a:bodyPr wrap="square" lIns="0" tIns="0" rIns="0" bIns="0" rtlCol="0" anchor="t"/>
          <a:lstStyle/>
          <a:p>
            <a:pPr indent="0" marL="0">
              <a:buNone/>
            </a:pPr>
            <a:r>
              <a:rPr lang="en-US" sz="1100" b="1" spc="100" kern="0" dirty="0">
                <a:solidFill>
                  <a:schemeClr val="accent4"/>
                </a:solidFill>
              </a:rPr>
              <a:t>SALURAN</a:t>
            </a:r>
            <a:endParaRPr lang="en-US" sz="1100" dirty="0"/>
          </a:p>
        </p:txBody>
      </p:sp>
      <p:sp>
        <p:nvSpPr>
          <p:cNvPr id="21" name="Text 19"/>
          <p:cNvSpPr txBox="1"/>
          <p:nvPr/>
        </p:nvSpPr>
        <p:spPr>
          <a:xfrm>
            <a:off x="7369881" y="3607308"/>
            <a:ext cx="1926275" cy="1120140"/>
          </a:xfrm>
          <a:prstGeom prst="rect">
            <a:avLst/>
          </a:prstGeom>
          <a:noFill/>
          <a:ln/>
        </p:spPr>
        <p:txBody>
          <a:bodyPr wrap="square" lIns="0" tIns="0" rIns="0" bIns="0" rtlCol="0" anchor="t"/>
          <a:lstStyle/>
          <a:p>
            <a:pPr marL="127000" indent="-127000">
              <a:spcAft>
                <a:spcPts val="400"/>
              </a:spcAft>
              <a:buSzPct val="100000"/>
              <a:buChar char="•"/>
            </a:pPr>
            <a:r>
              <a:rPr lang="en-US" sz="1300" dirty="0">
                <a:solidFill>
                  <a:schemeClr val="tx1"/>
                </a:solidFill>
              </a:rPr>
              <a:t>Web di browser HP</a:t>
            </a:r>
            <a:endParaRPr lang="en-US" sz="1300" dirty="0"/>
          </a:p>
          <a:p>
            <a:pPr marL="127000" indent="-127000">
              <a:spcAft>
                <a:spcPts val="400"/>
              </a:spcAft>
              <a:buSzPct val="100000"/>
              <a:buChar char="•"/>
            </a:pPr>
            <a:r>
              <a:rPr lang="en-US" sz="1300" dirty="0">
                <a:solidFill>
                  <a:schemeClr val="tx1"/>
                </a:solidFill>
              </a:rPr>
              <a:t>Dinkes → puskesmas → posyandu</a:t>
            </a:r>
            <a:endParaRPr lang="en-US" sz="1300" dirty="0"/>
          </a:p>
          <a:p>
            <a:pPr marL="127000" indent="-127000">
              <a:spcAft>
                <a:spcPts val="400"/>
              </a:spcAft>
              <a:buSzPct val="100000"/>
              <a:buChar char="•"/>
            </a:pPr>
            <a:r>
              <a:rPr lang="en-US" sz="1300" dirty="0">
                <a:solidFill>
                  <a:schemeClr val="tx1"/>
                </a:solidFill>
              </a:rPr>
              <a:t>Program sekolah (UKS)</a:t>
            </a:r>
            <a:endParaRPr lang="en-US" sz="1300" dirty="0"/>
          </a:p>
        </p:txBody>
      </p:sp>
      <p:sp>
        <p:nvSpPr>
          <p:cNvPr id="22" name="Shape 20"/>
          <p:cNvSpPr/>
          <p:nvPr/>
        </p:nvSpPr>
        <p:spPr>
          <a:xfrm>
            <a:off x="9497324" y="1554480"/>
            <a:ext cx="2145731" cy="3246120"/>
          </a:xfrm>
          <a:prstGeom prst="roundRect">
            <a:avLst>
              <a:gd name="adj" fmla="val 3409"/>
            </a:avLst>
          </a:prstGeom>
          <a:solidFill>
            <a:schemeClr val="bg2"/>
          </a:solidFill>
          <a:ln w="12700">
            <a:solidFill>
              <a:schemeClr val="bg2"/>
            </a:solidFill>
            <a:prstDash val="solid"/>
          </a:ln>
        </p:spPr>
      </p:sp>
      <p:sp>
        <p:nvSpPr>
          <p:cNvPr id="23" name="Text 21"/>
          <p:cNvSpPr txBox="1"/>
          <p:nvPr/>
        </p:nvSpPr>
        <p:spPr>
          <a:xfrm>
            <a:off x="9625340" y="1645920"/>
            <a:ext cx="1889699" cy="256032"/>
          </a:xfrm>
          <a:prstGeom prst="rect">
            <a:avLst/>
          </a:prstGeom>
          <a:noFill/>
          <a:ln/>
        </p:spPr>
        <p:txBody>
          <a:bodyPr wrap="square" lIns="0" tIns="0" rIns="0" bIns="0" rtlCol="0" anchor="t"/>
          <a:lstStyle/>
          <a:p>
            <a:pPr indent="0" marL="0">
              <a:buNone/>
            </a:pPr>
            <a:r>
              <a:rPr lang="en-US" sz="1100" b="1" spc="100" kern="0" dirty="0">
                <a:solidFill>
                  <a:schemeClr val="accent4"/>
                </a:solidFill>
              </a:rPr>
              <a:t>SEGMEN PELANGGAN</a:t>
            </a:r>
            <a:endParaRPr lang="en-US" sz="1100" dirty="0"/>
          </a:p>
        </p:txBody>
      </p:sp>
      <p:sp>
        <p:nvSpPr>
          <p:cNvPr id="24" name="Text 22"/>
          <p:cNvSpPr txBox="1"/>
          <p:nvPr/>
        </p:nvSpPr>
        <p:spPr>
          <a:xfrm>
            <a:off x="9607052" y="1938528"/>
            <a:ext cx="1926275" cy="2788920"/>
          </a:xfrm>
          <a:prstGeom prst="rect">
            <a:avLst/>
          </a:prstGeom>
          <a:noFill/>
          <a:ln/>
        </p:spPr>
        <p:txBody>
          <a:bodyPr wrap="square" lIns="0" tIns="0" rIns="0" bIns="0" rtlCol="0" anchor="t"/>
          <a:lstStyle/>
          <a:p>
            <a:pPr marL="127000" indent="-127000">
              <a:spcAft>
                <a:spcPts val="400"/>
              </a:spcAft>
              <a:buSzPct val="100000"/>
              <a:buChar char="•"/>
            </a:pPr>
            <a:r>
              <a:rPr lang="en-US" sz="1300" dirty="0">
                <a:solidFill>
                  <a:schemeClr val="tx1"/>
                </a:solidFill>
              </a:rPr>
              <a:t>Pengguna: kader, ibu hamil, remaja putri</a:t>
            </a:r>
            <a:endParaRPr lang="en-US" sz="1300" dirty="0"/>
          </a:p>
          <a:p>
            <a:pPr marL="127000" indent="-127000">
              <a:spcAft>
                <a:spcPts val="400"/>
              </a:spcAft>
              <a:buSzPct val="100000"/>
              <a:buChar char="•"/>
            </a:pPr>
            <a:r>
              <a:rPr lang="en-US" sz="1300" dirty="0">
                <a:solidFill>
                  <a:schemeClr val="tx1"/>
                </a:solidFill>
              </a:rPr>
              <a:t>Pembayar: dinkes &amp; puskesmas</a:t>
            </a:r>
            <a:endParaRPr lang="en-US" sz="1300" dirty="0"/>
          </a:p>
          <a:p>
            <a:pPr marL="127000" indent="-127000">
              <a:spcAft>
                <a:spcPts val="400"/>
              </a:spcAft>
              <a:buSzPct val="100000"/>
              <a:buChar char="•"/>
            </a:pPr>
            <a:r>
              <a:rPr lang="en-US" sz="1300" dirty="0">
                <a:solidFill>
                  <a:schemeClr val="tx1"/>
                </a:solidFill>
              </a:rPr>
              <a:t>Sponsor: CSR &amp; NGO</a:t>
            </a:r>
            <a:endParaRPr lang="en-US" sz="1300" dirty="0"/>
          </a:p>
          <a:p>
            <a:pPr marL="127000" indent="-127000">
              <a:spcAft>
                <a:spcPts val="400"/>
              </a:spcAft>
              <a:buSzPct val="100000"/>
              <a:buChar char="•"/>
            </a:pPr>
            <a:r>
              <a:rPr lang="en-US" sz="1300" dirty="0">
                <a:solidFill>
                  <a:schemeClr val="tx1"/>
                </a:solidFill>
              </a:rPr>
              <a:t>B2B: klinik, apotek, aplikasi kesehatan</a:t>
            </a:r>
            <a:endParaRPr lang="en-US" sz="1300" dirty="0"/>
          </a:p>
        </p:txBody>
      </p:sp>
      <p:sp>
        <p:nvSpPr>
          <p:cNvPr id="25" name="Shape 23"/>
          <p:cNvSpPr/>
          <p:nvPr/>
        </p:nvSpPr>
        <p:spPr>
          <a:xfrm>
            <a:off x="548640" y="4892040"/>
            <a:ext cx="5501488" cy="1234440"/>
          </a:xfrm>
          <a:prstGeom prst="roundRect">
            <a:avLst>
              <a:gd name="adj" fmla="val 5926"/>
            </a:avLst>
          </a:prstGeom>
          <a:solidFill>
            <a:schemeClr val="bg2"/>
          </a:solidFill>
          <a:ln w="12700">
            <a:solidFill>
              <a:schemeClr val="bg2"/>
            </a:solidFill>
            <a:prstDash val="solid"/>
          </a:ln>
        </p:spPr>
      </p:sp>
      <p:sp>
        <p:nvSpPr>
          <p:cNvPr id="26" name="Text 24"/>
          <p:cNvSpPr txBox="1"/>
          <p:nvPr/>
        </p:nvSpPr>
        <p:spPr>
          <a:xfrm>
            <a:off x="676656" y="4983480"/>
            <a:ext cx="5245456" cy="256032"/>
          </a:xfrm>
          <a:prstGeom prst="rect">
            <a:avLst/>
          </a:prstGeom>
          <a:noFill/>
          <a:ln/>
        </p:spPr>
        <p:txBody>
          <a:bodyPr wrap="square" lIns="0" tIns="0" rIns="0" bIns="0" rtlCol="0" anchor="t"/>
          <a:lstStyle/>
          <a:p>
            <a:pPr indent="0" marL="0">
              <a:buNone/>
            </a:pPr>
            <a:r>
              <a:rPr lang="en-US" sz="1100" b="1" spc="100" kern="0" dirty="0">
                <a:solidFill>
                  <a:schemeClr val="accent4"/>
                </a:solidFill>
              </a:rPr>
              <a:t>STRUKTUR BIAYA</a:t>
            </a:r>
            <a:endParaRPr lang="en-US" sz="1100" dirty="0"/>
          </a:p>
        </p:txBody>
      </p:sp>
      <p:sp>
        <p:nvSpPr>
          <p:cNvPr id="27" name="Text 25"/>
          <p:cNvSpPr txBox="1"/>
          <p:nvPr/>
        </p:nvSpPr>
        <p:spPr>
          <a:xfrm>
            <a:off x="658368" y="5276088"/>
            <a:ext cx="5282032" cy="777240"/>
          </a:xfrm>
          <a:prstGeom prst="rect">
            <a:avLst/>
          </a:prstGeom>
          <a:noFill/>
          <a:ln/>
        </p:spPr>
        <p:txBody>
          <a:bodyPr wrap="square" lIns="0" tIns="0" rIns="0" bIns="0" rtlCol="0" anchor="t"/>
          <a:lstStyle/>
          <a:p>
            <a:pPr marL="127000" indent="-127000">
              <a:spcAft>
                <a:spcPts val="400"/>
              </a:spcAft>
              <a:buSzPct val="100000"/>
              <a:buChar char="•"/>
            </a:pPr>
            <a:r>
              <a:rPr lang="en-US" sz="1300" dirty="0">
                <a:solidFill>
                  <a:schemeClr val="tx1"/>
                </a:solidFill>
              </a:rPr>
              <a:t>Server, domain, dan pemeliharaan</a:t>
            </a:r>
            <a:endParaRPr lang="en-US" sz="1300" dirty="0"/>
          </a:p>
          <a:p>
            <a:pPr marL="127000" indent="-127000">
              <a:spcAft>
                <a:spcPts val="400"/>
              </a:spcAft>
              <a:buSzPct val="100000"/>
              <a:buChar char="•"/>
            </a:pPr>
            <a:r>
              <a:rPr lang="en-US" sz="1300" dirty="0">
                <a:solidFill>
                  <a:schemeClr val="tx1"/>
                </a:solidFill>
              </a:rPr>
              <a:t>Validasi klinis dan izin edar</a:t>
            </a:r>
            <a:endParaRPr lang="en-US" sz="1300" dirty="0"/>
          </a:p>
          <a:p>
            <a:pPr marL="127000" indent="-127000">
              <a:spcAft>
                <a:spcPts val="400"/>
              </a:spcAft>
              <a:buSzPct val="100000"/>
              <a:buChar char="•"/>
            </a:pPr>
            <a:r>
              <a:rPr lang="en-US" sz="1300" dirty="0">
                <a:solidFill>
                  <a:schemeClr val="tx1"/>
                </a:solidFill>
              </a:rPr>
              <a:t>Pelatihan lapangan dan tim</a:t>
            </a:r>
            <a:endParaRPr lang="en-US" sz="1300" dirty="0"/>
          </a:p>
        </p:txBody>
      </p:sp>
      <p:sp>
        <p:nvSpPr>
          <p:cNvPr id="28" name="Shape 26"/>
          <p:cNvSpPr/>
          <p:nvPr/>
        </p:nvSpPr>
        <p:spPr>
          <a:xfrm>
            <a:off x="6141568" y="4892040"/>
            <a:ext cx="5501488" cy="1234440"/>
          </a:xfrm>
          <a:prstGeom prst="roundRect">
            <a:avLst>
              <a:gd name="adj" fmla="val 5926"/>
            </a:avLst>
          </a:prstGeom>
          <a:solidFill>
            <a:schemeClr val="bg2"/>
          </a:solidFill>
          <a:ln w="12700">
            <a:solidFill>
              <a:schemeClr val="bg2"/>
            </a:solidFill>
            <a:prstDash val="solid"/>
          </a:ln>
        </p:spPr>
      </p:sp>
      <p:sp>
        <p:nvSpPr>
          <p:cNvPr id="29" name="Text 27"/>
          <p:cNvSpPr txBox="1"/>
          <p:nvPr/>
        </p:nvSpPr>
        <p:spPr>
          <a:xfrm>
            <a:off x="6269584" y="4983480"/>
            <a:ext cx="5245456" cy="256032"/>
          </a:xfrm>
          <a:prstGeom prst="rect">
            <a:avLst/>
          </a:prstGeom>
          <a:noFill/>
          <a:ln/>
        </p:spPr>
        <p:txBody>
          <a:bodyPr wrap="square" lIns="0" tIns="0" rIns="0" bIns="0" rtlCol="0" anchor="t"/>
          <a:lstStyle/>
          <a:p>
            <a:pPr indent="0" marL="0">
              <a:buNone/>
            </a:pPr>
            <a:r>
              <a:rPr lang="en-US" sz="1100" b="1" spc="100" kern="0" dirty="0">
                <a:solidFill>
                  <a:schemeClr val="accent4"/>
                </a:solidFill>
              </a:rPr>
              <a:t>ARUS PENDAPATAN</a:t>
            </a:r>
            <a:endParaRPr lang="en-US" sz="1100" dirty="0"/>
          </a:p>
        </p:txBody>
      </p:sp>
      <p:sp>
        <p:nvSpPr>
          <p:cNvPr id="30" name="Text 28"/>
          <p:cNvSpPr txBox="1"/>
          <p:nvPr/>
        </p:nvSpPr>
        <p:spPr>
          <a:xfrm>
            <a:off x="6251296" y="5276088"/>
            <a:ext cx="5282032" cy="777240"/>
          </a:xfrm>
          <a:prstGeom prst="rect">
            <a:avLst/>
          </a:prstGeom>
          <a:noFill/>
          <a:ln/>
        </p:spPr>
        <p:txBody>
          <a:bodyPr wrap="square" lIns="0" tIns="0" rIns="0" bIns="0" rtlCol="0" anchor="t"/>
          <a:lstStyle/>
          <a:p>
            <a:pPr marL="127000" indent="-127000">
              <a:spcAft>
                <a:spcPts val="400"/>
              </a:spcAft>
              <a:buSzPct val="100000"/>
              <a:buChar char="•"/>
            </a:pPr>
            <a:r>
              <a:rPr lang="en-US" sz="1300" dirty="0">
                <a:solidFill>
                  <a:schemeClr val="tx1"/>
                </a:solidFill>
              </a:rPr>
              <a:t>Lisensi puskesmas Rp1,5 juta/tahun</a:t>
            </a:r>
            <a:endParaRPr lang="en-US" sz="1300" dirty="0"/>
          </a:p>
          <a:p>
            <a:pPr marL="127000" indent="-127000">
              <a:spcAft>
                <a:spcPts val="400"/>
              </a:spcAft>
              <a:buSzPct val="100000"/>
              <a:buChar char="•"/>
            </a:pPr>
            <a:r>
              <a:rPr lang="en-US" sz="1300" dirty="0">
                <a:solidFill>
                  <a:schemeClr val="tx1"/>
                </a:solidFill>
              </a:rPr>
              <a:t>Sponsor CSR "Adopsi Wilayah" · API B2B Rp1.000/analisis</a:t>
            </a:r>
            <a:endParaRPr lang="en-US" sz="1300" dirty="0"/>
          </a:p>
          <a:p>
            <a:pPr marL="127000" indent="-127000">
              <a:spcAft>
                <a:spcPts val="400"/>
              </a:spcAft>
              <a:buSzPct val="100000"/>
              <a:buChar char="•"/>
            </a:pPr>
            <a:r>
              <a:rPr lang="en-US" sz="1300" dirty="0">
                <a:solidFill>
                  <a:schemeClr val="tx1"/>
                </a:solidFill>
              </a:rPr>
              <a:t>Hibah inovasi (tahap awal)</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nchor="t"/>
          <a:lstStyle/>
          <a:p>
            <a:pPr indent="0" marL="0">
              <a:buNone/>
            </a:pPr>
            <a:r>
              <a:rPr lang="en-US" sz="1200" b="1" spc="200" kern="0" dirty="0">
                <a:solidFill>
                  <a:schemeClr val="accent4"/>
                </a:solidFill>
              </a:rPr>
              <a:t>MONETISASI</a:t>
            </a:r>
            <a:endParaRPr lang="en-US" sz="1200" dirty="0"/>
          </a:p>
        </p:txBody>
      </p:sp>
      <p:sp>
        <p:nvSpPr>
          <p:cNvPr id="3" name="Text 1"/>
          <p:cNvSpPr/>
          <p:nvPr>
            <p:ph idx="102" type="title" hasCustomPrompt="1"/>
          </p:nvPr>
        </p:nvSpPr>
        <p:spPr>
          <a:xfrm>
            <a:off x="548640" y="694944"/>
            <a:ext cx="11094415" cy="73152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Gratis untuk warga, berbayar untuk institusi</a:t>
            </a:r>
            <a:endParaRPr lang="en-US" sz="3400" dirty="0"/>
          </a:p>
        </p:txBody>
      </p:sp>
      <p:sp>
        <p:nvSpPr>
          <p:cNvPr id="4" name="Shape 2"/>
          <p:cNvSpPr/>
          <p:nvPr/>
        </p:nvSpPr>
        <p:spPr>
          <a:xfrm>
            <a:off x="548640" y="1645920"/>
            <a:ext cx="3557016" cy="3977640"/>
          </a:xfrm>
          <a:prstGeom prst="roundRect">
            <a:avLst>
              <a:gd name="adj" fmla="val 3599"/>
            </a:avLst>
          </a:prstGeom>
          <a:solidFill>
            <a:schemeClr val="bg2"/>
          </a:solidFill>
          <a:ln w="12700">
            <a:solidFill>
              <a:schemeClr val="bg2"/>
            </a:solidFill>
            <a:prstDash val="solid"/>
          </a:ln>
        </p:spPr>
      </p:sp>
      <p:sp>
        <p:nvSpPr>
          <p:cNvPr id="5" name="Text 3"/>
          <p:cNvSpPr txBox="1"/>
          <p:nvPr/>
        </p:nvSpPr>
        <p:spPr>
          <a:xfrm>
            <a:off x="868680" y="1874520"/>
            <a:ext cx="2926080" cy="274320"/>
          </a:xfrm>
          <a:prstGeom prst="rect">
            <a:avLst/>
          </a:prstGeom>
          <a:noFill/>
          <a:ln/>
        </p:spPr>
        <p:txBody>
          <a:bodyPr wrap="square" lIns="0" tIns="0" rIns="0" bIns="0" rtlCol="0" anchor="t"/>
          <a:lstStyle/>
          <a:p>
            <a:pPr indent="0" marL="0">
              <a:buNone/>
            </a:pPr>
            <a:r>
              <a:rPr lang="en-US" sz="1200" b="1" spc="100" kern="0" dirty="0">
                <a:solidFill>
                  <a:schemeClr val="accent4"/>
                </a:solidFill>
              </a:rPr>
              <a:t>WARGA &amp; KADER</a:t>
            </a:r>
            <a:endParaRPr lang="en-US" sz="1200" dirty="0"/>
          </a:p>
        </p:txBody>
      </p:sp>
      <p:sp>
        <p:nvSpPr>
          <p:cNvPr id="6" name="Text 4"/>
          <p:cNvSpPr txBox="1"/>
          <p:nvPr/>
        </p:nvSpPr>
        <p:spPr>
          <a:xfrm>
            <a:off x="868680" y="2240280"/>
            <a:ext cx="2926080" cy="731520"/>
          </a:xfrm>
          <a:prstGeom prst="rect">
            <a:avLst/>
          </a:prstGeom>
          <a:noFill/>
          <a:ln/>
        </p:spPr>
        <p:txBody>
          <a:bodyPr wrap="square" lIns="0" tIns="0" rIns="0" bIns="0" rtlCol="0" anchor="t"/>
          <a:lstStyle/>
          <a:p>
            <a:pPr indent="0" marL="0">
              <a:buNone/>
            </a:pPr>
            <a:r>
              <a:rPr lang="en-US" sz="3800" b="1" dirty="0">
                <a:solidFill>
                  <a:schemeClr val="tx1"/>
                </a:solidFill>
                <a:latin typeface="Cambria" pitchFamily="34" charset="0"/>
                <a:ea typeface="Cambria" pitchFamily="34" charset="-122"/>
                <a:cs typeface="Cambria" pitchFamily="34" charset="-120"/>
              </a:rPr>
              <a:t>Gratis</a:t>
            </a:r>
            <a:endParaRPr lang="en-US" sz="3800" dirty="0"/>
          </a:p>
        </p:txBody>
      </p:sp>
      <p:sp>
        <p:nvSpPr>
          <p:cNvPr id="7" name="Text 5"/>
          <p:cNvSpPr txBox="1"/>
          <p:nvPr/>
        </p:nvSpPr>
        <p:spPr>
          <a:xfrm>
            <a:off x="868680" y="2971800"/>
            <a:ext cx="2926080" cy="320040"/>
          </a:xfrm>
          <a:prstGeom prst="rect">
            <a:avLst/>
          </a:prstGeom>
          <a:noFill/>
          <a:ln/>
        </p:spPr>
        <p:txBody>
          <a:bodyPr wrap="square" lIns="0" tIns="0" rIns="0" bIns="0" rtlCol="0" anchor="t"/>
          <a:lstStyle/>
          <a:p>
            <a:pPr indent="0" marL="0">
              <a:buNone/>
            </a:pPr>
            <a:r>
              <a:rPr lang="en-US" sz="1400" dirty="0">
                <a:solidFill>
                  <a:schemeClr val="tx2"/>
                </a:solidFill>
              </a:rPr>
              <a:t>selamanya</a:t>
            </a:r>
            <a:endParaRPr lang="en-US" sz="1400" dirty="0"/>
          </a:p>
        </p:txBody>
      </p:sp>
      <p:sp>
        <p:nvSpPr>
          <p:cNvPr id="8" name="Text 6"/>
          <p:cNvSpPr txBox="1"/>
          <p:nvPr/>
        </p:nvSpPr>
        <p:spPr>
          <a:xfrm>
            <a:off x="868680" y="3566160"/>
            <a:ext cx="292608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Skrining tanpa batas</a:t>
            </a:r>
            <a:endParaRPr lang="en-US" sz="1500" dirty="0"/>
          </a:p>
          <a:p>
            <a:pPr marL="342900" indent="-342900">
              <a:spcAft>
                <a:spcPts val="800"/>
              </a:spcAft>
              <a:buSzPct val="100000"/>
              <a:buChar char="•"/>
            </a:pPr>
            <a:r>
              <a:rPr lang="en-US" sz="1500" dirty="0">
                <a:solidFill>
                  <a:schemeClr val="tx1"/>
                </a:solidFill>
              </a:rPr>
              <a:t>Hasil, saran, dan PDF rujukan</a:t>
            </a:r>
            <a:endParaRPr lang="en-US" sz="1500" dirty="0"/>
          </a:p>
          <a:p>
            <a:pPr marL="342900" indent="-342900">
              <a:spcAft>
                <a:spcPts val="800"/>
              </a:spcAft>
              <a:buSzPct val="100000"/>
              <a:buChar char="•"/>
            </a:pPr>
            <a:r>
              <a:rPr lang="en-US" sz="1500" dirty="0">
                <a:solidFill>
                  <a:schemeClr val="tx1"/>
                </a:solidFill>
              </a:rPr>
              <a:t>Tanpa akun dan tanpa instal</a:t>
            </a:r>
            <a:endParaRPr lang="en-US" sz="1500" dirty="0"/>
          </a:p>
        </p:txBody>
      </p:sp>
      <p:sp>
        <p:nvSpPr>
          <p:cNvPr id="9" name="Shape 7"/>
          <p:cNvSpPr/>
          <p:nvPr/>
        </p:nvSpPr>
        <p:spPr>
          <a:xfrm>
            <a:off x="4315968" y="1645920"/>
            <a:ext cx="3557016" cy="3977640"/>
          </a:xfrm>
          <a:prstGeom prst="roundRect">
            <a:avLst>
              <a:gd name="adj" fmla="val 3599"/>
            </a:avLst>
          </a:prstGeom>
          <a:solidFill>
            <a:srgbClr val="1F1A2E"/>
          </a:solidFill>
          <a:ln w="12700">
            <a:solidFill>
              <a:srgbClr val="1F1A2E"/>
            </a:solidFill>
            <a:prstDash val="solid"/>
          </a:ln>
          <a:effectLst>
            <a:outerShdw sx="100000" sy="100000" kx="0" ky="0" algn="bl" rotWithShape="0" blurRad="127000" dist="38100" dir="5400000">
              <a:srgbClr val="1F1A2E">
                <a:alpha val="10000"/>
              </a:srgbClr>
            </a:outerShdw>
          </a:effectLst>
        </p:spPr>
      </p:sp>
      <p:sp>
        <p:nvSpPr>
          <p:cNvPr id="10" name="Text 8"/>
          <p:cNvSpPr txBox="1"/>
          <p:nvPr/>
        </p:nvSpPr>
        <p:spPr>
          <a:xfrm>
            <a:off x="4636008" y="1874520"/>
            <a:ext cx="2926080" cy="274320"/>
          </a:xfrm>
          <a:prstGeom prst="rect">
            <a:avLst/>
          </a:prstGeom>
          <a:noFill/>
          <a:ln/>
        </p:spPr>
        <p:txBody>
          <a:bodyPr wrap="square" lIns="0" tIns="0" rIns="0" bIns="0" rtlCol="0" anchor="t"/>
          <a:lstStyle/>
          <a:p>
            <a:pPr indent="0" marL="0">
              <a:buNone/>
            </a:pPr>
            <a:r>
              <a:rPr lang="en-US" sz="1200" b="1" spc="100" kern="0" dirty="0">
                <a:solidFill>
                  <a:schemeClr val="accent3"/>
                </a:solidFill>
              </a:rPr>
              <a:t>PUSKESMAS / DINKES</a:t>
            </a:r>
            <a:endParaRPr lang="en-US" sz="1200" dirty="0"/>
          </a:p>
        </p:txBody>
      </p:sp>
      <p:sp>
        <p:nvSpPr>
          <p:cNvPr id="11" name="Text 9"/>
          <p:cNvSpPr txBox="1"/>
          <p:nvPr/>
        </p:nvSpPr>
        <p:spPr>
          <a:xfrm>
            <a:off x="4636008" y="2240280"/>
            <a:ext cx="2926080" cy="731520"/>
          </a:xfrm>
          <a:prstGeom prst="rect">
            <a:avLst/>
          </a:prstGeom>
          <a:noFill/>
          <a:ln/>
        </p:spPr>
        <p:txBody>
          <a:bodyPr wrap="square" lIns="0" tIns="0" rIns="0" bIns="0" rtlCol="0" anchor="t"/>
          <a:lstStyle/>
          <a:p>
            <a:pPr indent="0" marL="0">
              <a:buNone/>
            </a:pPr>
            <a:r>
              <a:rPr lang="en-US" sz="3800" b="1" dirty="0">
                <a:solidFill>
                  <a:schemeClr val="bg1"/>
                </a:solidFill>
                <a:latin typeface="Cambria" pitchFamily="34" charset="0"/>
                <a:ea typeface="Cambria" pitchFamily="34" charset="-122"/>
                <a:cs typeface="Cambria" pitchFamily="34" charset="-120"/>
              </a:rPr>
              <a:t>Rp1,5 juta</a:t>
            </a:r>
            <a:endParaRPr lang="en-US" sz="3800" dirty="0"/>
          </a:p>
        </p:txBody>
      </p:sp>
      <p:sp>
        <p:nvSpPr>
          <p:cNvPr id="12" name="Text 10"/>
          <p:cNvSpPr txBox="1"/>
          <p:nvPr/>
        </p:nvSpPr>
        <p:spPr>
          <a:xfrm>
            <a:off x="4636008" y="2971800"/>
            <a:ext cx="2926080" cy="320040"/>
          </a:xfrm>
          <a:prstGeom prst="rect">
            <a:avLst/>
          </a:prstGeom>
          <a:noFill/>
          <a:ln/>
        </p:spPr>
        <p:txBody>
          <a:bodyPr wrap="square" lIns="0" tIns="0" rIns="0" bIns="0" rtlCol="0" anchor="t"/>
          <a:lstStyle/>
          <a:p>
            <a:pPr indent="0" marL="0">
              <a:buNone/>
            </a:pPr>
            <a:r>
              <a:rPr lang="en-US" sz="1400" dirty="0">
                <a:solidFill>
                  <a:schemeClr val="accent6"/>
                </a:solidFill>
              </a:rPr>
              <a:t>per puskesmas per tahun</a:t>
            </a:r>
            <a:endParaRPr lang="en-US" sz="1400" dirty="0"/>
          </a:p>
        </p:txBody>
      </p:sp>
      <p:sp>
        <p:nvSpPr>
          <p:cNvPr id="13" name="Text 11"/>
          <p:cNvSpPr txBox="1"/>
          <p:nvPr/>
        </p:nvSpPr>
        <p:spPr>
          <a:xfrm>
            <a:off x="4636008" y="3566160"/>
            <a:ext cx="292608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Dasbor wilayah binaan</a:t>
            </a:r>
            <a:endParaRPr lang="en-US" sz="1500" dirty="0"/>
          </a:p>
          <a:p>
            <a:pPr marL="342900" indent="-342900">
              <a:spcAft>
                <a:spcPts val="800"/>
              </a:spcAft>
              <a:buSzPct val="100000"/>
              <a:buChar char="•"/>
            </a:pPr>
            <a:r>
              <a:rPr lang="en-US" sz="1500" dirty="0">
                <a:solidFill>
                  <a:schemeClr val="bg1"/>
                </a:solidFill>
              </a:rPr>
              <a:t>Rekap per posyandu &amp; ekspor laporan</a:t>
            </a:r>
            <a:endParaRPr lang="en-US" sz="1500" dirty="0"/>
          </a:p>
          <a:p>
            <a:pPr marL="342900" indent="-342900">
              <a:spcAft>
                <a:spcPts val="800"/>
              </a:spcAft>
              <a:buSzPct val="100000"/>
              <a:buChar char="•"/>
            </a:pPr>
            <a:r>
              <a:rPr lang="en-US" sz="1500" dirty="0">
                <a:solidFill>
                  <a:schemeClr val="bg1"/>
                </a:solidFill>
              </a:rPr>
              <a:t>Pelatihan kader &amp; dukungan teknis</a:t>
            </a:r>
            <a:endParaRPr lang="en-US" sz="1500" dirty="0"/>
          </a:p>
        </p:txBody>
      </p:sp>
      <p:sp>
        <p:nvSpPr>
          <p:cNvPr id="14" name="Shape 12"/>
          <p:cNvSpPr/>
          <p:nvPr/>
        </p:nvSpPr>
        <p:spPr>
          <a:xfrm>
            <a:off x="8083296" y="1645920"/>
            <a:ext cx="3557016" cy="3977640"/>
          </a:xfrm>
          <a:prstGeom prst="roundRect">
            <a:avLst>
              <a:gd name="adj" fmla="val 3599"/>
            </a:avLst>
          </a:prstGeom>
          <a:solidFill>
            <a:schemeClr val="bg2"/>
          </a:solidFill>
          <a:ln w="12700">
            <a:solidFill>
              <a:schemeClr val="bg2"/>
            </a:solidFill>
            <a:prstDash val="solid"/>
          </a:ln>
        </p:spPr>
      </p:sp>
      <p:sp>
        <p:nvSpPr>
          <p:cNvPr id="15" name="Text 13"/>
          <p:cNvSpPr txBox="1"/>
          <p:nvPr/>
        </p:nvSpPr>
        <p:spPr>
          <a:xfrm>
            <a:off x="8403336" y="1874520"/>
            <a:ext cx="2926080" cy="274320"/>
          </a:xfrm>
          <a:prstGeom prst="rect">
            <a:avLst/>
          </a:prstGeom>
          <a:noFill/>
          <a:ln/>
        </p:spPr>
        <p:txBody>
          <a:bodyPr wrap="square" lIns="0" tIns="0" rIns="0" bIns="0" rtlCol="0" anchor="t"/>
          <a:lstStyle/>
          <a:p>
            <a:pPr indent="0" marL="0">
              <a:buNone/>
            </a:pPr>
            <a:r>
              <a:rPr lang="en-US" sz="1200" b="1" spc="100" kern="0" dirty="0">
                <a:solidFill>
                  <a:schemeClr val="accent4"/>
                </a:solidFill>
              </a:rPr>
              <a:t>MITRA B2B &amp; CSR</a:t>
            </a:r>
            <a:endParaRPr lang="en-US" sz="1200" dirty="0"/>
          </a:p>
        </p:txBody>
      </p:sp>
      <p:sp>
        <p:nvSpPr>
          <p:cNvPr id="16" name="Text 14"/>
          <p:cNvSpPr txBox="1"/>
          <p:nvPr/>
        </p:nvSpPr>
        <p:spPr>
          <a:xfrm>
            <a:off x="8403336" y="2240280"/>
            <a:ext cx="2926080" cy="731520"/>
          </a:xfrm>
          <a:prstGeom prst="rect">
            <a:avLst/>
          </a:prstGeom>
          <a:noFill/>
          <a:ln/>
        </p:spPr>
        <p:txBody>
          <a:bodyPr wrap="square" lIns="0" tIns="0" rIns="0" bIns="0" rtlCol="0" anchor="t"/>
          <a:lstStyle/>
          <a:p>
            <a:pPr indent="0" marL="0">
              <a:buNone/>
            </a:pPr>
            <a:r>
              <a:rPr lang="en-US" sz="3800" b="1" dirty="0">
                <a:solidFill>
                  <a:schemeClr val="tx1"/>
                </a:solidFill>
                <a:latin typeface="Cambria" pitchFamily="34" charset="0"/>
                <a:ea typeface="Cambria" pitchFamily="34" charset="-122"/>
                <a:cs typeface="Cambria" pitchFamily="34" charset="-120"/>
              </a:rPr>
              <a:t>Rp1.000</a:t>
            </a:r>
            <a:endParaRPr lang="en-US" sz="3800" dirty="0"/>
          </a:p>
        </p:txBody>
      </p:sp>
      <p:sp>
        <p:nvSpPr>
          <p:cNvPr id="17" name="Text 15"/>
          <p:cNvSpPr txBox="1"/>
          <p:nvPr/>
        </p:nvSpPr>
        <p:spPr>
          <a:xfrm>
            <a:off x="8403336" y="2971800"/>
            <a:ext cx="2926080" cy="320040"/>
          </a:xfrm>
          <a:prstGeom prst="rect">
            <a:avLst/>
          </a:prstGeom>
          <a:noFill/>
          <a:ln/>
        </p:spPr>
        <p:txBody>
          <a:bodyPr wrap="square" lIns="0" tIns="0" rIns="0" bIns="0" rtlCol="0" anchor="t"/>
          <a:lstStyle/>
          <a:p>
            <a:pPr indent="0" marL="0">
              <a:buNone/>
            </a:pPr>
            <a:r>
              <a:rPr lang="en-US" sz="1400" dirty="0">
                <a:solidFill>
                  <a:schemeClr val="tx2"/>
                </a:solidFill>
              </a:rPr>
              <a:t>per analisis lewat API</a:t>
            </a:r>
            <a:endParaRPr lang="en-US" sz="1400" dirty="0"/>
          </a:p>
        </p:txBody>
      </p:sp>
      <p:sp>
        <p:nvSpPr>
          <p:cNvPr id="18" name="Text 16"/>
          <p:cNvSpPr txBox="1"/>
          <p:nvPr/>
        </p:nvSpPr>
        <p:spPr>
          <a:xfrm>
            <a:off x="8403336" y="3566160"/>
            <a:ext cx="292608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API untuk klinik, apotek, aplikasi</a:t>
            </a:r>
            <a:endParaRPr lang="en-US" sz="1500" dirty="0"/>
          </a:p>
          <a:p>
            <a:pPr marL="342900" indent="-342900">
              <a:spcAft>
                <a:spcPts val="800"/>
              </a:spcAft>
              <a:buSzPct val="100000"/>
              <a:buChar char="•"/>
            </a:pPr>
            <a:r>
              <a:rPr lang="en-US" sz="1500" dirty="0">
                <a:solidFill>
                  <a:schemeClr val="tx1"/>
                </a:solidFill>
              </a:rPr>
              <a:t>Paket "Adopsi Wilayah" untuk CSR</a:t>
            </a:r>
            <a:endParaRPr lang="en-US" sz="1500" dirty="0"/>
          </a:p>
          <a:p>
            <a:pPr marL="342900" indent="-342900">
              <a:spcAft>
                <a:spcPts val="800"/>
              </a:spcAft>
              <a:buSzPct val="100000"/>
              <a:buChar char="•"/>
            </a:pPr>
            <a:r>
              <a:rPr lang="en-US" sz="1500" dirty="0">
                <a:solidFill>
                  <a:schemeClr val="tx1"/>
                </a:solidFill>
              </a:rPr>
              <a:t>Laporan dampak untuk sponsor</a:t>
            </a:r>
            <a:endParaRPr lang="en-US" sz="1500" dirty="0"/>
          </a:p>
        </p:txBody>
      </p:sp>
      <p:sp>
        <p:nvSpPr>
          <p:cNvPr id="19" name="Text 17"/>
          <p:cNvSpPr txBox="1"/>
          <p:nvPr/>
        </p:nvSpPr>
        <p:spPr>
          <a:xfrm>
            <a:off x="548640" y="6053328"/>
            <a:ext cx="11094415" cy="256032"/>
          </a:xfrm>
          <a:prstGeom prst="rect">
            <a:avLst/>
          </a:prstGeom>
          <a:noFill/>
          <a:ln/>
        </p:spPr>
        <p:txBody>
          <a:bodyPr wrap="square" lIns="0" tIns="0" rIns="0" bIns="0" rtlCol="0" anchor="t"/>
          <a:lstStyle/>
          <a:p>
            <a:pPr indent="0" marL="0">
              <a:buNone/>
            </a:pPr>
            <a:r>
              <a:rPr lang="en-US" sz="1000" i="1" dirty="0">
                <a:solidFill>
                  <a:schemeClr val="tx2"/>
                </a:solidFill>
              </a:rPr>
              <a:t>Harga adalah usulan tim untuk divalidasi saat pilot; lisensi puskesmas dapat dibiayai dari anggaran operasional puskesmas atau APBD.</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nchor="t"/>
          <a:lstStyle/>
          <a:p>
            <a:pPr indent="0" marL="0">
              <a:buNone/>
            </a:pPr>
            <a:r>
              <a:rPr lang="en-US" sz="1200" b="1" spc="200" kern="0" dirty="0">
                <a:solidFill>
                  <a:schemeClr val="accent4"/>
                </a:solidFill>
              </a:rPr>
              <a:t>UNIT ECONOMICS DAN PROYEKSI</a:t>
            </a:r>
            <a:endParaRPr lang="en-US" sz="1200" dirty="0"/>
          </a:p>
        </p:txBody>
      </p:sp>
      <p:sp>
        <p:nvSpPr>
          <p:cNvPr id="3" name="Text 1"/>
          <p:cNvSpPr/>
          <p:nvPr>
            <p:ph idx="102" type="title" hasCustomPrompt="1"/>
          </p:nvPr>
        </p:nvSpPr>
        <p:spPr>
          <a:xfrm>
            <a:off x="548640" y="694944"/>
            <a:ext cx="11094415" cy="73152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Lebih murah per tes, lebih tepat sasaran per rujukan</a:t>
            </a:r>
            <a:endParaRPr lang="en-US" sz="3400" dirty="0"/>
          </a:p>
        </p:txBody>
      </p:sp>
      <p:sp>
        <p:nvSpPr>
          <p:cNvPr id="4" name="Shape 2"/>
          <p:cNvSpPr/>
          <p:nvPr/>
        </p:nvSpPr>
        <p:spPr>
          <a:xfrm>
            <a:off x="548640" y="1645920"/>
            <a:ext cx="5120640" cy="1234440"/>
          </a:xfrm>
          <a:prstGeom prst="roundRect">
            <a:avLst>
              <a:gd name="adj" fmla="val 10370"/>
            </a:avLst>
          </a:prstGeom>
          <a:solidFill>
            <a:schemeClr val="bg2"/>
          </a:solidFill>
          <a:ln w="12700">
            <a:solidFill>
              <a:schemeClr val="bg2"/>
            </a:solidFill>
            <a:prstDash val="solid"/>
          </a:ln>
        </p:spPr>
      </p:sp>
      <p:sp>
        <p:nvSpPr>
          <p:cNvPr id="5" name="Text 3"/>
          <p:cNvSpPr txBox="1"/>
          <p:nvPr/>
        </p:nvSpPr>
        <p:spPr>
          <a:xfrm>
            <a:off x="822960" y="1783080"/>
            <a:ext cx="4572000" cy="594360"/>
          </a:xfrm>
          <a:prstGeom prst="rect">
            <a:avLst/>
          </a:prstGeom>
          <a:noFill/>
          <a:ln/>
        </p:spPr>
        <p:txBody>
          <a:bodyPr wrap="square" lIns="0" tIns="0" rIns="0" bIns="0" rtlCol="0" anchor="t"/>
          <a:lstStyle/>
          <a:p>
            <a:pPr indent="0" marL="0">
              <a:buNone/>
            </a:pPr>
            <a:r>
              <a:rPr lang="en-US" sz="3200" b="1" dirty="0">
                <a:solidFill>
                  <a:schemeClr val="tx1"/>
                </a:solidFill>
                <a:latin typeface="Cambria" pitchFamily="34" charset="0"/>
                <a:ea typeface="Cambria" pitchFamily="34" charset="-122"/>
                <a:cs typeface="Cambria" pitchFamily="34" charset="-120"/>
              </a:rPr>
              <a:t>Rp7.130</a:t>
            </a:r>
            <a:endParaRPr lang="en-US" sz="3200" dirty="0"/>
          </a:p>
        </p:txBody>
      </p:sp>
      <p:sp>
        <p:nvSpPr>
          <p:cNvPr id="6" name="Text 4"/>
          <p:cNvSpPr txBox="1"/>
          <p:nvPr/>
        </p:nvSpPr>
        <p:spPr>
          <a:xfrm>
            <a:off x="822960" y="2395728"/>
            <a:ext cx="4572000" cy="502920"/>
          </a:xfrm>
          <a:prstGeom prst="rect">
            <a:avLst/>
          </a:prstGeom>
          <a:noFill/>
          <a:ln/>
        </p:spPr>
        <p:txBody>
          <a:bodyPr wrap="square" lIns="0" tIns="0" rIns="0" bIns="0" rtlCol="0" anchor="t"/>
          <a:lstStyle/>
          <a:p>
            <a:pPr indent="0" marL="0">
              <a:buNone/>
            </a:pPr>
            <a:r>
              <a:rPr lang="en-US" sz="1300" dirty="0">
                <a:solidFill>
                  <a:schemeClr val="tx2"/>
                </a:solidFill>
              </a:rPr>
              <a:t>biaya strip per cek Hb (Easy Touch, 25 strip Rp178.251)</a:t>
            </a:r>
            <a:endParaRPr lang="en-US" sz="1300" dirty="0"/>
          </a:p>
        </p:txBody>
      </p:sp>
      <p:sp>
        <p:nvSpPr>
          <p:cNvPr id="7" name="Shape 5"/>
          <p:cNvSpPr/>
          <p:nvPr/>
        </p:nvSpPr>
        <p:spPr>
          <a:xfrm>
            <a:off x="548640" y="3017520"/>
            <a:ext cx="5120640" cy="1234440"/>
          </a:xfrm>
          <a:prstGeom prst="roundRect">
            <a:avLst>
              <a:gd name="adj" fmla="val 10370"/>
            </a:avLst>
          </a:prstGeom>
          <a:solidFill>
            <a:schemeClr val="bg2"/>
          </a:solidFill>
          <a:ln w="12700">
            <a:solidFill>
              <a:schemeClr val="bg2"/>
            </a:solidFill>
            <a:prstDash val="solid"/>
          </a:ln>
        </p:spPr>
      </p:sp>
      <p:sp>
        <p:nvSpPr>
          <p:cNvPr id="8" name="Text 6"/>
          <p:cNvSpPr txBox="1"/>
          <p:nvPr/>
        </p:nvSpPr>
        <p:spPr>
          <a:xfrm>
            <a:off x="822960" y="3154680"/>
            <a:ext cx="4572000" cy="594360"/>
          </a:xfrm>
          <a:prstGeom prst="rect">
            <a:avLst/>
          </a:prstGeom>
          <a:noFill/>
          <a:ln/>
        </p:spPr>
        <p:txBody>
          <a:bodyPr wrap="square" lIns="0" tIns="0" rIns="0" bIns="0" rtlCol="0" anchor="t"/>
          <a:lstStyle/>
          <a:p>
            <a:pPr indent="0" marL="0">
              <a:buNone/>
            </a:pPr>
            <a:r>
              <a:rPr lang="en-US" sz="3200" b="1" dirty="0">
                <a:solidFill>
                  <a:schemeClr val="accent4"/>
                </a:solidFill>
                <a:latin typeface="Cambria" pitchFamily="34" charset="0"/>
                <a:ea typeface="Cambria" pitchFamily="34" charset="-122"/>
                <a:cs typeface="Cambria" pitchFamily="34" charset="-120"/>
              </a:rPr>
              <a:t>&lt; Rp10</a:t>
            </a:r>
            <a:endParaRPr lang="en-US" sz="3200" dirty="0"/>
          </a:p>
        </p:txBody>
      </p:sp>
      <p:sp>
        <p:nvSpPr>
          <p:cNvPr id="9" name="Text 7"/>
          <p:cNvSpPr txBox="1"/>
          <p:nvPr/>
        </p:nvSpPr>
        <p:spPr>
          <a:xfrm>
            <a:off x="822960" y="3767328"/>
            <a:ext cx="4572000" cy="502920"/>
          </a:xfrm>
          <a:prstGeom prst="rect">
            <a:avLst/>
          </a:prstGeom>
          <a:noFill/>
          <a:ln/>
        </p:spPr>
        <p:txBody>
          <a:bodyPr wrap="square" lIns="0" tIns="0" rIns="0" bIns="0" rtlCol="0" anchor="t"/>
          <a:lstStyle/>
          <a:p>
            <a:pPr indent="0" marL="0">
              <a:buNone/>
            </a:pPr>
            <a:r>
              <a:rPr lang="en-US" sz="1300" dirty="0">
                <a:solidFill>
                  <a:schemeClr val="tx2"/>
                </a:solidFill>
              </a:rPr>
              <a:t>estimasi biaya server per analisis AnemiaLens (CPU, 0,5 detik per foto)</a:t>
            </a:r>
            <a:endParaRPr lang="en-US" sz="1300" dirty="0"/>
          </a:p>
        </p:txBody>
      </p:sp>
      <p:sp>
        <p:nvSpPr>
          <p:cNvPr id="10" name="Shape 8"/>
          <p:cNvSpPr/>
          <p:nvPr/>
        </p:nvSpPr>
        <p:spPr>
          <a:xfrm>
            <a:off x="548640" y="4389120"/>
            <a:ext cx="5120640" cy="1234440"/>
          </a:xfrm>
          <a:prstGeom prst="roundRect">
            <a:avLst>
              <a:gd name="adj" fmla="val 10370"/>
            </a:avLst>
          </a:prstGeom>
          <a:solidFill>
            <a:schemeClr val="bg2"/>
          </a:solidFill>
          <a:ln w="12700">
            <a:solidFill>
              <a:schemeClr val="bg2"/>
            </a:solidFill>
            <a:prstDash val="solid"/>
          </a:ln>
        </p:spPr>
      </p:sp>
      <p:sp>
        <p:nvSpPr>
          <p:cNvPr id="11" name="Text 9"/>
          <p:cNvSpPr txBox="1"/>
          <p:nvPr/>
        </p:nvSpPr>
        <p:spPr>
          <a:xfrm>
            <a:off x="822960" y="4526280"/>
            <a:ext cx="4572000" cy="594360"/>
          </a:xfrm>
          <a:prstGeom prst="rect">
            <a:avLst/>
          </a:prstGeom>
          <a:noFill/>
          <a:ln/>
        </p:spPr>
        <p:txBody>
          <a:bodyPr wrap="square" lIns="0" tIns="0" rIns="0" bIns="0" rtlCol="0" anchor="t"/>
          <a:lstStyle/>
          <a:p>
            <a:pPr indent="0" marL="0">
              <a:buNone/>
            </a:pPr>
            <a:r>
              <a:rPr lang="en-US" sz="3200" b="1" dirty="0">
                <a:solidFill>
                  <a:schemeClr val="accent2"/>
                </a:solidFill>
                <a:latin typeface="Cambria" pitchFamily="34" charset="0"/>
                <a:ea typeface="Cambria" pitchFamily="34" charset="-122"/>
                <a:cs typeface="Cambria" pitchFamily="34" charset="-120"/>
              </a:rPr>
              <a:t>48 dari 100</a:t>
            </a:r>
            <a:endParaRPr lang="en-US" sz="3200" dirty="0"/>
          </a:p>
        </p:txBody>
      </p:sp>
      <p:sp>
        <p:nvSpPr>
          <p:cNvPr id="12" name="Text 10"/>
          <p:cNvSpPr txBox="1"/>
          <p:nvPr/>
        </p:nvSpPr>
        <p:spPr>
          <a:xfrm>
            <a:off x="822960" y="5138928"/>
            <a:ext cx="4572000" cy="502920"/>
          </a:xfrm>
          <a:prstGeom prst="rect">
            <a:avLst/>
          </a:prstGeom>
          <a:noFill/>
          <a:ln/>
        </p:spPr>
        <p:txBody>
          <a:bodyPr wrap="square" lIns="0" tIns="0" rIns="0" bIns="0" rtlCol="0" anchor="t"/>
          <a:lstStyle/>
          <a:p>
            <a:pPr indent="0" marL="0">
              <a:buNone/>
            </a:pPr>
            <a:r>
              <a:rPr lang="en-US" sz="1300" dirty="0">
                <a:solidFill>
                  <a:schemeClr val="tx2"/>
                </a:solidFill>
              </a:rPr>
              <a:t>warga yang perlu dirujuk cek Hb; ±24 dari ±28 kasus anemia tertangkap</a:t>
            </a:r>
            <a:endParaRPr lang="en-US" sz="1300" dirty="0"/>
          </a:p>
        </p:txBody>
      </p:sp>
      <p:graphicFrame>
        <p:nvGraphicFramePr>
          <p:cNvPr id="13" name="Chart 0" descr=""/>
          <p:cNvGraphicFramePr/>
          <p:nvPr/>
        </p:nvGraphicFramePr>
        <p:xfrm>
          <a:off x="6035040" y="1554480"/>
          <a:ext cx="5605272" cy="434340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548640" y="6053328"/>
            <a:ext cx="11094415" cy="256032"/>
          </a:xfrm>
          <a:prstGeom prst="rect">
            <a:avLst/>
          </a:prstGeom>
          <a:noFill/>
          <a:ln/>
        </p:spPr>
        <p:txBody>
          <a:bodyPr wrap="square" lIns="0" tIns="0" rIns="0" bIns="0" rtlCol="0" anchor="t"/>
          <a:lstStyle/>
          <a:p>
            <a:pPr indent="0" marL="0">
              <a:buNone/>
            </a:pPr>
            <a:r>
              <a:rPr lang="en-US" sz="1000" i="1" dirty="0">
                <a:solidFill>
                  <a:schemeClr val="tx2"/>
                </a:solidFill>
              </a:rPr>
              <a:t>Rujukan dihitung pada prevalensi 27,7%, sensitivitas 86%, spesifisitas 66%. Proyeksi: 25 → 100 → 250 puskesmas; API 0 → 100 rb → 300 rb analisis per tahun (asumsi).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nchor="t"/>
          <a:lstStyle/>
          <a:p>
            <a:pPr indent="0" marL="0">
              <a:buNone/>
            </a:pPr>
            <a:r>
              <a:rPr lang="en-US" sz="1200" b="1" spc="200" kern="0" dirty="0">
                <a:solidFill>
                  <a:schemeClr val="accent4"/>
                </a:solidFill>
              </a:rPr>
              <a:t>GO-TO-MARKET DAN ROADMAP</a:t>
            </a:r>
            <a:endParaRPr lang="en-US" sz="1200" dirty="0"/>
          </a:p>
        </p:txBody>
      </p:sp>
      <p:sp>
        <p:nvSpPr>
          <p:cNvPr id="3" name="Text 1"/>
          <p:cNvSpPr/>
          <p:nvPr>
            <p:ph idx="102" type="title" hasCustomPrompt="1"/>
          </p:nvPr>
        </p:nvSpPr>
        <p:spPr>
          <a:xfrm>
            <a:off x="548640" y="694944"/>
            <a:ext cx="11094415" cy="73152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Mulai dari satu kabupaten kepulauan, lalu menyebar</a:t>
            </a:r>
            <a:endParaRPr lang="en-US" sz="3400" dirty="0"/>
          </a:p>
        </p:txBody>
      </p:sp>
      <p:sp>
        <p:nvSpPr>
          <p:cNvPr id="4" name="Shape 2"/>
          <p:cNvSpPr/>
          <p:nvPr/>
        </p:nvSpPr>
        <p:spPr>
          <a:xfrm>
            <a:off x="1935442" y="2057400"/>
            <a:ext cx="8320811" cy="0"/>
          </a:xfrm>
          <a:prstGeom prst="line">
            <a:avLst/>
          </a:prstGeom>
          <a:noFill/>
          <a:ln w="25400">
            <a:solidFill>
              <a:schemeClr val="accent1"/>
            </a:solidFill>
            <a:prstDash val="solid"/>
          </a:ln>
        </p:spPr>
      </p:sp>
      <p:sp>
        <p:nvSpPr>
          <p:cNvPr id="5" name="Shape 3"/>
          <p:cNvSpPr/>
          <p:nvPr/>
        </p:nvSpPr>
        <p:spPr>
          <a:xfrm>
            <a:off x="1752562" y="1874520"/>
            <a:ext cx="365760" cy="365760"/>
          </a:xfrm>
          <a:prstGeom prst="ellipse">
            <a:avLst/>
          </a:prstGeom>
          <a:solidFill>
            <a:schemeClr val="accent1"/>
          </a:solidFill>
          <a:ln w="25400">
            <a:solidFill>
              <a:schemeClr val="accent1"/>
            </a:solidFill>
            <a:prstDash val="solid"/>
          </a:ln>
        </p:spPr>
      </p:sp>
      <p:sp>
        <p:nvSpPr>
          <p:cNvPr id="6" name="Text 4"/>
          <p:cNvSpPr txBox="1"/>
          <p:nvPr/>
        </p:nvSpPr>
        <p:spPr>
          <a:xfrm>
            <a:off x="640080" y="2377440"/>
            <a:ext cx="2590724" cy="274320"/>
          </a:xfrm>
          <a:prstGeom prst="rect">
            <a:avLst/>
          </a:prstGeom>
          <a:noFill/>
          <a:ln/>
        </p:spPr>
        <p:txBody>
          <a:bodyPr wrap="square" lIns="0" tIns="0" rIns="0" bIns="0" rtlCol="0" anchor="t"/>
          <a:lstStyle/>
          <a:p>
            <a:pPr algn="ctr" indent="0" marL="0">
              <a:buNone/>
            </a:pPr>
            <a:r>
              <a:rPr lang="en-US" sz="1200" b="1" dirty="0">
                <a:solidFill>
                  <a:schemeClr val="accent4"/>
                </a:solidFill>
              </a:rPr>
              <a:t>Q1–Q2 2027</a:t>
            </a:r>
            <a:endParaRPr lang="en-US" sz="1200" dirty="0"/>
          </a:p>
        </p:txBody>
      </p:sp>
      <p:sp>
        <p:nvSpPr>
          <p:cNvPr id="7" name="Text 5"/>
          <p:cNvSpPr txBox="1"/>
          <p:nvPr/>
        </p:nvSpPr>
        <p:spPr>
          <a:xfrm>
            <a:off x="640080" y="2651760"/>
            <a:ext cx="2590724" cy="365760"/>
          </a:xfrm>
          <a:prstGeom prst="rect">
            <a:avLst/>
          </a:prstGeom>
          <a:noFill/>
          <a:ln/>
        </p:spPr>
        <p:txBody>
          <a:bodyPr wrap="square" lIns="0" tIns="0" rIns="0" bIns="0" rtlCol="0" anchor="t"/>
          <a:lstStyle/>
          <a:p>
            <a:pPr algn="ctr" indent="0" marL="0">
              <a:buNone/>
            </a:pPr>
            <a:r>
              <a:rPr lang="en-US" sz="1800" b="1" dirty="0">
                <a:solidFill>
                  <a:schemeClr val="tx1"/>
                </a:solidFill>
              </a:rPr>
              <a:t>Pilot</a:t>
            </a:r>
            <a:endParaRPr lang="en-US" sz="1800" dirty="0"/>
          </a:p>
        </p:txBody>
      </p:sp>
      <p:sp>
        <p:nvSpPr>
          <p:cNvPr id="8" name="Text 6"/>
          <p:cNvSpPr txBox="1"/>
          <p:nvPr/>
        </p:nvSpPr>
        <p:spPr>
          <a:xfrm>
            <a:off x="685800" y="3063240"/>
            <a:ext cx="2499284" cy="1005840"/>
          </a:xfrm>
          <a:prstGeom prst="rect">
            <a:avLst/>
          </a:prstGeom>
          <a:noFill/>
          <a:ln/>
        </p:spPr>
        <p:txBody>
          <a:bodyPr wrap="square" lIns="0" tIns="0" rIns="0" bIns="0" rtlCol="0" anchor="t"/>
          <a:lstStyle/>
          <a:p>
            <a:pPr algn="ctr" indent="0" marL="0">
              <a:buNone/>
            </a:pPr>
            <a:r>
              <a:rPr lang="en-US" sz="1300" dirty="0">
                <a:solidFill>
                  <a:schemeClr val="tx2"/>
                </a:solidFill>
              </a:rPr>
              <a:t>3–5 posyandu di 1 kabupaten kepulauan; uji banding dengan cek Hb pada ±300 warga</a:t>
            </a:r>
            <a:endParaRPr lang="en-US" sz="1300" dirty="0"/>
          </a:p>
        </p:txBody>
      </p:sp>
      <p:sp>
        <p:nvSpPr>
          <p:cNvPr id="9" name="Shape 7"/>
          <p:cNvSpPr/>
          <p:nvPr/>
        </p:nvSpPr>
        <p:spPr>
          <a:xfrm>
            <a:off x="4526166" y="1874520"/>
            <a:ext cx="365760" cy="365760"/>
          </a:xfrm>
          <a:prstGeom prst="ellipse">
            <a:avLst/>
          </a:prstGeom>
          <a:solidFill>
            <a:schemeClr val="bg1"/>
          </a:solidFill>
          <a:ln w="25400">
            <a:solidFill>
              <a:schemeClr val="accent1"/>
            </a:solidFill>
            <a:prstDash val="solid"/>
          </a:ln>
        </p:spPr>
      </p:sp>
      <p:sp>
        <p:nvSpPr>
          <p:cNvPr id="10" name="Text 8"/>
          <p:cNvSpPr txBox="1"/>
          <p:nvPr/>
        </p:nvSpPr>
        <p:spPr>
          <a:xfrm>
            <a:off x="3413684" y="2377440"/>
            <a:ext cx="2590724" cy="274320"/>
          </a:xfrm>
          <a:prstGeom prst="rect">
            <a:avLst/>
          </a:prstGeom>
          <a:noFill/>
          <a:ln/>
        </p:spPr>
        <p:txBody>
          <a:bodyPr wrap="square" lIns="0" tIns="0" rIns="0" bIns="0" rtlCol="0" anchor="t"/>
          <a:lstStyle/>
          <a:p>
            <a:pPr algn="ctr" indent="0" marL="0">
              <a:buNone/>
            </a:pPr>
            <a:r>
              <a:rPr lang="en-US" sz="1200" b="1" dirty="0">
                <a:solidFill>
                  <a:schemeClr val="accent4"/>
                </a:solidFill>
              </a:rPr>
              <a:t>Q3–Q4 2027</a:t>
            </a:r>
            <a:endParaRPr lang="en-US" sz="1200" dirty="0"/>
          </a:p>
        </p:txBody>
      </p:sp>
      <p:sp>
        <p:nvSpPr>
          <p:cNvPr id="11" name="Text 9"/>
          <p:cNvSpPr txBox="1"/>
          <p:nvPr/>
        </p:nvSpPr>
        <p:spPr>
          <a:xfrm>
            <a:off x="3413684" y="2651760"/>
            <a:ext cx="2590724" cy="365760"/>
          </a:xfrm>
          <a:prstGeom prst="rect">
            <a:avLst/>
          </a:prstGeom>
          <a:noFill/>
          <a:ln/>
        </p:spPr>
        <p:txBody>
          <a:bodyPr wrap="square" lIns="0" tIns="0" rIns="0" bIns="0" rtlCol="0" anchor="t"/>
          <a:lstStyle/>
          <a:p>
            <a:pPr algn="ctr" indent="0" marL="0">
              <a:buNone/>
            </a:pPr>
            <a:r>
              <a:rPr lang="en-US" sz="1800" b="1" dirty="0">
                <a:solidFill>
                  <a:schemeClr val="tx1"/>
                </a:solidFill>
              </a:rPr>
              <a:t>Validasi lokal</a:t>
            </a:r>
            <a:endParaRPr lang="en-US" sz="1800" dirty="0"/>
          </a:p>
        </p:txBody>
      </p:sp>
      <p:sp>
        <p:nvSpPr>
          <p:cNvPr id="12" name="Text 10"/>
          <p:cNvSpPr txBox="1"/>
          <p:nvPr/>
        </p:nvSpPr>
        <p:spPr>
          <a:xfrm>
            <a:off x="3459404" y="3063240"/>
            <a:ext cx="2499284" cy="1005840"/>
          </a:xfrm>
          <a:prstGeom prst="rect">
            <a:avLst/>
          </a:prstGeom>
          <a:noFill/>
          <a:ln/>
        </p:spPr>
        <p:txBody>
          <a:bodyPr wrap="square" lIns="0" tIns="0" rIns="0" bIns="0" rtlCol="0" anchor="t"/>
          <a:lstStyle/>
          <a:p>
            <a:pPr algn="ctr" indent="0" marL="0">
              <a:buNone/>
            </a:pPr>
            <a:r>
              <a:rPr lang="en-US" sz="1300" dirty="0">
                <a:solidFill>
                  <a:schemeClr val="tx2"/>
                </a:solidFill>
              </a:rPr>
              <a:t>Latih ulang dengan data Indonesia; ajukan izin edar sesuai KMK 951/2026</a:t>
            </a:r>
            <a:endParaRPr lang="en-US" sz="1300" dirty="0"/>
          </a:p>
        </p:txBody>
      </p:sp>
      <p:sp>
        <p:nvSpPr>
          <p:cNvPr id="13" name="Shape 11"/>
          <p:cNvSpPr/>
          <p:nvPr/>
        </p:nvSpPr>
        <p:spPr>
          <a:xfrm>
            <a:off x="7299770" y="1874520"/>
            <a:ext cx="365760" cy="365760"/>
          </a:xfrm>
          <a:prstGeom prst="ellipse">
            <a:avLst/>
          </a:prstGeom>
          <a:solidFill>
            <a:schemeClr val="bg1"/>
          </a:solidFill>
          <a:ln w="25400">
            <a:solidFill>
              <a:schemeClr val="accent1"/>
            </a:solidFill>
            <a:prstDash val="solid"/>
          </a:ln>
        </p:spPr>
      </p:sp>
      <p:sp>
        <p:nvSpPr>
          <p:cNvPr id="14" name="Text 12"/>
          <p:cNvSpPr txBox="1"/>
          <p:nvPr/>
        </p:nvSpPr>
        <p:spPr>
          <a:xfrm>
            <a:off x="6187288" y="2377440"/>
            <a:ext cx="2590724" cy="274320"/>
          </a:xfrm>
          <a:prstGeom prst="rect">
            <a:avLst/>
          </a:prstGeom>
          <a:noFill/>
          <a:ln/>
        </p:spPr>
        <p:txBody>
          <a:bodyPr wrap="square" lIns="0" tIns="0" rIns="0" bIns="0" rtlCol="0" anchor="t"/>
          <a:lstStyle/>
          <a:p>
            <a:pPr algn="ctr" indent="0" marL="0">
              <a:buNone/>
            </a:pPr>
            <a:r>
              <a:rPr lang="en-US" sz="1200" b="1" dirty="0">
                <a:solidFill>
                  <a:schemeClr val="accent4"/>
                </a:solidFill>
              </a:rPr>
              <a:t>2028</a:t>
            </a:r>
            <a:endParaRPr lang="en-US" sz="1200" dirty="0"/>
          </a:p>
        </p:txBody>
      </p:sp>
      <p:sp>
        <p:nvSpPr>
          <p:cNvPr id="15" name="Text 13"/>
          <p:cNvSpPr txBox="1"/>
          <p:nvPr/>
        </p:nvSpPr>
        <p:spPr>
          <a:xfrm>
            <a:off x="6187288" y="2651760"/>
            <a:ext cx="2590724" cy="365760"/>
          </a:xfrm>
          <a:prstGeom prst="rect">
            <a:avLst/>
          </a:prstGeom>
          <a:noFill/>
          <a:ln/>
        </p:spPr>
        <p:txBody>
          <a:bodyPr wrap="square" lIns="0" tIns="0" rIns="0" bIns="0" rtlCol="0" anchor="t"/>
          <a:lstStyle/>
          <a:p>
            <a:pPr algn="ctr" indent="0" marL="0">
              <a:buNone/>
            </a:pPr>
            <a:r>
              <a:rPr lang="en-US" sz="1800" b="1" dirty="0">
                <a:solidFill>
                  <a:schemeClr val="tx1"/>
                </a:solidFill>
              </a:rPr>
              <a:t>Skala kabupaten</a:t>
            </a:r>
            <a:endParaRPr lang="en-US" sz="1800" dirty="0"/>
          </a:p>
        </p:txBody>
      </p:sp>
      <p:sp>
        <p:nvSpPr>
          <p:cNvPr id="16" name="Text 14"/>
          <p:cNvSpPr txBox="1"/>
          <p:nvPr/>
        </p:nvSpPr>
        <p:spPr>
          <a:xfrm>
            <a:off x="6233008" y="3063240"/>
            <a:ext cx="2499284" cy="1005840"/>
          </a:xfrm>
          <a:prstGeom prst="rect">
            <a:avLst/>
          </a:prstGeom>
          <a:noFill/>
          <a:ln/>
        </p:spPr>
        <p:txBody>
          <a:bodyPr wrap="square" lIns="0" tIns="0" rIns="0" bIns="0" rtlCol="0" anchor="t"/>
          <a:lstStyle/>
          <a:p>
            <a:pPr algn="ctr" indent="0" marL="0">
              <a:buNone/>
            </a:pPr>
            <a:r>
              <a:rPr lang="en-US" sz="1300" dirty="0">
                <a:solidFill>
                  <a:schemeClr val="tx2"/>
                </a:solidFill>
              </a:rPr>
              <a:t>3 kabupaten lewat MoU dinkes; lisensi berbayar; versi offline (PWA)</a:t>
            </a:r>
            <a:endParaRPr lang="en-US" sz="1300" dirty="0"/>
          </a:p>
        </p:txBody>
      </p:sp>
      <p:sp>
        <p:nvSpPr>
          <p:cNvPr id="17" name="Shape 15"/>
          <p:cNvSpPr/>
          <p:nvPr/>
        </p:nvSpPr>
        <p:spPr>
          <a:xfrm>
            <a:off x="10073373" y="1874520"/>
            <a:ext cx="365760" cy="365760"/>
          </a:xfrm>
          <a:prstGeom prst="ellipse">
            <a:avLst/>
          </a:prstGeom>
          <a:solidFill>
            <a:schemeClr val="bg1"/>
          </a:solidFill>
          <a:ln w="25400">
            <a:solidFill>
              <a:schemeClr val="accent1"/>
            </a:solidFill>
            <a:prstDash val="solid"/>
          </a:ln>
        </p:spPr>
      </p:sp>
      <p:sp>
        <p:nvSpPr>
          <p:cNvPr id="18" name="Text 16"/>
          <p:cNvSpPr txBox="1"/>
          <p:nvPr/>
        </p:nvSpPr>
        <p:spPr>
          <a:xfrm>
            <a:off x="8960891" y="2377440"/>
            <a:ext cx="2590724" cy="274320"/>
          </a:xfrm>
          <a:prstGeom prst="rect">
            <a:avLst/>
          </a:prstGeom>
          <a:noFill/>
          <a:ln/>
        </p:spPr>
        <p:txBody>
          <a:bodyPr wrap="square" lIns="0" tIns="0" rIns="0" bIns="0" rtlCol="0" anchor="t"/>
          <a:lstStyle/>
          <a:p>
            <a:pPr algn="ctr" indent="0" marL="0">
              <a:buNone/>
            </a:pPr>
            <a:r>
              <a:rPr lang="en-US" sz="1200" b="1" dirty="0">
                <a:solidFill>
                  <a:schemeClr val="accent4"/>
                </a:solidFill>
              </a:rPr>
              <a:t>2029</a:t>
            </a:r>
            <a:endParaRPr lang="en-US" sz="1200" dirty="0"/>
          </a:p>
        </p:txBody>
      </p:sp>
      <p:sp>
        <p:nvSpPr>
          <p:cNvPr id="19" name="Text 17"/>
          <p:cNvSpPr txBox="1"/>
          <p:nvPr/>
        </p:nvSpPr>
        <p:spPr>
          <a:xfrm>
            <a:off x="8960891" y="2651760"/>
            <a:ext cx="2590724" cy="365760"/>
          </a:xfrm>
          <a:prstGeom prst="rect">
            <a:avLst/>
          </a:prstGeom>
          <a:noFill/>
          <a:ln/>
        </p:spPr>
        <p:txBody>
          <a:bodyPr wrap="square" lIns="0" tIns="0" rIns="0" bIns="0" rtlCol="0" anchor="t"/>
          <a:lstStyle/>
          <a:p>
            <a:pPr algn="ctr" indent="0" marL="0">
              <a:buNone/>
            </a:pPr>
            <a:r>
              <a:rPr lang="en-US" sz="1800" b="1" dirty="0">
                <a:solidFill>
                  <a:schemeClr val="tx1"/>
                </a:solidFill>
              </a:rPr>
              <a:t>Ekspansi</a:t>
            </a:r>
            <a:endParaRPr lang="en-US" sz="1800" dirty="0"/>
          </a:p>
        </p:txBody>
      </p:sp>
      <p:sp>
        <p:nvSpPr>
          <p:cNvPr id="20" name="Text 18"/>
          <p:cNvSpPr txBox="1"/>
          <p:nvPr/>
        </p:nvSpPr>
        <p:spPr>
          <a:xfrm>
            <a:off x="9006611" y="3063240"/>
            <a:ext cx="2499284" cy="1005840"/>
          </a:xfrm>
          <a:prstGeom prst="rect">
            <a:avLst/>
          </a:prstGeom>
          <a:noFill/>
          <a:ln/>
        </p:spPr>
        <p:txBody>
          <a:bodyPr wrap="square" lIns="0" tIns="0" rIns="0" bIns="0" rtlCol="0" anchor="t"/>
          <a:lstStyle/>
          <a:p>
            <a:pPr algn="ctr" indent="0" marL="0">
              <a:buNone/>
            </a:pPr>
            <a:r>
              <a:rPr lang="en-US" sz="1300" dirty="0">
                <a:solidFill>
                  <a:schemeClr val="tx2"/>
                </a:solidFill>
              </a:rPr>
              <a:t>±10 kabupaten, API B2B, integrasi dengan sistem data kesehatan nasional</a:t>
            </a:r>
            <a:endParaRPr lang="en-US" sz="1300" dirty="0"/>
          </a:p>
        </p:txBody>
      </p:sp>
      <p:sp>
        <p:nvSpPr>
          <p:cNvPr id="21" name="Shape 19"/>
          <p:cNvSpPr/>
          <p:nvPr/>
        </p:nvSpPr>
        <p:spPr>
          <a:xfrm>
            <a:off x="548640" y="4343400"/>
            <a:ext cx="3557016" cy="1600200"/>
          </a:xfrm>
          <a:prstGeom prst="roundRect">
            <a:avLst>
              <a:gd name="adj" fmla="val 8000"/>
            </a:avLst>
          </a:prstGeom>
          <a:solidFill>
            <a:schemeClr val="bg2"/>
          </a:solidFill>
          <a:ln w="12700">
            <a:solidFill>
              <a:schemeClr val="bg2"/>
            </a:solidFill>
            <a:prstDash val="solid"/>
          </a:ln>
        </p:spPr>
      </p:sp>
      <p:sp>
        <p:nvSpPr>
          <p:cNvPr id="22" name="Shape 20"/>
          <p:cNvSpPr/>
          <p:nvPr/>
        </p:nvSpPr>
        <p:spPr>
          <a:xfrm>
            <a:off x="777240" y="4544568"/>
            <a:ext cx="548640" cy="548640"/>
          </a:xfrm>
          <a:prstGeom prst="ellipse">
            <a:avLst/>
          </a:prstGeom>
          <a:solidFill>
            <a:schemeClr val="bg1"/>
          </a:solidFill>
          <a:ln w="12700">
            <a:solidFill>
              <a:schemeClr val="bg1"/>
            </a:solidFill>
            <a:prstDash val="solid"/>
          </a:ln>
        </p:spPr>
      </p:sp>
      <p:pic>
        <p:nvPicPr>
          <p:cNvPr id="23" name="Image 0" descr="preencoded.png">    </p:cNvPr>
          <p:cNvPicPr>
            <a:picLocks noChangeAspect="1"/>
          </p:cNvPicPr>
          <p:nvPr/>
        </p:nvPicPr>
        <p:blipFill>
          <a:blip r:embed="rId1"/>
          <a:stretch>
            <a:fillRect/>
          </a:stretch>
        </p:blipFill>
        <p:spPr>
          <a:xfrm>
            <a:off x="919886" y="4687214"/>
            <a:ext cx="263347" cy="263347"/>
          </a:xfrm>
          <a:prstGeom prst="rect">
            <a:avLst/>
          </a:prstGeom>
        </p:spPr>
      </p:pic>
      <p:sp>
        <p:nvSpPr>
          <p:cNvPr id="24" name="Text 21"/>
          <p:cNvSpPr txBox="1"/>
          <p:nvPr/>
        </p:nvSpPr>
        <p:spPr>
          <a:xfrm>
            <a:off x="1463040" y="4572000"/>
            <a:ext cx="2468880" cy="457200"/>
          </a:xfrm>
          <a:prstGeom prst="rect">
            <a:avLst/>
          </a:prstGeom>
          <a:noFill/>
          <a:ln/>
        </p:spPr>
        <p:txBody>
          <a:bodyPr wrap="square" lIns="0" tIns="0" rIns="0" bIns="0" rtlCol="0" anchor="ctr"/>
          <a:lstStyle/>
          <a:p>
            <a:pPr indent="0" marL="0">
              <a:buNone/>
            </a:pPr>
            <a:r>
              <a:rPr lang="en-US" sz="1700" b="1" dirty="0">
                <a:solidFill>
                  <a:schemeClr val="tx1"/>
                </a:solidFill>
              </a:rPr>
              <a:t>Dari atas</a:t>
            </a:r>
            <a:endParaRPr lang="en-US" sz="1700" dirty="0"/>
          </a:p>
        </p:txBody>
      </p:sp>
      <p:sp>
        <p:nvSpPr>
          <p:cNvPr id="25" name="Text 22"/>
          <p:cNvSpPr txBox="1"/>
          <p:nvPr/>
        </p:nvSpPr>
        <p:spPr>
          <a:xfrm>
            <a:off x="777240" y="5193792"/>
            <a:ext cx="3108960" cy="685800"/>
          </a:xfrm>
          <a:prstGeom prst="rect">
            <a:avLst/>
          </a:prstGeom>
          <a:noFill/>
          <a:ln/>
        </p:spPr>
        <p:txBody>
          <a:bodyPr wrap="square" lIns="0" tIns="0" rIns="0" bIns="0" rtlCol="0" anchor="t"/>
          <a:lstStyle/>
          <a:p>
            <a:pPr indent="0" marL="0">
              <a:buNone/>
            </a:pPr>
            <a:r>
              <a:rPr lang="en-US" sz="1300" dirty="0">
                <a:solidFill>
                  <a:schemeClr val="tx2"/>
                </a:solidFill>
              </a:rPr>
              <a:t>MoU dinas kesehatan, diteruskan ke puskesmas dan posyandu binaan</a:t>
            </a:r>
            <a:endParaRPr lang="en-US" sz="1300" dirty="0"/>
          </a:p>
        </p:txBody>
      </p:sp>
      <p:sp>
        <p:nvSpPr>
          <p:cNvPr id="26" name="Shape 23"/>
          <p:cNvSpPr/>
          <p:nvPr/>
        </p:nvSpPr>
        <p:spPr>
          <a:xfrm>
            <a:off x="4315968" y="4343400"/>
            <a:ext cx="3557016" cy="1600200"/>
          </a:xfrm>
          <a:prstGeom prst="roundRect">
            <a:avLst>
              <a:gd name="adj" fmla="val 8000"/>
            </a:avLst>
          </a:prstGeom>
          <a:solidFill>
            <a:schemeClr val="bg2"/>
          </a:solidFill>
          <a:ln w="12700">
            <a:solidFill>
              <a:schemeClr val="bg2"/>
            </a:solidFill>
            <a:prstDash val="solid"/>
          </a:ln>
        </p:spPr>
      </p:sp>
      <p:sp>
        <p:nvSpPr>
          <p:cNvPr id="27" name="Shape 24"/>
          <p:cNvSpPr/>
          <p:nvPr/>
        </p:nvSpPr>
        <p:spPr>
          <a:xfrm>
            <a:off x="4544568" y="4544568"/>
            <a:ext cx="548640" cy="548640"/>
          </a:xfrm>
          <a:prstGeom prst="ellipse">
            <a:avLst/>
          </a:prstGeom>
          <a:solidFill>
            <a:schemeClr val="bg1"/>
          </a:solidFill>
          <a:ln w="12700">
            <a:solidFill>
              <a:schemeClr val="bg1"/>
            </a:solidFill>
            <a:prstDash val="solid"/>
          </a:ln>
        </p:spPr>
      </p:sp>
      <p:pic>
        <p:nvPicPr>
          <p:cNvPr id="28" name="Image 1" descr="preencoded.png">    </p:cNvPr>
          <p:cNvPicPr>
            <a:picLocks noChangeAspect="1"/>
          </p:cNvPicPr>
          <p:nvPr/>
        </p:nvPicPr>
        <p:blipFill>
          <a:blip r:embed="rId2"/>
          <a:stretch>
            <a:fillRect/>
          </a:stretch>
        </p:blipFill>
        <p:spPr>
          <a:xfrm>
            <a:off x="4687214" y="4687214"/>
            <a:ext cx="263347" cy="263347"/>
          </a:xfrm>
          <a:prstGeom prst="rect">
            <a:avLst/>
          </a:prstGeom>
        </p:spPr>
      </p:pic>
      <p:sp>
        <p:nvSpPr>
          <p:cNvPr id="29" name="Text 25"/>
          <p:cNvSpPr txBox="1"/>
          <p:nvPr/>
        </p:nvSpPr>
        <p:spPr>
          <a:xfrm>
            <a:off x="5230368" y="4572000"/>
            <a:ext cx="2468880" cy="457200"/>
          </a:xfrm>
          <a:prstGeom prst="rect">
            <a:avLst/>
          </a:prstGeom>
          <a:noFill/>
          <a:ln/>
        </p:spPr>
        <p:txBody>
          <a:bodyPr wrap="square" lIns="0" tIns="0" rIns="0" bIns="0" rtlCol="0" anchor="ctr"/>
          <a:lstStyle/>
          <a:p>
            <a:pPr indent="0" marL="0">
              <a:buNone/>
            </a:pPr>
            <a:r>
              <a:rPr lang="en-US" sz="1700" b="1" dirty="0">
                <a:solidFill>
                  <a:schemeClr val="tx1"/>
                </a:solidFill>
              </a:rPr>
              <a:t>Dari bawah</a:t>
            </a:r>
            <a:endParaRPr lang="en-US" sz="1700" dirty="0"/>
          </a:p>
        </p:txBody>
      </p:sp>
      <p:sp>
        <p:nvSpPr>
          <p:cNvPr id="30" name="Text 26"/>
          <p:cNvSpPr txBox="1"/>
          <p:nvPr/>
        </p:nvSpPr>
        <p:spPr>
          <a:xfrm>
            <a:off x="4544568" y="5193792"/>
            <a:ext cx="3108960" cy="685800"/>
          </a:xfrm>
          <a:prstGeom prst="rect">
            <a:avLst/>
          </a:prstGeom>
          <a:noFill/>
          <a:ln/>
        </p:spPr>
        <p:txBody>
          <a:bodyPr wrap="square" lIns="0" tIns="0" rIns="0" bIns="0" rtlCol="0" anchor="t"/>
          <a:lstStyle/>
          <a:p>
            <a:pPr indent="0" marL="0">
              <a:buNone/>
            </a:pPr>
            <a:r>
              <a:rPr lang="en-US" sz="1300" dirty="0">
                <a:solidFill>
                  <a:schemeClr val="tx2"/>
                </a:solidFill>
              </a:rPr>
              <a:t>Kader dan bidan desa sebagai champion yang melatih rekannya</a:t>
            </a:r>
            <a:endParaRPr lang="en-US" sz="1300" dirty="0"/>
          </a:p>
        </p:txBody>
      </p:sp>
      <p:sp>
        <p:nvSpPr>
          <p:cNvPr id="31" name="Shape 27"/>
          <p:cNvSpPr/>
          <p:nvPr/>
        </p:nvSpPr>
        <p:spPr>
          <a:xfrm>
            <a:off x="8083296" y="4343400"/>
            <a:ext cx="3557016" cy="1600200"/>
          </a:xfrm>
          <a:prstGeom prst="roundRect">
            <a:avLst>
              <a:gd name="adj" fmla="val 8000"/>
            </a:avLst>
          </a:prstGeom>
          <a:solidFill>
            <a:schemeClr val="bg2"/>
          </a:solidFill>
          <a:ln w="12700">
            <a:solidFill>
              <a:schemeClr val="bg2"/>
            </a:solidFill>
            <a:prstDash val="solid"/>
          </a:ln>
        </p:spPr>
      </p:sp>
      <p:sp>
        <p:nvSpPr>
          <p:cNvPr id="32" name="Shape 28"/>
          <p:cNvSpPr/>
          <p:nvPr/>
        </p:nvSpPr>
        <p:spPr>
          <a:xfrm>
            <a:off x="8311896" y="4544568"/>
            <a:ext cx="548640" cy="548640"/>
          </a:xfrm>
          <a:prstGeom prst="ellipse">
            <a:avLst/>
          </a:prstGeom>
          <a:solidFill>
            <a:schemeClr val="bg1"/>
          </a:solidFill>
          <a:ln w="12700">
            <a:solidFill>
              <a:schemeClr val="bg1"/>
            </a:solidFill>
            <a:prstDash val="solid"/>
          </a:ln>
        </p:spPr>
      </p:sp>
      <p:pic>
        <p:nvPicPr>
          <p:cNvPr id="33" name="Image 2" descr="preencoded.png">    </p:cNvPr>
          <p:cNvPicPr>
            <a:picLocks noChangeAspect="1"/>
          </p:cNvPicPr>
          <p:nvPr/>
        </p:nvPicPr>
        <p:blipFill>
          <a:blip r:embed="rId3"/>
          <a:stretch>
            <a:fillRect/>
          </a:stretch>
        </p:blipFill>
        <p:spPr>
          <a:xfrm>
            <a:off x="8454542" y="4687214"/>
            <a:ext cx="263347" cy="263347"/>
          </a:xfrm>
          <a:prstGeom prst="rect">
            <a:avLst/>
          </a:prstGeom>
        </p:spPr>
      </p:pic>
      <p:sp>
        <p:nvSpPr>
          <p:cNvPr id="34" name="Text 29"/>
          <p:cNvSpPr txBox="1"/>
          <p:nvPr/>
        </p:nvSpPr>
        <p:spPr>
          <a:xfrm>
            <a:off x="8997696" y="4572000"/>
            <a:ext cx="2468880" cy="457200"/>
          </a:xfrm>
          <a:prstGeom prst="rect">
            <a:avLst/>
          </a:prstGeom>
          <a:noFill/>
          <a:ln/>
        </p:spPr>
        <p:txBody>
          <a:bodyPr wrap="square" lIns="0" tIns="0" rIns="0" bIns="0" rtlCol="0" anchor="ctr"/>
          <a:lstStyle/>
          <a:p>
            <a:pPr indent="0" marL="0">
              <a:buNone/>
            </a:pPr>
            <a:r>
              <a:rPr lang="en-US" sz="1700" b="1" dirty="0">
                <a:solidFill>
                  <a:schemeClr val="tx1"/>
                </a:solidFill>
              </a:rPr>
              <a:t>Lewat sekolah</a:t>
            </a:r>
            <a:endParaRPr lang="en-US" sz="1700" dirty="0"/>
          </a:p>
        </p:txBody>
      </p:sp>
      <p:sp>
        <p:nvSpPr>
          <p:cNvPr id="35" name="Text 30"/>
          <p:cNvSpPr txBox="1"/>
          <p:nvPr/>
        </p:nvSpPr>
        <p:spPr>
          <a:xfrm>
            <a:off x="8311896" y="5193792"/>
            <a:ext cx="3108960" cy="685800"/>
          </a:xfrm>
          <a:prstGeom prst="rect">
            <a:avLst/>
          </a:prstGeom>
          <a:noFill/>
          <a:ln/>
        </p:spPr>
        <p:txBody>
          <a:bodyPr wrap="square" lIns="0" tIns="0" rIns="0" bIns="0" rtlCol="0" anchor="t"/>
          <a:lstStyle/>
          <a:p>
            <a:pPr indent="0" marL="0">
              <a:buNone/>
            </a:pPr>
            <a:r>
              <a:rPr lang="en-US" sz="1300" dirty="0">
                <a:solidFill>
                  <a:schemeClr val="tx2"/>
                </a:solidFill>
              </a:rPr>
              <a:t>Mendampingi skrining Hb remaja putri kelas 7 dan 10 (Aksi Bergizi)</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nchor="t"/>
          <a:lstStyle/>
          <a:p>
            <a:pPr indent="0" marL="0">
              <a:buNone/>
            </a:pPr>
            <a:r>
              <a:rPr lang="en-US" sz="1200" b="1" spc="200" kern="0" dirty="0">
                <a:solidFill>
                  <a:schemeClr val="accent4"/>
                </a:solidFill>
              </a:rPr>
              <a:t>REGULASI DAN RISIKO</a:t>
            </a:r>
            <a:endParaRPr lang="en-US" sz="1200" dirty="0"/>
          </a:p>
        </p:txBody>
      </p:sp>
      <p:sp>
        <p:nvSpPr>
          <p:cNvPr id="3" name="Text 1"/>
          <p:cNvSpPr/>
          <p:nvPr>
            <p:ph idx="102" type="title" hasCustomPrompt="1"/>
          </p:nvPr>
        </p:nvSpPr>
        <p:spPr>
          <a:xfrm>
            <a:off x="548640" y="694944"/>
            <a:ext cx="11094415" cy="73152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Risiko yang kami sadari dan cara mitigasinya</a:t>
            </a:r>
            <a:endParaRPr lang="en-US" sz="3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4206240"/>
                <a:gridCol w="6885432"/>
              </a:tblGrid>
              <a:tr h="713232">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Risiko</a:t>
                      </a:r>
                      <a:endParaRPr lang="en-US" sz="1500" dirty="0">
                        <a:latin typeface="Calibri" charset="0"/>
                        <a:ea typeface="Calibri" charset="0"/>
                        <a:cs typeface="Calibri" charset="0"/>
                      </a:endParaRPr>
                    </a:p>
                  </a:txBody>
                  <a:tcPr marL="164592" marR="164592"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1F1A2E"/>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Mitigasi</a:t>
                      </a:r>
                      <a:endParaRPr lang="en-US" sz="1500" dirty="0">
                        <a:latin typeface="Calibri" charset="0"/>
                        <a:ea typeface="Calibri" charset="0"/>
                        <a:cs typeface="Calibri" charset="0"/>
                      </a:endParaRPr>
                    </a:p>
                  </a:txBody>
                  <a:tcPr marL="164592" marR="164592"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1F1A2E"/>
                    </a:solidFill>
                  </a:tcPr>
                </a:tc>
              </a:tr>
              <a:tr h="713232">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Akurasi turun pada warna kulit atau cahaya lokal</a:t>
                      </a:r>
                      <a:endParaRPr lang="en-US" sz="1500" dirty="0">
                        <a:latin typeface="Calibri" charset="0"/>
                        <a:ea typeface="Calibri" charset="0"/>
                        <a:cs typeface="Calibri" charset="0"/>
                      </a:endParaRPr>
                    </a:p>
                  </a:txBody>
                  <a:tcPr marL="164592" marR="164592"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7F1EE"/>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Latih ulang dengan data Indonesia; ambang sensitivitas ≥ 85%; cek kualitas foto</a:t>
                      </a:r>
                      <a:endParaRPr lang="en-US" sz="1500" dirty="0">
                        <a:latin typeface="Calibri" charset="0"/>
                        <a:ea typeface="Calibri" charset="0"/>
                        <a:cs typeface="Calibri" charset="0"/>
                      </a:endParaRPr>
                    </a:p>
                  </a:txBody>
                  <a:tcPr marL="164592" marR="164592"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7F1EE"/>
                    </a:solidFill>
                  </a:tcPr>
                </a:tc>
              </a:tr>
              <a:tr h="713232">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Hasil dianggap diagnosis</a:t>
                      </a:r>
                      <a:endParaRPr lang="en-US" sz="1500" dirty="0">
                        <a:latin typeface="Calibri" charset="0"/>
                        <a:ea typeface="Calibri" charset="0"/>
                        <a:cs typeface="Calibri" charset="0"/>
                      </a:endParaRPr>
                    </a:p>
                  </a:txBody>
                  <a:tcPr marL="164592" marR="164592"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FFFFF"/>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Diposisikan sebagai skrining dengan label "bukan pengganti tes Hb"; jalur izin edar KMK 951/2026</a:t>
                      </a:r>
                      <a:endParaRPr lang="en-US" sz="1500" dirty="0">
                        <a:latin typeface="Calibri" charset="0"/>
                        <a:ea typeface="Calibri" charset="0"/>
                        <a:cs typeface="Calibri" charset="0"/>
                      </a:endParaRPr>
                    </a:p>
                  </a:txBody>
                  <a:tcPr marL="164592" marR="164592"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Privasi data kesehatan</a:t>
                      </a:r>
                      <a:endParaRPr lang="en-US" sz="1500" dirty="0">
                        <a:latin typeface="Calibri" charset="0"/>
                        <a:ea typeface="Calibri" charset="0"/>
                        <a:cs typeface="Calibri" charset="0"/>
                      </a:endParaRPr>
                    </a:p>
                  </a:txBody>
                  <a:tcPr marL="164592" marR="164592"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7F1EE"/>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Foto tidak disimpan; prinsip UU Pelindungan Data Pribadi No. 27/2022</a:t>
                      </a:r>
                      <a:endParaRPr lang="en-US" sz="1500" dirty="0">
                        <a:latin typeface="Calibri" charset="0"/>
                        <a:ea typeface="Calibri" charset="0"/>
                        <a:cs typeface="Calibri" charset="0"/>
                      </a:endParaRPr>
                    </a:p>
                  </a:txBody>
                  <a:tcPr marL="164592" marR="164592"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7F1EE"/>
                    </a:solidFill>
                  </a:tcPr>
                </a:tc>
              </a:tr>
              <a:tr h="713232">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Sinyal lemah di pedalaman</a:t>
                      </a:r>
                      <a:endParaRPr lang="en-US" sz="1500" dirty="0">
                        <a:latin typeface="Calibri" charset="0"/>
                        <a:ea typeface="Calibri" charset="0"/>
                        <a:cs typeface="Calibri" charset="0"/>
                      </a:endParaRPr>
                    </a:p>
                  </a:txBody>
                  <a:tcPr marL="164592" marR="164592"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FFFFF"/>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Versi PWA offline dengan model di perangkat (roadmap 2028)</a:t>
                      </a:r>
                      <a:endParaRPr lang="en-US" sz="1500" dirty="0">
                        <a:latin typeface="Calibri" charset="0"/>
                        <a:ea typeface="Calibri" charset="0"/>
                        <a:cs typeface="Calibri" charset="0"/>
                      </a:endParaRPr>
                    </a:p>
                  </a:txBody>
                  <a:tcPr marL="164592" marR="164592"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Adopsi kader rendah</a:t>
                      </a:r>
                      <a:endParaRPr lang="en-US" sz="1500" dirty="0">
                        <a:latin typeface="Calibri" charset="0"/>
                        <a:ea typeface="Calibri" charset="0"/>
                        <a:cs typeface="Calibri" charset="0"/>
                      </a:endParaRPr>
                    </a:p>
                  </a:txBody>
                  <a:tcPr marL="164592" marR="164592"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7F1EE"/>
                    </a:solidFill>
                  </a:tcPr>
                </a:tc>
                <a:tc>
                  <a:txBody>
                    <a:bodyPr/>
                    <a:lstStyle/>
                    <a:p>
                      <a:pPr indent="0" marL="0">
                        <a:buNone/>
                      </a:pPr>
                      <a:r>
                        <a:rPr lang="en-US" sz="1500" dirty="0">
                          <a:solidFill>
                            <a:schemeClr val="tx2"/>
                          </a:solidFill>
                          <a:latin typeface="Calibri" pitchFamily="34" charset="0"/>
                          <a:ea typeface="Calibri" pitchFamily="34" charset="-122"/>
                          <a:cs typeface="Calibri" pitchFamily="34" charset="-120"/>
                        </a:rPr>
                        <a:t>Antarmuka sederhana, pelatihan singkat, kader champion</a:t>
                      </a:r>
                      <a:endParaRPr lang="en-US" sz="1500" dirty="0">
                        <a:latin typeface="Calibri" charset="0"/>
                        <a:ea typeface="Calibri" charset="0"/>
                        <a:cs typeface="Calibri" charset="0"/>
                      </a:endParaRPr>
                    </a:p>
                  </a:txBody>
                  <a:tcPr marL="164592" marR="164592"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7F1EE"/>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nchor="t"/>
          <a:lstStyle/>
          <a:p>
            <a:pPr indent="0" marL="0">
              <a:buNone/>
            </a:pPr>
            <a:r>
              <a:rPr lang="en-US" sz="1200" b="1" spc="200" kern="0" dirty="0">
                <a:solidFill>
                  <a:schemeClr val="accent4"/>
                </a:solidFill>
              </a:rPr>
              <a:t>DAMPAK</a:t>
            </a:r>
            <a:endParaRPr lang="en-US" sz="1200" dirty="0"/>
          </a:p>
        </p:txBody>
      </p:sp>
      <p:sp>
        <p:nvSpPr>
          <p:cNvPr id="3" name="Text 1"/>
          <p:cNvSpPr/>
          <p:nvPr>
            <p:ph idx="102" type="title" hasCustomPrompt="1"/>
          </p:nvPr>
        </p:nvSpPr>
        <p:spPr>
          <a:xfrm>
            <a:off x="548640" y="694944"/>
            <a:ext cx="11094415" cy="73152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Deteksi lebih dini, rujukan lebih tepat sasaran</a:t>
            </a:r>
            <a:endParaRPr lang="en-US" sz="3400" dirty="0"/>
          </a:p>
        </p:txBody>
      </p:sp>
      <p:sp>
        <p:nvSpPr>
          <p:cNvPr id="4" name="Shape 2"/>
          <p:cNvSpPr/>
          <p:nvPr/>
        </p:nvSpPr>
        <p:spPr>
          <a:xfrm>
            <a:off x="548640" y="1645920"/>
            <a:ext cx="11094415" cy="2011680"/>
          </a:xfrm>
          <a:prstGeom prst="roundRect">
            <a:avLst>
              <a:gd name="adj" fmla="val 6364"/>
            </a:avLst>
          </a:prstGeom>
          <a:solidFill>
            <a:schemeClr val="bg2"/>
          </a:solidFill>
          <a:ln w="12700">
            <a:solidFill>
              <a:schemeClr val="bg2"/>
            </a:solidFill>
            <a:prstDash val="solid"/>
          </a:ln>
        </p:spPr>
      </p:sp>
      <p:pic>
        <p:nvPicPr>
          <p:cNvPr id="5" name="Image 0" descr="/home/claude/anemia/doc/img/impact.png">    </p:cNvPr>
          <p:cNvPicPr>
            <a:picLocks noChangeAspect="1"/>
          </p:cNvPicPr>
          <p:nvPr/>
        </p:nvPicPr>
        <p:blipFill>
          <a:blip r:embed="rId1"/>
          <a:stretch>
            <a:fillRect/>
          </a:stretch>
        </p:blipFill>
        <p:spPr>
          <a:xfrm>
            <a:off x="731520" y="1739824"/>
            <a:ext cx="10728655" cy="1823871"/>
          </a:xfrm>
          <a:prstGeom prst="rect">
            <a:avLst/>
          </a:prstGeom>
        </p:spPr>
      </p:pic>
      <p:sp>
        <p:nvSpPr>
          <p:cNvPr id="6" name="Shape 3"/>
          <p:cNvSpPr/>
          <p:nvPr/>
        </p:nvSpPr>
        <p:spPr>
          <a:xfrm>
            <a:off x="548640" y="3931920"/>
            <a:ext cx="3557016" cy="2011680"/>
          </a:xfrm>
          <a:prstGeom prst="roundRect">
            <a:avLst>
              <a:gd name="adj" fmla="val 6364"/>
            </a:avLst>
          </a:prstGeom>
          <a:solidFill>
            <a:srgbClr val="1F1A2E"/>
          </a:solidFill>
          <a:ln w="12700">
            <a:solidFill>
              <a:srgbClr val="1F1A2E"/>
            </a:solidFill>
            <a:prstDash val="solid"/>
          </a:ln>
        </p:spPr>
      </p:sp>
      <p:sp>
        <p:nvSpPr>
          <p:cNvPr id="7" name="Text 4"/>
          <p:cNvSpPr txBox="1"/>
          <p:nvPr/>
        </p:nvSpPr>
        <p:spPr>
          <a:xfrm>
            <a:off x="822960" y="4114800"/>
            <a:ext cx="3017520" cy="777240"/>
          </a:xfrm>
          <a:prstGeom prst="rect">
            <a:avLst/>
          </a:prstGeom>
          <a:noFill/>
          <a:ln/>
        </p:spPr>
        <p:txBody>
          <a:bodyPr wrap="square" lIns="0" tIns="0" rIns="0" bIns="0" rtlCol="0" anchor="t"/>
          <a:lstStyle/>
          <a:p>
            <a:pPr indent="0" marL="0">
              <a:buNone/>
            </a:pPr>
            <a:r>
              <a:rPr lang="en-US" sz="3400" b="1" dirty="0">
                <a:solidFill>
                  <a:schemeClr val="accent3"/>
                </a:solidFill>
                <a:latin typeface="Cambria" pitchFamily="34" charset="0"/>
                <a:ea typeface="Cambria" pitchFamily="34" charset="-122"/>
                <a:cs typeface="Cambria" pitchFamily="34" charset="-120"/>
              </a:rPr>
              <a:t>US$1 → US$12</a:t>
            </a:r>
            <a:endParaRPr lang="en-US" sz="3400" dirty="0"/>
          </a:p>
        </p:txBody>
      </p:sp>
      <p:sp>
        <p:nvSpPr>
          <p:cNvPr id="8" name="Text 5"/>
          <p:cNvSpPr txBox="1"/>
          <p:nvPr/>
        </p:nvSpPr>
        <p:spPr>
          <a:xfrm>
            <a:off x="822960" y="4937760"/>
            <a:ext cx="3017520" cy="822960"/>
          </a:xfrm>
          <a:prstGeom prst="rect">
            <a:avLst/>
          </a:prstGeom>
          <a:noFill/>
          <a:ln/>
        </p:spPr>
        <p:txBody>
          <a:bodyPr wrap="square" lIns="0" tIns="0" rIns="0" bIns="0" rtlCol="0" anchor="t"/>
          <a:lstStyle/>
          <a:p>
            <a:pPr indent="0" marL="0">
              <a:buNone/>
            </a:pPr>
            <a:r>
              <a:rPr lang="en-US" sz="1400" dirty="0">
                <a:solidFill>
                  <a:schemeClr val="accent6"/>
                </a:solidFill>
              </a:rPr>
              <a:t>imbal hasil ekonomi tiap investasi penanganan anemia (WHO)</a:t>
            </a:r>
            <a:endParaRPr lang="en-US" sz="1400" dirty="0"/>
          </a:p>
        </p:txBody>
      </p:sp>
      <p:sp>
        <p:nvSpPr>
          <p:cNvPr id="9" name="Shape 6"/>
          <p:cNvSpPr/>
          <p:nvPr/>
        </p:nvSpPr>
        <p:spPr>
          <a:xfrm>
            <a:off x="4315968" y="3931920"/>
            <a:ext cx="3557016" cy="2011680"/>
          </a:xfrm>
          <a:prstGeom prst="roundRect">
            <a:avLst>
              <a:gd name="adj" fmla="val 6364"/>
            </a:avLst>
          </a:prstGeom>
          <a:solidFill>
            <a:srgbClr val="F7F1EE"/>
          </a:solidFill>
          <a:ln w="12700">
            <a:solidFill>
              <a:srgbClr val="F7F1EE"/>
            </a:solidFill>
            <a:prstDash val="solid"/>
          </a:ln>
        </p:spPr>
      </p:sp>
      <p:sp>
        <p:nvSpPr>
          <p:cNvPr id="10" name="Text 7"/>
          <p:cNvSpPr txBox="1"/>
          <p:nvPr/>
        </p:nvSpPr>
        <p:spPr>
          <a:xfrm>
            <a:off x="4590288" y="4114800"/>
            <a:ext cx="3017520" cy="777240"/>
          </a:xfrm>
          <a:prstGeom prst="rect">
            <a:avLst/>
          </a:prstGeom>
          <a:noFill/>
          <a:ln/>
        </p:spPr>
        <p:txBody>
          <a:bodyPr wrap="square" lIns="0" tIns="0" rIns="0" bIns="0" rtlCol="0" anchor="t"/>
          <a:lstStyle/>
          <a:p>
            <a:pPr indent="0" marL="0">
              <a:buNone/>
            </a:pPr>
            <a:r>
              <a:rPr lang="en-US" sz="3400" b="1" dirty="0">
                <a:solidFill>
                  <a:schemeClr val="accent4"/>
                </a:solidFill>
                <a:latin typeface="Cambria" pitchFamily="34" charset="0"/>
                <a:ea typeface="Cambria" pitchFamily="34" charset="-122"/>
                <a:cs typeface="Cambria" pitchFamily="34" charset="-120"/>
              </a:rPr>
              <a:t>25%</a:t>
            </a:r>
            <a:endParaRPr lang="en-US" sz="3400" dirty="0"/>
          </a:p>
        </p:txBody>
      </p:sp>
      <p:sp>
        <p:nvSpPr>
          <p:cNvPr id="11" name="Text 8"/>
          <p:cNvSpPr txBox="1"/>
          <p:nvPr/>
        </p:nvSpPr>
        <p:spPr>
          <a:xfrm>
            <a:off x="4590288" y="4937760"/>
            <a:ext cx="3017520" cy="822960"/>
          </a:xfrm>
          <a:prstGeom prst="rect">
            <a:avLst/>
          </a:prstGeom>
          <a:noFill/>
          <a:ln/>
        </p:spPr>
        <p:txBody>
          <a:bodyPr wrap="square" lIns="0" tIns="0" rIns="0" bIns="0" rtlCol="0" anchor="t"/>
          <a:lstStyle/>
          <a:p>
            <a:pPr indent="0" marL="0">
              <a:buNone/>
            </a:pPr>
            <a:r>
              <a:rPr lang="en-US" sz="1400" dirty="0">
                <a:solidFill>
                  <a:schemeClr val="tx2"/>
                </a:solidFill>
              </a:rPr>
              <a:t>target prevalensi anemia remaja putri 2025–2029</a:t>
            </a:r>
            <a:endParaRPr lang="en-US" sz="1400" dirty="0"/>
          </a:p>
        </p:txBody>
      </p:sp>
      <p:sp>
        <p:nvSpPr>
          <p:cNvPr id="12" name="Shape 9"/>
          <p:cNvSpPr/>
          <p:nvPr/>
        </p:nvSpPr>
        <p:spPr>
          <a:xfrm>
            <a:off x="8083296" y="3931920"/>
            <a:ext cx="3557016" cy="2011680"/>
          </a:xfrm>
          <a:prstGeom prst="roundRect">
            <a:avLst>
              <a:gd name="adj" fmla="val 6364"/>
            </a:avLst>
          </a:prstGeom>
          <a:solidFill>
            <a:srgbClr val="F7F1EE"/>
          </a:solidFill>
          <a:ln w="12700">
            <a:solidFill>
              <a:srgbClr val="F7F1EE"/>
            </a:solidFill>
            <a:prstDash val="solid"/>
          </a:ln>
        </p:spPr>
      </p:sp>
      <p:sp>
        <p:nvSpPr>
          <p:cNvPr id="13" name="Text 10"/>
          <p:cNvSpPr txBox="1"/>
          <p:nvPr/>
        </p:nvSpPr>
        <p:spPr>
          <a:xfrm>
            <a:off x="8357616" y="4114800"/>
            <a:ext cx="3017520" cy="777240"/>
          </a:xfrm>
          <a:prstGeom prst="rect">
            <a:avLst/>
          </a:prstGeom>
          <a:noFill/>
          <a:ln/>
        </p:spPr>
        <p:txBody>
          <a:bodyPr wrap="square" lIns="0" tIns="0" rIns="0" bIns="0" rtlCol="0" anchor="t"/>
          <a:lstStyle/>
          <a:p>
            <a:pPr indent="0" marL="0">
              <a:buNone/>
            </a:pPr>
            <a:r>
              <a:rPr lang="en-US" sz="3400" b="1" dirty="0">
                <a:solidFill>
                  <a:schemeClr val="accent2"/>
                </a:solidFill>
                <a:latin typeface="Cambria" pitchFamily="34" charset="0"/>
                <a:ea typeface="Cambria" pitchFamily="34" charset="-122"/>
                <a:cs typeface="Cambria" pitchFamily="34" charset="-120"/>
              </a:rPr>
              <a:t>≥ 85%</a:t>
            </a:r>
            <a:endParaRPr lang="en-US" sz="3400" dirty="0"/>
          </a:p>
        </p:txBody>
      </p:sp>
      <p:sp>
        <p:nvSpPr>
          <p:cNvPr id="14" name="Text 11"/>
          <p:cNvSpPr txBox="1"/>
          <p:nvPr/>
        </p:nvSpPr>
        <p:spPr>
          <a:xfrm>
            <a:off x="8357616" y="4937760"/>
            <a:ext cx="3017520" cy="822960"/>
          </a:xfrm>
          <a:prstGeom prst="rect">
            <a:avLst/>
          </a:prstGeom>
          <a:noFill/>
          <a:ln/>
        </p:spPr>
        <p:txBody>
          <a:bodyPr wrap="square" lIns="0" tIns="0" rIns="0" bIns="0" rtlCol="0" anchor="t"/>
          <a:lstStyle/>
          <a:p>
            <a:pPr indent="0" marL="0">
              <a:buNone/>
            </a:pPr>
            <a:r>
              <a:rPr lang="en-US" sz="1400" dirty="0">
                <a:solidFill>
                  <a:schemeClr val="tx2"/>
                </a:solidFill>
              </a:rPr>
              <a:t>target sensitivitas lapangan pada pilot, dibandingkan cek Hb</a:t>
            </a:r>
            <a:endParaRPr lang="en-US" sz="1400" dirty="0"/>
          </a:p>
        </p:txBody>
      </p:sp>
      <p:sp>
        <p:nvSpPr>
          <p:cNvPr id="15" name="Text 12"/>
          <p:cNvSpPr txBox="1"/>
          <p:nvPr/>
        </p:nvSpPr>
        <p:spPr>
          <a:xfrm>
            <a:off x="548640" y="6053328"/>
            <a:ext cx="11094415" cy="256032"/>
          </a:xfrm>
          <a:prstGeom prst="rect">
            <a:avLst/>
          </a:prstGeom>
          <a:noFill/>
          <a:ln/>
        </p:spPr>
        <p:txBody>
          <a:bodyPr wrap="square" lIns="0" tIns="0" rIns="0" bIns="0" rtlCol="0" anchor="t"/>
          <a:lstStyle/>
          <a:p>
            <a:pPr indent="0" marL="0">
              <a:buNone/>
            </a:pPr>
            <a:r>
              <a:rPr lang="en-US" sz="1000" i="1" dirty="0">
                <a:solidFill>
                  <a:schemeClr val="tx2"/>
                </a:solidFill>
              </a:rPr>
              <a:t>Sumber: WHO Anaemia Fact Sheet; indikator anemia remaja Kemenkes 2025–2029</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92608"/>
          </a:xfrm>
          <a:prstGeom prst="rect">
            <a:avLst/>
          </a:prstGeom>
          <a:noFill/>
          <a:ln/>
        </p:spPr>
        <p:txBody>
          <a:bodyPr wrap="square" lIns="0" tIns="0" rIns="0" bIns="0" rtlCol="0" anchor="t"/>
          <a:lstStyle/>
          <a:p>
            <a:pPr indent="0" marL="0">
              <a:buNone/>
            </a:pPr>
            <a:r>
              <a:rPr lang="en-US" sz="1200" b="1" spc="200" kern="0" dirty="0">
                <a:solidFill>
                  <a:schemeClr val="accent4"/>
                </a:solidFill>
              </a:rPr>
              <a:t>PENGGUNAAN AI TOOLS</a:t>
            </a:r>
            <a:endParaRPr lang="en-US" sz="1200" dirty="0"/>
          </a:p>
        </p:txBody>
      </p:sp>
      <p:sp>
        <p:nvSpPr>
          <p:cNvPr id="3" name="Text 1"/>
          <p:cNvSpPr/>
          <p:nvPr>
            <p:ph idx="102" type="title" hasCustomPrompt="1"/>
          </p:nvPr>
        </p:nvSpPr>
        <p:spPr>
          <a:xfrm>
            <a:off x="548640" y="694944"/>
            <a:ext cx="11094415" cy="73152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AI yang kami pakai dan perannya</a:t>
            </a:r>
            <a:endParaRPr lang="en-US" sz="3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3840480"/>
                <a:gridCol w="1920240"/>
                <a:gridCol w="5330952"/>
              </a:tblGrid>
              <a:tr h="54864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AI tool</a:t>
                      </a:r>
                      <a:endParaRPr lang="en-US" sz="1300" dirty="0">
                        <a:latin typeface="Calibri" charset="0"/>
                        <a:ea typeface="Calibri" charset="0"/>
                        <a:cs typeface="Calibri" charset="0"/>
                      </a:endParaRPr>
                    </a:p>
                  </a:txBody>
                  <a:tcPr marL="128016" marR="128016"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1F1A2E"/>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Jenis</a:t>
                      </a:r>
                      <a:endParaRPr lang="en-US" sz="1300" dirty="0">
                        <a:latin typeface="Calibri" charset="0"/>
                        <a:ea typeface="Calibri" charset="0"/>
                        <a:cs typeface="Calibri" charset="0"/>
                      </a:endParaRPr>
                    </a:p>
                  </a:txBody>
                  <a:tcPr marL="128016" marR="128016"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1F1A2E"/>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Peran</a:t>
                      </a:r>
                      <a:endParaRPr lang="en-US" sz="1300" dirty="0">
                        <a:latin typeface="Calibri" charset="0"/>
                        <a:ea typeface="Calibri" charset="0"/>
                        <a:cs typeface="Calibri" charset="0"/>
                      </a:endParaRPr>
                    </a:p>
                  </a:txBody>
                  <a:tcPr marL="128016" marR="128016"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1F1A2E"/>
                    </a:solidFill>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Claude (Anthropic)</a:t>
                      </a:r>
                      <a:endParaRPr lang="en-US" sz="1300" dirty="0">
                        <a:latin typeface="Calibri" charset="0"/>
                        <a:ea typeface="Calibri" charset="0"/>
                        <a:cs typeface="Calibri" charset="0"/>
                      </a:endParaRPr>
                    </a:p>
                  </a:txBody>
                  <a:tcPr marL="128016" marR="128016"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7F1EE"/>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Asisten pengembangan</a:t>
                      </a:r>
                      <a:endParaRPr lang="en-US" sz="1300" dirty="0">
                        <a:latin typeface="Calibri" charset="0"/>
                        <a:ea typeface="Calibri" charset="0"/>
                        <a:cs typeface="Calibri" charset="0"/>
                      </a:endParaRPr>
                    </a:p>
                  </a:txBody>
                  <a:tcPr marL="128016" marR="128016"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7F1EE"/>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Riset literatur, penulisan dan debugging kode, analisis data, dokumentasi, proposal, dan pitch deck</a:t>
                      </a:r>
                      <a:endParaRPr lang="en-US" sz="1300" dirty="0">
                        <a:latin typeface="Calibri" charset="0"/>
                        <a:ea typeface="Calibri" charset="0"/>
                        <a:cs typeface="Calibri" charset="0"/>
                      </a:endParaRPr>
                    </a:p>
                  </a:txBody>
                  <a:tcPr marL="128016" marR="128016"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7F1EE"/>
                    </a:solidFill>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U-Net ResNet-34 (PyTorch, pretrained ImageNet)</a:t>
                      </a:r>
                      <a:endParaRPr lang="en-US" sz="1300" dirty="0">
                        <a:latin typeface="Calibri" charset="0"/>
                        <a:ea typeface="Calibri" charset="0"/>
                        <a:cs typeface="Calibri" charset="0"/>
                      </a:endParaRPr>
                    </a:p>
                  </a:txBody>
                  <a:tcPr marL="128016" marR="128016"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FFFFF"/>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Di dalam produk</a:t>
                      </a:r>
                      <a:endParaRPr lang="en-US" sz="1300" dirty="0">
                        <a:latin typeface="Calibri" charset="0"/>
                        <a:ea typeface="Calibri" charset="0"/>
                        <a:cs typeface="Calibri" charset="0"/>
                      </a:endParaRPr>
                    </a:p>
                  </a:txBody>
                  <a:tcPr marL="128016" marR="128016"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FFFFF"/>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Segmentasi konjungtiva, di-fine-tune pada dataset konjungtiva publik</a:t>
                      </a:r>
                      <a:endParaRPr lang="en-US" sz="1300" dirty="0">
                        <a:latin typeface="Calibri" charset="0"/>
                        <a:ea typeface="Calibri" charset="0"/>
                        <a:cs typeface="Calibri" charset="0"/>
                      </a:endParaRPr>
                    </a:p>
                  </a:txBody>
                  <a:tcPr marL="128016" marR="128016"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EfficientNet-B0</a:t>
                      </a:r>
                      <a:endParaRPr lang="en-US" sz="1300" dirty="0">
                        <a:latin typeface="Calibri" charset="0"/>
                        <a:ea typeface="Calibri" charset="0"/>
                        <a:cs typeface="Calibri" charset="0"/>
                      </a:endParaRPr>
                    </a:p>
                  </a:txBody>
                  <a:tcPr marL="128016" marR="128016"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7F1EE"/>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Di dalam produk</a:t>
                      </a:r>
                      <a:endParaRPr lang="en-US" sz="1300" dirty="0">
                        <a:latin typeface="Calibri" charset="0"/>
                        <a:ea typeface="Calibri" charset="0"/>
                        <a:cs typeface="Calibri" charset="0"/>
                      </a:endParaRPr>
                    </a:p>
                  </a:txBody>
                  <a:tcPr marL="128016" marR="128016"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7F1EE"/>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Klasifikasi anemia dan perkiraan Hb dari foto (multi-task)</a:t>
                      </a:r>
                      <a:endParaRPr lang="en-US" sz="1300" dirty="0">
                        <a:latin typeface="Calibri" charset="0"/>
                        <a:ea typeface="Calibri" charset="0"/>
                        <a:cs typeface="Calibri" charset="0"/>
                      </a:endParaRPr>
                    </a:p>
                  </a:txBody>
                  <a:tcPr marL="128016" marR="128016"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7F1EE"/>
                    </a:solidFill>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scikit-learn (regresi logistik, Ridge, Random Forest)</a:t>
                      </a:r>
                      <a:endParaRPr lang="en-US" sz="1300" dirty="0">
                        <a:latin typeface="Calibri" charset="0"/>
                        <a:ea typeface="Calibri" charset="0"/>
                        <a:cs typeface="Calibri" charset="0"/>
                      </a:endParaRPr>
                    </a:p>
                  </a:txBody>
                  <a:tcPr marL="128016" marR="128016"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FFFFF"/>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Di dalam produk</a:t>
                      </a:r>
                      <a:endParaRPr lang="en-US" sz="1300" dirty="0">
                        <a:latin typeface="Calibri" charset="0"/>
                        <a:ea typeface="Calibri" charset="0"/>
                        <a:cs typeface="Calibri" charset="0"/>
                      </a:endParaRPr>
                    </a:p>
                  </a:txBody>
                  <a:tcPr marL="128016" marR="128016"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FFFFF"/>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Klasifikasi dan regresi Hb dari 24 fitur warna</a:t>
                      </a:r>
                      <a:endParaRPr lang="en-US" sz="1300" dirty="0">
                        <a:latin typeface="Calibri" charset="0"/>
                        <a:ea typeface="Calibri" charset="0"/>
                        <a:cs typeface="Calibri" charset="0"/>
                      </a:endParaRPr>
                    </a:p>
                  </a:txBody>
                  <a:tcPr marL="128016" marR="128016"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DINOv2 (Meta)</a:t>
                      </a:r>
                      <a:endParaRPr lang="en-US" sz="1300" dirty="0">
                        <a:latin typeface="Calibri" charset="0"/>
                        <a:ea typeface="Calibri" charset="0"/>
                        <a:cs typeface="Calibri" charset="0"/>
                      </a:endParaRPr>
                    </a:p>
                  </a:txBody>
                  <a:tcPr marL="128016" marR="128016"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7F1EE"/>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Dievaluasi</a:t>
                      </a:r>
                      <a:endParaRPr lang="en-US" sz="1300" dirty="0">
                        <a:latin typeface="Calibri" charset="0"/>
                        <a:ea typeface="Calibri" charset="0"/>
                        <a:cs typeface="Calibri" charset="0"/>
                      </a:endParaRPr>
                    </a:p>
                  </a:txBody>
                  <a:tcPr marL="128016" marR="128016"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7F1EE"/>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Diuji sebagai ekstraktor fitur, tidak dipakai di versi final</a:t>
                      </a:r>
                      <a:endParaRPr lang="en-US" sz="1300" dirty="0">
                        <a:latin typeface="Calibri" charset="0"/>
                        <a:ea typeface="Calibri" charset="0"/>
                        <a:cs typeface="Calibri" charset="0"/>
                      </a:endParaRPr>
                    </a:p>
                  </a:txBody>
                  <a:tcPr marL="128016" marR="128016"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7F1EE"/>
                    </a:solidFill>
                  </a:tcPr>
                </a:tc>
              </a:tr>
              <a:tr h="54864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Google Colab</a:t>
                      </a:r>
                      <a:endParaRPr lang="en-US" sz="1300" dirty="0">
                        <a:latin typeface="Calibri" charset="0"/>
                        <a:ea typeface="Calibri" charset="0"/>
                        <a:cs typeface="Calibri" charset="0"/>
                      </a:endParaRPr>
                    </a:p>
                  </a:txBody>
                  <a:tcPr marL="128016" marR="128016"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FFFFF"/>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Infrastruktur</a:t>
                      </a:r>
                      <a:endParaRPr lang="en-US" sz="1300" dirty="0">
                        <a:latin typeface="Calibri" charset="0"/>
                        <a:ea typeface="Calibri" charset="0"/>
                        <a:cs typeface="Calibri" charset="0"/>
                      </a:endParaRPr>
                    </a:p>
                  </a:txBody>
                  <a:tcPr marL="128016" marR="128016"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FFFFF"/>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GPU untuk pelatihan model (bukan AI generatif)</a:t>
                      </a:r>
                      <a:endParaRPr lang="en-US" sz="1300" dirty="0">
                        <a:latin typeface="Calibri" charset="0"/>
                        <a:ea typeface="Calibri" charset="0"/>
                        <a:cs typeface="Calibri" charset="0"/>
                      </a:endParaRPr>
                    </a:p>
                  </a:txBody>
                  <a:tcPr marL="128016" marR="128016"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chemeClr val="accent4"/>
                          </a:solidFill>
                          <a:latin typeface="Calibri" pitchFamily="34" charset="0"/>
                          <a:ea typeface="Calibri" pitchFamily="34" charset="-122"/>
                          <a:cs typeface="Calibri" pitchFamily="34" charset="-120"/>
                        </a:rPr>
                        <a:t>[AI tool lain tim]</a:t>
                      </a:r>
                      <a:endParaRPr lang="en-US" sz="1300" dirty="0">
                        <a:latin typeface="Calibri" charset="0"/>
                        <a:ea typeface="Calibri" charset="0"/>
                        <a:cs typeface="Calibri" charset="0"/>
                      </a:endParaRPr>
                    </a:p>
                  </a:txBody>
                  <a:tcPr marL="128016" marR="128016"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DECEE"/>
                    </a:solidFill>
                  </a:tcPr>
                </a:tc>
                <a:tc>
                  <a:txBody>
                    <a:bodyPr/>
                    <a:lstStyle/>
                    <a:p>
                      <a:pPr indent="0" marL="0">
                        <a:buNone/>
                      </a:pPr>
                      <a:r>
                        <a:rPr lang="en-US" sz="1300" dirty="0">
                          <a:solidFill>
                            <a:schemeClr val="accent4"/>
                          </a:solidFill>
                          <a:latin typeface="Calibri" pitchFamily="34" charset="0"/>
                          <a:ea typeface="Calibri" pitchFamily="34" charset="-122"/>
                          <a:cs typeface="Calibri" pitchFamily="34" charset="-120"/>
                        </a:rPr>
                        <a:t>[Jenis]</a:t>
                      </a:r>
                      <a:endParaRPr lang="en-US" sz="1300" dirty="0">
                        <a:latin typeface="Calibri" charset="0"/>
                        <a:ea typeface="Calibri" charset="0"/>
                        <a:cs typeface="Calibri" charset="0"/>
                      </a:endParaRPr>
                    </a:p>
                  </a:txBody>
                  <a:tcPr marL="128016" marR="128016"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DECEE"/>
                    </a:solidFill>
                  </a:tcPr>
                </a:tc>
                <a:tc>
                  <a:txBody>
                    <a:bodyPr/>
                    <a:lstStyle/>
                    <a:p>
                      <a:pPr indent="0" marL="0">
                        <a:buNone/>
                      </a:pPr>
                      <a:r>
                        <a:rPr lang="en-US" sz="1300" dirty="0">
                          <a:solidFill>
                            <a:schemeClr val="accent4"/>
                          </a:solidFill>
                          <a:latin typeface="Calibri" pitchFamily="34" charset="0"/>
                          <a:ea typeface="Calibri" pitchFamily="34" charset="-122"/>
                          <a:cs typeface="Calibri" pitchFamily="34" charset="-120"/>
                        </a:rPr>
                        <a:t>[Isi bila tim memakai ChatGPT, Copilot, Gemini, dll. beserta perannya]</a:t>
                      </a:r>
                      <a:endParaRPr lang="en-US" sz="1300" dirty="0">
                        <a:latin typeface="Calibri" charset="0"/>
                        <a:ea typeface="Calibri" charset="0"/>
                        <a:cs typeface="Calibri" charset="0"/>
                      </a:endParaRPr>
                    </a:p>
                  </a:txBody>
                  <a:tcPr marL="128016" marR="128016" marT="0" marB="0" anchor="ctr">
                    <a:lnL w="6350" cap="flat" cmpd="sng" algn="ctr">
                      <a:solidFill>
                        <a:srgbClr val="EDE5E0"/>
                      </a:solidFill>
                      <a:prstDash val="solid"/>
                      <a:round/>
                      <a:headEnd type="none" w="med" len="med"/>
                      <a:tailEnd type="none" w="med" len="med"/>
                    </a:lnL>
                    <a:lnR w="6350" cap="flat" cmpd="sng" algn="ctr">
                      <a:solidFill>
                        <a:srgbClr val="EDE5E0"/>
                      </a:solidFill>
                      <a:prstDash val="solid"/>
                      <a:round/>
                      <a:headEnd type="none" w="med" len="med"/>
                      <a:tailEnd type="none" w="med" len="med"/>
                    </a:lnR>
                    <a:lnT w="6350" cap="flat" cmpd="sng" algn="ctr">
                      <a:solidFill>
                        <a:srgbClr val="EDE5E0"/>
                      </a:solidFill>
                      <a:prstDash val="solid"/>
                      <a:round/>
                      <a:headEnd type="none" w="med" len="med"/>
                      <a:tailEnd type="none" w="med" len="med"/>
                    </a:lnT>
                    <a:lnB w="6350" cap="flat" cmpd="sng" algn="ctr">
                      <a:solidFill>
                        <a:srgbClr val="EDE5E0"/>
                      </a:solidFill>
                      <a:prstDash val="solid"/>
                      <a:round/>
                      <a:headEnd type="none" w="med" len="med"/>
                      <a:tailEnd type="none" w="med" len="med"/>
                    </a:lnB>
                    <a:solidFill>
                      <a:srgbClr val="FDECEE"/>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822960"/>
            <a:ext cx="59436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ANEMIALENS</a:t>
            </a:r>
            <a:endParaRPr lang="en-US" sz="1200" dirty="0"/>
          </a:p>
        </p:txBody>
      </p:sp>
      <p:sp>
        <p:nvSpPr>
          <p:cNvPr id="3" name="Text 1"/>
          <p:cNvSpPr txBox="1"/>
          <p:nvPr/>
        </p:nvSpPr>
        <p:spPr>
          <a:xfrm>
            <a:off x="548640" y="1234440"/>
            <a:ext cx="6035040" cy="2011680"/>
          </a:xfrm>
          <a:prstGeom prst="rect">
            <a:avLst/>
          </a:prstGeom>
          <a:noFill/>
          <a:ln/>
        </p:spPr>
        <p:txBody>
          <a:bodyPr wrap="square" lIns="0" tIns="0" rIns="0" bIns="0" rtlCol="0" anchor="t"/>
          <a:lstStyle/>
          <a:p>
            <a:pPr indent="0" marL="0">
              <a:buNone/>
            </a:pPr>
            <a:r>
              <a:rPr lang="en-US" sz="4000" i="1" dirty="0">
                <a:solidFill>
                  <a:schemeClr val="bg1"/>
                </a:solidFill>
                <a:latin typeface="Cambria" pitchFamily="34" charset="0"/>
                <a:ea typeface="Cambria" pitchFamily="34" charset="-122"/>
                <a:cs typeface="Cambria" pitchFamily="34" charset="-120"/>
              </a:rPr>
              <a:t>Setiap HP kader bisa menjadi alat skrining anemia</a:t>
            </a:r>
            <a:endParaRPr lang="en-US" sz="4000" dirty="0"/>
          </a:p>
        </p:txBody>
      </p:sp>
      <p:sp>
        <p:nvSpPr>
          <p:cNvPr id="4" name="Text 2"/>
          <p:cNvSpPr txBox="1"/>
          <p:nvPr/>
        </p:nvSpPr>
        <p:spPr>
          <a:xfrm>
            <a:off x="548640" y="3474720"/>
            <a:ext cx="5852160" cy="320040"/>
          </a:xfrm>
          <a:prstGeom prst="rect">
            <a:avLst/>
          </a:prstGeom>
          <a:noFill/>
          <a:ln/>
        </p:spPr>
        <p:txBody>
          <a:bodyPr wrap="square" lIns="0" tIns="0" rIns="0" bIns="0" rtlCol="0" anchor="t"/>
          <a:lstStyle/>
          <a:p>
            <a:pPr indent="0" marL="0">
              <a:buNone/>
            </a:pPr>
            <a:r>
              <a:rPr lang="en-US" sz="1600" b="1" dirty="0">
                <a:solidFill>
                  <a:schemeClr val="accent3"/>
                </a:solidFill>
              </a:rPr>
              <a:t>Yang kami cari:</a:t>
            </a:r>
            <a:endParaRPr lang="en-US" sz="1600" dirty="0"/>
          </a:p>
        </p:txBody>
      </p:sp>
      <p:sp>
        <p:nvSpPr>
          <p:cNvPr id="5" name="Text 3"/>
          <p:cNvSpPr txBox="1"/>
          <p:nvPr/>
        </p:nvSpPr>
        <p:spPr>
          <a:xfrm>
            <a:off x="548640" y="3840480"/>
            <a:ext cx="5852160" cy="11887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accent6"/>
                </a:solidFill>
              </a:rPr>
              <a:t>Mitra pilot: dinkes atau puskesmas di wilayah kepulauan</a:t>
            </a:r>
            <a:endParaRPr lang="en-US" sz="1600" dirty="0"/>
          </a:p>
          <a:p>
            <a:pPr marL="342900" indent="-342900">
              <a:spcAft>
                <a:spcPts val="600"/>
              </a:spcAft>
              <a:buSzPct val="100000"/>
              <a:buChar char="•"/>
            </a:pPr>
            <a:r>
              <a:rPr lang="en-US" sz="1600" dirty="0">
                <a:solidFill>
                  <a:schemeClr val="accent6"/>
                </a:solidFill>
              </a:rPr>
              <a:t>Akses data lokal untuk validasi klinis</a:t>
            </a:r>
            <a:endParaRPr lang="en-US" sz="1600" dirty="0"/>
          </a:p>
          <a:p>
            <a:pPr marL="342900" indent="-342900">
              <a:spcAft>
                <a:spcPts val="600"/>
              </a:spcAft>
              <a:buSzPct val="100000"/>
              <a:buChar char="•"/>
            </a:pPr>
            <a:r>
              <a:rPr lang="en-US" sz="1600" dirty="0">
                <a:solidFill>
                  <a:schemeClr val="accent6"/>
                </a:solidFill>
              </a:rPr>
              <a:t>Mentor regulasi alat kesehatan</a:t>
            </a:r>
            <a:endParaRPr lang="en-US" sz="1600" dirty="0"/>
          </a:p>
        </p:txBody>
      </p:sp>
      <p:sp>
        <p:nvSpPr>
          <p:cNvPr id="6" name="Text 4"/>
          <p:cNvSpPr txBox="1"/>
          <p:nvPr/>
        </p:nvSpPr>
        <p:spPr>
          <a:xfrm>
            <a:off x="548640" y="5349240"/>
            <a:ext cx="5852160" cy="320040"/>
          </a:xfrm>
          <a:prstGeom prst="rect">
            <a:avLst/>
          </a:prstGeom>
          <a:noFill/>
          <a:ln/>
        </p:spPr>
        <p:txBody>
          <a:bodyPr wrap="square" lIns="0" tIns="0" rIns="0" bIns="0" rtlCol="0" anchor="t"/>
          <a:lstStyle/>
          <a:p>
            <a:pPr indent="0" marL="0">
              <a:buNone/>
            </a:pPr>
            <a:r>
              <a:rPr lang="en-US" sz="1500" dirty="0">
                <a:solidFill>
                  <a:schemeClr val="bg1"/>
                </a:solidFill>
              </a:rPr>
              <a:t>github.com/brianmacrio/AnemiaLens</a:t>
            </a:r>
            <a:endParaRPr lang="en-US" sz="1500" dirty="0"/>
          </a:p>
        </p:txBody>
      </p:sp>
      <p:sp>
        <p:nvSpPr>
          <p:cNvPr id="7" name="Text 5"/>
          <p:cNvSpPr txBox="1"/>
          <p:nvPr/>
        </p:nvSpPr>
        <p:spPr>
          <a:xfrm>
            <a:off x="7086600" y="822960"/>
            <a:ext cx="45720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TIM</a:t>
            </a:r>
            <a:endParaRPr lang="en-US" sz="1200" dirty="0"/>
          </a:p>
        </p:txBody>
      </p:sp>
      <p:sp>
        <p:nvSpPr>
          <p:cNvPr id="8" name="Shape 6"/>
          <p:cNvSpPr/>
          <p:nvPr/>
        </p:nvSpPr>
        <p:spPr>
          <a:xfrm>
            <a:off x="7086600" y="1234440"/>
            <a:ext cx="4553712" cy="1143000"/>
          </a:xfrm>
          <a:prstGeom prst="roundRect">
            <a:avLst>
              <a:gd name="adj" fmla="val 11200"/>
            </a:avLst>
          </a:prstGeom>
          <a:solidFill>
            <a:schemeClr val="accent5"/>
          </a:solidFill>
          <a:ln w="12700">
            <a:solidFill>
              <a:schemeClr val="accent5"/>
            </a:solidFill>
            <a:prstDash val="solid"/>
          </a:ln>
        </p:spPr>
      </p:sp>
      <p:sp>
        <p:nvSpPr>
          <p:cNvPr id="9" name="Shape 7"/>
          <p:cNvSpPr/>
          <p:nvPr/>
        </p:nvSpPr>
        <p:spPr>
          <a:xfrm>
            <a:off x="7296912" y="1435608"/>
            <a:ext cx="731520" cy="731520"/>
          </a:xfrm>
          <a:prstGeom prst="ellipse">
            <a:avLst/>
          </a:prstGeom>
          <a:solidFill>
            <a:schemeClr val="accent6"/>
          </a:solidFill>
          <a:ln w="12700">
            <a:solidFill>
              <a:schemeClr val="accent6"/>
            </a:solidFill>
            <a:prstDash val="solid"/>
          </a:ln>
        </p:spPr>
      </p:sp>
      <p:sp>
        <p:nvSpPr>
          <p:cNvPr id="10" name="Text 8"/>
          <p:cNvSpPr txBox="1"/>
          <p:nvPr/>
        </p:nvSpPr>
        <p:spPr>
          <a:xfrm>
            <a:off x="8229600" y="1435608"/>
            <a:ext cx="3200400" cy="365760"/>
          </a:xfrm>
          <a:prstGeom prst="rect">
            <a:avLst/>
          </a:prstGeom>
          <a:noFill/>
          <a:ln/>
        </p:spPr>
        <p:txBody>
          <a:bodyPr wrap="square" lIns="0" tIns="0" rIns="0" bIns="0" rtlCol="0" anchor="t"/>
          <a:lstStyle/>
          <a:p>
            <a:pPr indent="0" marL="0">
              <a:buNone/>
            </a:pPr>
            <a:r>
              <a:rPr lang="en-US" sz="1700" b="1" dirty="0">
                <a:solidFill>
                  <a:schemeClr val="bg1"/>
                </a:solidFill>
              </a:rPr>
              <a:t>[Nama Anggota 1]</a:t>
            </a:r>
            <a:endParaRPr lang="en-US" sz="1700" dirty="0"/>
          </a:p>
        </p:txBody>
      </p:sp>
      <p:sp>
        <p:nvSpPr>
          <p:cNvPr id="11" name="Text 9"/>
          <p:cNvSpPr txBox="1"/>
          <p:nvPr/>
        </p:nvSpPr>
        <p:spPr>
          <a:xfrm>
            <a:off x="8229600" y="1828800"/>
            <a:ext cx="3200400" cy="365760"/>
          </a:xfrm>
          <a:prstGeom prst="rect">
            <a:avLst/>
          </a:prstGeom>
          <a:noFill/>
          <a:ln/>
        </p:spPr>
        <p:txBody>
          <a:bodyPr wrap="square" lIns="0" tIns="0" rIns="0" bIns="0" rtlCol="0" anchor="t"/>
          <a:lstStyle/>
          <a:p>
            <a:pPr indent="0" marL="0">
              <a:buNone/>
            </a:pPr>
            <a:r>
              <a:rPr lang="en-US" sz="1300" dirty="0">
                <a:solidFill>
                  <a:schemeClr val="accent6"/>
                </a:solidFill>
              </a:rPr>
              <a:t>[Peran: AI &amp; data]</a:t>
            </a:r>
            <a:endParaRPr lang="en-US" sz="1300" dirty="0"/>
          </a:p>
        </p:txBody>
      </p:sp>
      <p:sp>
        <p:nvSpPr>
          <p:cNvPr id="12" name="Shape 10"/>
          <p:cNvSpPr/>
          <p:nvPr/>
        </p:nvSpPr>
        <p:spPr>
          <a:xfrm>
            <a:off x="7086600" y="2560320"/>
            <a:ext cx="4553712" cy="1143000"/>
          </a:xfrm>
          <a:prstGeom prst="roundRect">
            <a:avLst>
              <a:gd name="adj" fmla="val 11200"/>
            </a:avLst>
          </a:prstGeom>
          <a:solidFill>
            <a:schemeClr val="accent5"/>
          </a:solidFill>
          <a:ln w="12700">
            <a:solidFill>
              <a:schemeClr val="accent5"/>
            </a:solidFill>
            <a:prstDash val="solid"/>
          </a:ln>
        </p:spPr>
      </p:sp>
      <p:sp>
        <p:nvSpPr>
          <p:cNvPr id="13" name="Shape 11"/>
          <p:cNvSpPr/>
          <p:nvPr/>
        </p:nvSpPr>
        <p:spPr>
          <a:xfrm>
            <a:off x="7296912" y="2761488"/>
            <a:ext cx="731520" cy="731520"/>
          </a:xfrm>
          <a:prstGeom prst="ellipse">
            <a:avLst/>
          </a:prstGeom>
          <a:solidFill>
            <a:schemeClr val="accent6"/>
          </a:solidFill>
          <a:ln w="12700">
            <a:solidFill>
              <a:schemeClr val="accent6"/>
            </a:solidFill>
            <a:prstDash val="solid"/>
          </a:ln>
        </p:spPr>
      </p:sp>
      <p:sp>
        <p:nvSpPr>
          <p:cNvPr id="14" name="Text 12"/>
          <p:cNvSpPr txBox="1"/>
          <p:nvPr/>
        </p:nvSpPr>
        <p:spPr>
          <a:xfrm>
            <a:off x="8229600" y="2761488"/>
            <a:ext cx="3200400" cy="365760"/>
          </a:xfrm>
          <a:prstGeom prst="rect">
            <a:avLst/>
          </a:prstGeom>
          <a:noFill/>
          <a:ln/>
        </p:spPr>
        <p:txBody>
          <a:bodyPr wrap="square" lIns="0" tIns="0" rIns="0" bIns="0" rtlCol="0" anchor="t"/>
          <a:lstStyle/>
          <a:p>
            <a:pPr indent="0" marL="0">
              <a:buNone/>
            </a:pPr>
            <a:r>
              <a:rPr lang="en-US" sz="1700" b="1" dirty="0">
                <a:solidFill>
                  <a:schemeClr val="bg1"/>
                </a:solidFill>
              </a:rPr>
              <a:t>[Nama Anggota 2]</a:t>
            </a:r>
            <a:endParaRPr lang="en-US" sz="1700" dirty="0"/>
          </a:p>
        </p:txBody>
      </p:sp>
      <p:sp>
        <p:nvSpPr>
          <p:cNvPr id="15" name="Text 13"/>
          <p:cNvSpPr txBox="1"/>
          <p:nvPr/>
        </p:nvSpPr>
        <p:spPr>
          <a:xfrm>
            <a:off x="8229600" y="3154680"/>
            <a:ext cx="3200400" cy="365760"/>
          </a:xfrm>
          <a:prstGeom prst="rect">
            <a:avLst/>
          </a:prstGeom>
          <a:noFill/>
          <a:ln/>
        </p:spPr>
        <p:txBody>
          <a:bodyPr wrap="square" lIns="0" tIns="0" rIns="0" bIns="0" rtlCol="0" anchor="t"/>
          <a:lstStyle/>
          <a:p>
            <a:pPr indent="0" marL="0">
              <a:buNone/>
            </a:pPr>
            <a:r>
              <a:rPr lang="en-US" sz="1300" dirty="0">
                <a:solidFill>
                  <a:schemeClr val="accent6"/>
                </a:solidFill>
              </a:rPr>
              <a:t>[Peran: front end &amp; desain]</a:t>
            </a:r>
            <a:endParaRPr lang="en-US" sz="1300" dirty="0"/>
          </a:p>
        </p:txBody>
      </p:sp>
      <p:sp>
        <p:nvSpPr>
          <p:cNvPr id="16" name="Shape 14"/>
          <p:cNvSpPr/>
          <p:nvPr/>
        </p:nvSpPr>
        <p:spPr>
          <a:xfrm>
            <a:off x="7086600" y="3886200"/>
            <a:ext cx="4553712" cy="1143000"/>
          </a:xfrm>
          <a:prstGeom prst="roundRect">
            <a:avLst>
              <a:gd name="adj" fmla="val 11200"/>
            </a:avLst>
          </a:prstGeom>
          <a:solidFill>
            <a:schemeClr val="accent5"/>
          </a:solidFill>
          <a:ln w="12700">
            <a:solidFill>
              <a:schemeClr val="accent5"/>
            </a:solidFill>
            <a:prstDash val="solid"/>
          </a:ln>
        </p:spPr>
      </p:sp>
      <p:sp>
        <p:nvSpPr>
          <p:cNvPr id="17" name="Shape 15"/>
          <p:cNvSpPr/>
          <p:nvPr/>
        </p:nvSpPr>
        <p:spPr>
          <a:xfrm>
            <a:off x="7296912" y="4087368"/>
            <a:ext cx="731520" cy="731520"/>
          </a:xfrm>
          <a:prstGeom prst="ellipse">
            <a:avLst/>
          </a:prstGeom>
          <a:solidFill>
            <a:schemeClr val="accent6"/>
          </a:solidFill>
          <a:ln w="12700">
            <a:solidFill>
              <a:schemeClr val="accent6"/>
            </a:solidFill>
            <a:prstDash val="solid"/>
          </a:ln>
        </p:spPr>
      </p:sp>
      <p:sp>
        <p:nvSpPr>
          <p:cNvPr id="18" name="Text 16"/>
          <p:cNvSpPr txBox="1"/>
          <p:nvPr/>
        </p:nvSpPr>
        <p:spPr>
          <a:xfrm>
            <a:off x="8229600" y="4087368"/>
            <a:ext cx="3200400" cy="365760"/>
          </a:xfrm>
          <a:prstGeom prst="rect">
            <a:avLst/>
          </a:prstGeom>
          <a:noFill/>
          <a:ln/>
        </p:spPr>
        <p:txBody>
          <a:bodyPr wrap="square" lIns="0" tIns="0" rIns="0" bIns="0" rtlCol="0" anchor="t"/>
          <a:lstStyle/>
          <a:p>
            <a:pPr indent="0" marL="0">
              <a:buNone/>
            </a:pPr>
            <a:r>
              <a:rPr lang="en-US" sz="1700" b="1" dirty="0">
                <a:solidFill>
                  <a:schemeClr val="bg1"/>
                </a:solidFill>
              </a:rPr>
              <a:t>[Nama Anggota 3]</a:t>
            </a:r>
            <a:endParaRPr lang="en-US" sz="1700" dirty="0"/>
          </a:p>
        </p:txBody>
      </p:sp>
      <p:sp>
        <p:nvSpPr>
          <p:cNvPr id="19" name="Text 17"/>
          <p:cNvSpPr txBox="1"/>
          <p:nvPr/>
        </p:nvSpPr>
        <p:spPr>
          <a:xfrm>
            <a:off x="8229600" y="4480560"/>
            <a:ext cx="3200400" cy="365760"/>
          </a:xfrm>
          <a:prstGeom prst="rect">
            <a:avLst/>
          </a:prstGeom>
          <a:noFill/>
          <a:ln/>
        </p:spPr>
        <p:txBody>
          <a:bodyPr wrap="square" lIns="0" tIns="0" rIns="0" bIns="0" rtlCol="0" anchor="t"/>
          <a:lstStyle/>
          <a:p>
            <a:pPr indent="0" marL="0">
              <a:buNone/>
            </a:pPr>
            <a:r>
              <a:rPr lang="en-US" sz="1300" dirty="0">
                <a:solidFill>
                  <a:schemeClr val="accent6"/>
                </a:solidFill>
              </a:rPr>
              <a:t>[Peran: bisnis &amp; riset kesehatan]</a:t>
            </a:r>
            <a:endParaRPr lang="en-US" sz="1300" dirty="0"/>
          </a:p>
        </p:txBody>
      </p:sp>
      <p:sp>
        <p:nvSpPr>
          <p:cNvPr id="20" name="Shape 18"/>
          <p:cNvSpPr/>
          <p:nvPr/>
        </p:nvSpPr>
        <p:spPr>
          <a:xfrm>
            <a:off x="7086600" y="5257800"/>
            <a:ext cx="4553712" cy="548640"/>
          </a:xfrm>
          <a:prstGeom prst="roundRect">
            <a:avLst>
              <a:gd name="adj" fmla="val 50000"/>
            </a:avLst>
          </a:prstGeom>
          <a:solidFill>
            <a:schemeClr val="accent1"/>
          </a:solidFill>
          <a:ln w="12700">
            <a:solidFill>
              <a:schemeClr val="accent1"/>
            </a:solidFill>
            <a:prstDash val="solid"/>
          </a:ln>
        </p:spPr>
      </p:sp>
      <p:sp>
        <p:nvSpPr>
          <p:cNvPr id="21" name="Text 19"/>
          <p:cNvSpPr txBox="1"/>
          <p:nvPr/>
        </p:nvSpPr>
        <p:spPr>
          <a:xfrm>
            <a:off x="7086600" y="5257800"/>
            <a:ext cx="4553712" cy="548640"/>
          </a:xfrm>
          <a:prstGeom prst="rect">
            <a:avLst/>
          </a:prstGeom>
          <a:noFill/>
          <a:ln/>
        </p:spPr>
        <p:txBody>
          <a:bodyPr wrap="square" lIns="0" tIns="0" rIns="0" bIns="0" rtlCol="0" anchor="ctr"/>
          <a:lstStyle/>
          <a:p>
            <a:pPr algn="ctr" indent="0" marL="0">
              <a:buNone/>
            </a:pPr>
            <a:r>
              <a:rPr lang="en-US" sz="1600" b="1" dirty="0">
                <a:solidFill>
                  <a:schemeClr val="bg1"/>
                </a:solidFill>
              </a:rPr>
              <a:t>Terima kasih · Siap tanya jawab</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AnemiaLens">
  <a:themeElements>
    <a:clrScheme name="AnemiaLens">
      <a:dk1>
        <a:srgbClr val="1F1A2E"/>
      </a:dk1>
      <a:lt1>
        <a:srgbClr val="FFFFFF"/>
      </a:lt1>
      <a:dk2>
        <a:srgbClr val="5B536A"/>
      </a:dk2>
      <a:lt2>
        <a:srgbClr val="F7F1EE"/>
      </a:lt2>
      <a:accent1>
        <a:srgbClr val="E0475E"/>
      </a:accent1>
      <a:accent2>
        <a:srgbClr val="0E9F8C"/>
      </a:accent2>
      <a:accent3>
        <a:srgbClr val="FF9C86"/>
      </a:accent3>
      <a:accent4>
        <a:srgbClr val="C2334B"/>
      </a:accent4>
      <a:accent5>
        <a:srgbClr val="2A2339"/>
      </a:accent5>
      <a:accent6>
        <a:srgbClr val="CFC6D8"/>
      </a:accent6>
      <a:hlink>
        <a:srgbClr val="C2334B"/>
      </a:hlink>
      <a:folHlink>
        <a:srgbClr val="5B536A"/>
      </a:folHlink>
    </a:clrScheme>
    <a:fontScheme name="AnemiaLen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AnemiaLens — Pitch Deck JOINTS × INSPIRE 2026</dc:title>
  <dc:subject>PptxGenJS Presentation</dc:subject>
  <dc:creator>[Nama Tim]</dc:creator>
  <cp:lastModifiedBy>[Nama Tim]</cp:lastModifiedBy>
  <cp:revision>1</cp:revision>
  <dcterms:created xsi:type="dcterms:W3CDTF">2026-10-16T07:26:17Z</dcterms:created>
  <dcterms:modified xsi:type="dcterms:W3CDTF">2026-10-16T07:26:17Z</dcterms:modified>
</cp:coreProperties>
</file>